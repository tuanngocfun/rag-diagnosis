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78" r:id="rId16"/>
    <p:sldId id="291" r:id="rId17"/>
    <p:sldId id="305" r:id="rId18"/>
    <p:sldId id="306" r:id="rId19"/>
    <p:sldId id="307" r:id="rId20"/>
    <p:sldId id="308" r:id="rId21"/>
    <p:sldId id="309" r:id="rId22"/>
    <p:sldId id="310" r:id="rId23"/>
    <p:sldId id="311" r:id="rId24"/>
    <p:sldId id="312" r:id="rId25"/>
    <p:sldId id="313" r:id="rId26"/>
    <p:sldId id="314" r:id="rId27"/>
    <p:sldId id="315" r:id="rId28"/>
    <p:sldId id="316" r:id="rId29"/>
    <p:sldId id="317" r:id="rId30"/>
    <p:sldId id="318" r:id="rId31"/>
    <p:sldId id="319" r:id="rId32"/>
    <p:sldId id="320" r:id="rId33"/>
    <p:sldId id="321" r:id="rId34"/>
    <p:sldId id="322" r:id="rId3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0" y="0"/>
            <a:ext cx="164592" cy="5143500"/>
          </a:xfrm>
          <a:prstGeom prst="rect">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365760" y="201168"/>
            <a:ext cx="6172200" cy="274320"/>
          </a:xfrm>
          <a:prstGeom prst="rect">
            <a:avLst/>
          </a:prstGeom>
          <a:noFill/>
          <a:ln>
            <a:noFill/>
          </a:ln>
        </p:spPr>
        <p:txBody>
          <a:bodyPr anchorCtr="0" anchor="ctr" spcFirstLastPara="1" wrap="square">
            <a:noAutofit/>
          </a:bodyPr>
          <a:lstStyle/>
          <a:p>
            <a:pPr indent="0" lvl="0" marL="0" marR="0" rtl="0" algn="l">
              <a:spcBef>
                <a:spcPts val="0"/>
              </a:spcBef>
              <a:spcAft>
                <a:spcPts val="0"/>
              </a:spcAft>
              <a:buClr>
                <a:srgbClr val="B2D8D8"/>
              </a:buClr>
              <a:buSzPts val="900"/>
              <a:buFont typeface="Calibri"/>
              <a:buNone/>
              <a:defRPr>
                <a:solidFill>
                  <a:srgbClr val="556978"/>
                </a:solidFill>
              </a:defRPr>
            </a:pPr>
            <a:r>
              <a:rPr sz="900" b="0" i="0">
                <a:solidFill>
                  <a:srgbClr val="556978"/>
                </a:solidFill>
                <a:latin typeface="Calibri"/>
              </a:rPr>
              <a:t>MASTER THESIS · ITS 2024 · 21024003</a:t>
            </a:r>
          </a:p>
        </p:txBody>
      </p:sp>
      <p:sp>
        <p:nvSpPr>
          <p:cNvPr id="18" name="Google Shape;18;p3"/>
          <p:cNvSpPr/>
          <p:nvPr/>
        </p:nvSpPr>
        <p:spPr>
          <a:xfrm>
            <a:off x="365760" y="521207"/>
            <a:ext cx="6172200" cy="347472"/>
          </a:xfrm>
          <a:prstGeom prst="rect">
            <a:avLst/>
          </a:prstGeom>
          <a:noFill/>
          <a:ln>
            <a:noFill/>
          </a:ln>
        </p:spPr>
        <p:txBody>
          <a:bodyPr anchorCtr="0" anchor="ctr" spcFirstLastPara="1" wrap="square">
            <a:noAutofit/>
          </a:bodyPr>
          <a:lstStyle/>
          <a:p>
            <a:pPr indent="0" lvl="0" marL="0" marR="0" rtl="0" algn="l">
              <a:spcBef>
                <a:spcPts val="0"/>
              </a:spcBef>
              <a:spcAft>
                <a:spcPts val="0"/>
              </a:spcAft>
              <a:buClr>
                <a:srgbClr val="B2D8D8"/>
              </a:buClr>
              <a:buSzPts val="1100"/>
              <a:buFont typeface="Calibri"/>
              <a:buNone/>
              <a:defRPr>
                <a:solidFill>
                  <a:srgbClr val="556978"/>
                </a:solidFill>
              </a:defRPr>
            </a:pPr>
            <a:r>
              <a:rPr sz="1100" b="0" i="0">
                <a:solidFill>
                  <a:srgbClr val="556978"/>
                </a:solidFill>
                <a:latin typeface="Calibri"/>
              </a:rPr>
              <a:t>Computer Science (M.Sc.) · HDA / VGU</a:t>
            </a:r>
          </a:p>
        </p:txBody>
      </p:sp>
      <p:sp>
        <p:nvSpPr>
          <p:cNvPr id="19" name="Google Shape;19;p3"/>
          <p:cNvSpPr/>
          <p:nvPr/>
        </p:nvSpPr>
        <p:spPr>
          <a:xfrm>
            <a:off x="365760" y="1188720"/>
            <a:ext cx="6217920" cy="1783080"/>
          </a:xfrm>
          <a:prstGeom prst="rect">
            <a:avLst/>
          </a:prstGeom>
          <a:noFill/>
          <a:ln>
            <a:noFill/>
          </a:ln>
        </p:spPr>
        <p:txBody>
          <a:bodyPr anchorCtr="0" anchor="t" spcFirstLastPara="1" wrap="square">
            <a:noAutofit/>
          </a:bodyPr>
          <a:lstStyle/>
          <a:p>
            <a:pPr indent="0" lvl="0" marL="0" marR="0" rtl="0" algn="l">
              <a:spcBef>
                <a:spcPts val="0"/>
              </a:spcBef>
              <a:spcAft>
                <a:spcPts val="0"/>
              </a:spcAft>
              <a:buClr>
                <a:srgbClr val="FFFFFF"/>
              </a:buClr>
              <a:buSzPts val="3600"/>
              <a:buFont typeface="Calibri"/>
              <a:buNone/>
              <a:defRPr b="1">
                <a:solidFill>
                  <a:srgbClr val="12263A"/>
                </a:solidFill>
              </a:defRPr>
            </a:pPr>
            <a:r>
              <a:rPr sz="3200" b="1" i="0">
                <a:solidFill>
                  <a:srgbClr val="12263A"/>
                </a:solidFill>
                <a:latin typeface="Calibri"/>
              </a:rPr>
              <a:t>Multimodal RAG for Leishmaniasis Diagnosis</a:t>
            </a:r>
          </a:p>
        </p:txBody>
      </p:sp>
      <p:sp>
        <p:nvSpPr>
          <p:cNvPr id="20" name="Google Shape;20;p3"/>
          <p:cNvSpPr/>
          <p:nvPr/>
        </p:nvSpPr>
        <p:spPr>
          <a:xfrm>
            <a:off x="365760" y="3246120"/>
            <a:ext cx="8138160" cy="502920"/>
          </a:xfrm>
          <a:prstGeom prst="rect">
            <a:avLst/>
          </a:prstGeom>
          <a:noFill/>
          <a:ln>
            <a:noFill/>
          </a:ln>
        </p:spPr>
        <p:txBody>
          <a:bodyPr anchorCtr="0" anchor="ctr" spcFirstLastPara="1" wrap="square">
            <a:noAutofit/>
          </a:bodyPr>
          <a:lstStyle/>
          <a:p>
            <a:pPr indent="0" lvl="0" marL="0" marR="0" rtl="0" algn="l">
              <a:spcBef>
                <a:spcPts val="0"/>
              </a:spcBef>
              <a:spcAft>
                <a:spcPts val="0"/>
              </a:spcAft>
              <a:buClr>
                <a:srgbClr val="B2D8D8"/>
              </a:buClr>
              <a:buSzPts val="1400"/>
              <a:buFont typeface="Calibri"/>
              <a:buNone/>
              <a:defRPr i="1">
                <a:solidFill>
                  <a:srgbClr val="556978"/>
                </a:solidFill>
              </a:defRPr>
            </a:pPr>
            <a:r>
              <a:rPr sz="1400" b="0" i="1">
                <a:solidFill>
                  <a:srgbClr val="556978"/>
                </a:solidFill>
                <a:latin typeface="Calibri"/>
              </a:rPr>
              <a:t>Traceable evidence, model-dependent retrieval, and safety-gated demonstration</a:t>
            </a:r>
          </a:p>
        </p:txBody>
      </p:sp>
      <p:sp>
        <p:nvSpPr>
          <p:cNvPr id="21" name="Google Shape;21;p3"/>
          <p:cNvSpPr/>
          <p:nvPr/>
        </p:nvSpPr>
        <p:spPr>
          <a:xfrm>
            <a:off x="365760" y="3931920"/>
            <a:ext cx="5029200" cy="27432"/>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365760" y="4069080"/>
            <a:ext cx="7909560" cy="822960"/>
          </a:xfrm>
          <a:prstGeom prst="rect">
            <a:avLst/>
          </a:prstGeom>
          <a:noFill/>
          <a:ln>
            <a:noFill/>
          </a:ln>
        </p:spPr>
        <p:txBody>
          <a:bodyPr anchorCtr="0" anchor="ctr" spcFirstLastPara="1" wrap="square">
            <a:noAutofit/>
          </a:bodyPr>
          <a:lstStyle/>
          <a:p>
            <a:pPr indent="0" lvl="0" marL="0" marR="0" rtl="0" algn="l">
              <a:spcBef>
                <a:spcPts val="0"/>
              </a:spcBef>
              <a:spcAft>
                <a:spcPts val="0"/>
              </a:spcAft>
              <a:buClr>
                <a:srgbClr val="FFFFFF"/>
              </a:buClr>
              <a:buSzPts val="1300"/>
              <a:buFont typeface="Calibri"/>
              <a:buNone/>
              <a:defRPr>
                <a:solidFill>
                  <a:srgbClr val="556978"/>
                </a:solidFill>
              </a:defRPr>
            </a:pPr>
            <a:r>
              <a:rPr sz="1300" b="1" i="0">
                <a:solidFill>
                  <a:srgbClr val="556978"/>
                </a:solidFill>
                <a:latin typeface="Calibri"/>
              </a:rPr>
              <a:t>Nguyen Tuan Ngoc · Supervisor: Prof. Dr. Andreas Müller · Co-Supervisor: Dr. Tran Duc Khanh · May 2026</a:t>
            </a:r>
          </a:p>
        </p:txBody>
      </p:sp>
      <p:pic xmlns:r="http://schemas.openxmlformats.org/officeDocument/2006/relationships">
        <p:nvPicPr>
          <p:cNvPr id="23" name="Picture 22" descr="Vietnamese-German University and Hochschule Darmstadt (Darmstadt University of Applied Sciences) logos." title="VGU and h_da institutional logos"/>
          <p:cNvPicPr>
            <a:picLocks noChangeAspect="1"/>
          </p:cNvPicPr>
          <p:nvPr/>
        </p:nvPicPr>
        <p:blipFill>
          <a:blip r:embed="rId3"/>
          <a:stretch>
            <a:fillRect/>
          </a:stretch>
        </p:blipFill>
        <p:spPr>
          <a:xfrm>
            <a:off x="6693408" y="73152"/>
            <a:ext cx="2048256" cy="138074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27" name="Shape 27"/>
        <p:cNvGrpSpPr/>
        <p:nvPr/>
      </p:nvGrpSpPr>
      <p:grpSpPr>
        <a:xfrm>
          <a:off x="0" y="0"/>
          <a:ext cx="0" cy="0"/>
          <a:chOff x="0" y="0"/>
          <a:chExt cx="0" cy="0"/>
        </a:xfrm>
      </p:grpSpPr>
      <p:sp>
        <p:nvSpPr>
          <p:cNvPr id="30" name="Google Shape;30;p4"/>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Leishmaniasis is not simple image classification</a:t>
            </a:r>
          </a:p>
        </p:txBody>
      </p:sp>
      <p:sp>
        <p:nvSpPr>
          <p:cNvPr id="31" name="Google Shape;31;p4"/>
          <p:cNvSpPr/>
          <p:nvPr/>
        </p:nvSpPr>
        <p:spPr>
          <a:xfrm>
            <a:off x="320040" y="777240"/>
            <a:ext cx="5029200" cy="402336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502920" y="914400"/>
            <a:ext cx="4663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300"/>
              <a:buFont typeface="Calibri"/>
              <a:buNone/>
            </a:pPr>
            <a:r>
              <a:rPr b="1" i="0" lang="en-US" sz="1300" u="none" cap="none" strike="noStrike">
                <a:solidFill>
                  <a:srgbClr val="028090"/>
                </a:solidFill>
                <a:latin typeface="Calibri"/>
                <a:ea typeface="Calibri"/>
                <a:cs typeface="Calibri"/>
                <a:sym typeface="Calibri"/>
              </a:rPr>
              <a:t>The Problem</a:t>
            </a:r>
          </a:p>
        </p:txBody>
      </p:sp>
      <p:sp>
        <p:nvSpPr>
          <p:cNvPr id="33" name="Google Shape;33;p4"/>
          <p:cNvSpPr/>
          <p:nvPr/>
        </p:nvSpPr>
        <p:spPr>
          <a:xfrm>
            <a:off x="502920" y="1280160"/>
            <a:ext cx="4663440" cy="8229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C3557"/>
              </a:buClr>
              <a:buSzPts val="1200"/>
              <a:buFont typeface="Calibri"/>
              <a:buChar char="•"/>
            </a:pPr>
            <a:r>
              <a:rPr b="1" i="0" lang="en-US" sz="1200" u="none" cap="none" strike="noStrike">
                <a:solidFill>
                  <a:srgbClr val="1C3557"/>
                </a:solidFill>
                <a:latin typeface="Calibri"/>
                <a:ea typeface="Calibri"/>
                <a:cs typeface="Calibri"/>
                <a:sym typeface="Calibri"/>
              </a:rPr>
              <a:t>Overlapping CL, MCL, VL, PKDL, and non-leishmaniasis mimics; lab confirmation is often the decisive evidence.</a:t>
            </a:r>
          </a:p>
        </p:txBody>
      </p:sp>
      <p:sp>
        <p:nvSpPr>
          <p:cNvPr id="34" name="Google Shape;34;p4"/>
          <p:cNvSpPr/>
          <p:nvPr/>
        </p:nvSpPr>
        <p:spPr>
          <a:xfrm>
            <a:off x="502920" y="2148840"/>
            <a:ext cx="4663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300"/>
              <a:buFont typeface="Calibri"/>
              <a:buNone/>
            </a:pPr>
            <a:r>
              <a:rPr b="1" i="0" lang="en-US" sz="1300" u="none" cap="none" strike="noStrike">
                <a:solidFill>
                  <a:srgbClr val="028090"/>
                </a:solidFill>
                <a:latin typeface="Calibri"/>
                <a:ea typeface="Calibri"/>
                <a:cs typeface="Calibri"/>
                <a:sym typeface="Calibri"/>
              </a:rPr>
              <a:t>Evidence Streams</a:t>
            </a:r>
          </a:p>
        </p:txBody>
      </p:sp>
      <p:sp>
        <p:nvSpPr>
          <p:cNvPr id="35" name="Google Shape;35;p4"/>
          <p:cNvSpPr/>
          <p:nvPr/>
        </p:nvSpPr>
        <p:spPr>
          <a:xfrm>
            <a:off x="502920" y="2514600"/>
            <a:ext cx="1463040" cy="457200"/>
          </a:xfrm>
          <a:prstGeom prst="roundRect">
            <a:avLst>
              <a:gd fmla="val 24000" name="adj"/>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502920" y="2514600"/>
            <a:ext cx="14630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Text</a:t>
            </a:r>
          </a:p>
        </p:txBody>
      </p:sp>
      <p:sp>
        <p:nvSpPr>
          <p:cNvPr id="37" name="Google Shape;37;p4"/>
          <p:cNvSpPr/>
          <p:nvPr/>
        </p:nvSpPr>
        <p:spPr>
          <a:xfrm>
            <a:off x="502920" y="2770632"/>
            <a:ext cx="14630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Symptoms</a:t>
            </a:r>
          </a:p>
        </p:txBody>
      </p:sp>
      <p:sp>
        <p:nvSpPr>
          <p:cNvPr id="38" name="Google Shape;38;p4"/>
          <p:cNvSpPr/>
          <p:nvPr/>
        </p:nvSpPr>
        <p:spPr>
          <a:xfrm>
            <a:off x="2075688" y="2514600"/>
            <a:ext cx="1463040" cy="457200"/>
          </a:xfrm>
          <a:prstGeom prst="roundRect">
            <a:avLst>
              <a:gd fmla="val 24000" name="adj"/>
            </a:avLst>
          </a:prstGeom>
          <a:solidFill>
            <a:srgbClr val="0A5C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2075688" y="2514600"/>
            <a:ext cx="14630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Image</a:t>
            </a:r>
          </a:p>
        </p:txBody>
      </p:sp>
      <p:sp>
        <p:nvSpPr>
          <p:cNvPr id="40" name="Google Shape;40;p4"/>
          <p:cNvSpPr/>
          <p:nvPr/>
        </p:nvSpPr>
        <p:spPr>
          <a:xfrm>
            <a:off x="2075688" y="2770632"/>
            <a:ext cx="14630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Context</a:t>
            </a:r>
          </a:p>
        </p:txBody>
      </p:sp>
      <p:sp>
        <p:nvSpPr>
          <p:cNvPr id="41" name="Google Shape;41;p4"/>
          <p:cNvSpPr/>
          <p:nvPr/>
        </p:nvSpPr>
        <p:spPr>
          <a:xfrm>
            <a:off x="3648456" y="2514600"/>
            <a:ext cx="1463040" cy="457200"/>
          </a:xfrm>
          <a:prstGeom prst="roundRect">
            <a:avLst>
              <a:gd fmla="val 24000" name="adj"/>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3648456" y="2514600"/>
            <a:ext cx="14630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Lab</a:t>
            </a:r>
          </a:p>
        </p:txBody>
      </p:sp>
      <p:sp>
        <p:nvSpPr>
          <p:cNvPr id="43" name="Google Shape;43;p4"/>
          <p:cNvSpPr/>
          <p:nvPr/>
        </p:nvSpPr>
        <p:spPr>
          <a:xfrm>
            <a:off x="3648456" y="2770632"/>
            <a:ext cx="146304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0" i="0" lang="en-US" sz="900" u="none" cap="none" strike="noStrike">
                <a:solidFill>
                  <a:srgbClr val="FFFFFF"/>
                </a:solidFill>
                <a:latin typeface="Calibri"/>
                <a:ea typeface="Calibri"/>
                <a:cs typeface="Calibri"/>
                <a:sym typeface="Calibri"/>
              </a:rPr>
              <a:t>Weak reference</a:t>
            </a:r>
          </a:p>
        </p:txBody>
      </p:sp>
      <p:sp>
        <p:nvSpPr>
          <p:cNvPr id="44" name="Google Shape;44;p4"/>
          <p:cNvSpPr/>
          <p:nvPr/>
        </p:nvSpPr>
        <p:spPr>
          <a:xfrm>
            <a:off x="502920" y="3108960"/>
            <a:ext cx="46634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8090"/>
              </a:buClr>
              <a:buSzPts val="1300"/>
              <a:buFont typeface="Calibri"/>
              <a:buNone/>
            </a:pPr>
            <a:r>
              <a:rPr b="1" i="0" lang="en-US" sz="1300" u="none" cap="none" strike="noStrike">
                <a:solidFill>
                  <a:srgbClr val="028090"/>
                </a:solidFill>
                <a:latin typeface="Calibri"/>
                <a:ea typeface="Calibri"/>
                <a:cs typeface="Calibri"/>
                <a:sym typeface="Calibri"/>
              </a:rPr>
              <a:t>Why It Is Hard</a:t>
            </a:r>
          </a:p>
        </p:txBody>
      </p:sp>
      <p:sp>
        <p:nvSpPr>
          <p:cNvPr id="45" name="Google Shape;45;p4"/>
          <p:cNvSpPr/>
          <p:nvPr/>
        </p:nvSpPr>
        <p:spPr>
          <a:xfrm>
            <a:off x="502920" y="3474720"/>
            <a:ext cx="4663440" cy="10972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1C3557"/>
              </a:buClr>
              <a:buSzPts val="1150"/>
              <a:buFont typeface="Calibri"/>
              <a:buChar char="•"/>
            </a:pPr>
            <a:r>
              <a:rPr b="0" i="0" lang="en-US" sz="1150" u="none" cap="none" strike="noStrike">
                <a:solidFill>
                  <a:srgbClr val="1C3557"/>
                </a:solidFill>
                <a:latin typeface="Calibri"/>
                <a:ea typeface="Calibri"/>
                <a:cs typeface="Calibri"/>
                <a:sym typeface="Calibri"/>
              </a:rPr>
              <a:t>Case reports mix symptoms, captions, pathology, treatment, and author conclusions. Image appearance alone is insufficient.</a:t>
            </a:r>
          </a:p>
        </p:txBody>
      </p:sp>
      <p:sp>
        <p:nvSpPr>
          <p:cNvPr id="46" name="Google Shape;46;p4"/>
          <p:cNvSpPr/>
          <p:nvPr/>
        </p:nvSpPr>
        <p:spPr>
          <a:xfrm>
            <a:off x="5486400" y="777240"/>
            <a:ext cx="3429000" cy="4023360"/>
          </a:xfrm>
          <a:prstGeom prst="rect">
            <a:avLst/>
          </a:prstGeom>
          <a:solidFill>
            <a:srgbClr val="F8FCFC"/>
          </a:solidFill>
          <a:ln w="17780">
            <a:solidFill>
              <a:srgbClr val="A5D7DC"/>
            </a:solidFill>
          </a:ln>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5577840" y="896112"/>
            <a:ext cx="324612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900"/>
              <a:buFont typeface="Calibri"/>
              <a:buNone/>
            </a:pPr>
            <a:r>
              <a:rPr b="1" i="0" lang="en-US" sz="900" u="none" cap="none" strike="noStrike">
                <a:solidFill>
                  <a:srgbClr val="028090"/>
                </a:solidFill>
                <a:latin typeface="Calibri"/>
                <a:ea typeface="Calibri"/>
                <a:cs typeface="Calibri"/>
                <a:sym typeface="Calibri"/>
              </a:rPr>
              <a:t>SUPPORT IMAGE</a:t>
            </a:r>
          </a:p>
        </p:txBody>
      </p:sp>
      <p:sp>
        <p:nvSpPr>
          <p:cNvPr id="48" name="Google Shape;48;p4"/>
          <p:cNvSpPr/>
          <p:nvPr/>
        </p:nvSpPr>
        <p:spPr>
          <a:xfrm>
            <a:off x="5577840" y="1170432"/>
            <a:ext cx="32461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00"/>
              <a:buFont typeface="Calibri"/>
              <a:buNone/>
            </a:pPr>
            <a:r>
              <a:rPr b="0" i="0" lang="en-US" sz="900" u="none" cap="none" strike="noStrike">
                <a:solidFill>
                  <a:srgbClr val="12263A"/>
                </a:solidFill>
                <a:latin typeface="Calibri"/>
                <a:ea typeface="Calibri"/>
                <a:cs typeface="Calibri"/>
                <a:sym typeface="Calibri"/>
              </a:rPr>
              <a:t>PMC3140149 · PKDL/HIV case report</a:t>
            </a:r>
          </a:p>
        </p:txBody>
      </p:sp>
      <p:sp>
        <p:nvSpPr>
          <p:cNvPr id="49" name="Google Shape;49;p4"/>
          <p:cNvSpPr/>
          <p:nvPr/>
        </p:nvSpPr>
        <p:spPr>
          <a:xfrm>
            <a:off x="5715000" y="1508760"/>
            <a:ext cx="2971800" cy="1691640"/>
          </a:xfrm>
          <a:prstGeom prst="rect">
            <a:avLst/>
          </a:prstGeom>
          <a:solidFill>
            <a:srgbClr val="FFFFFF"/>
          </a:solidFill>
          <a:ln cap="flat" cmpd="sng" w="19050">
            <a:solidFill>
              <a:srgbClr val="02809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5577840" y="3255264"/>
            <a:ext cx="324612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50"/>
              <a:buFont typeface="Calibri"/>
              <a:buNone/>
            </a:pPr>
            <a:r>
              <a:rPr b="0" i="0" lang="en-US" sz="950" u="none" cap="none" strike="noStrike">
                <a:solidFill>
                  <a:srgbClr val="12263A"/>
                </a:solidFill>
                <a:latin typeface="Calibri"/>
                <a:ea typeface="Calibri"/>
                <a:cs typeface="Calibri"/>
                <a:sym typeface="Calibri"/>
              </a:rPr>
              <a:t>Infiltrated plaques on nose, wrist, and finger — useful visual context, not standalone ground truth.</a:t>
            </a:r>
          </a:p>
        </p:txBody>
      </p:sp>
      <p:sp>
        <p:nvSpPr>
          <p:cNvPr id="52" name="Google Shape;52;p4"/>
          <p:cNvSpPr/>
          <p:nvPr/>
        </p:nvSpPr>
        <p:spPr>
          <a:xfrm>
            <a:off x="5577840" y="4434840"/>
            <a:ext cx="324612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8FA8"/>
              </a:buClr>
              <a:buSzPts val="800"/>
              <a:buFont typeface="Calibri"/>
              <a:buNone/>
            </a:pPr>
            <a:r>
              <a:rPr b="0" i="1" lang="en-US" sz="800" u="none" cap="none" strike="noStrike">
                <a:solidFill>
                  <a:srgbClr val="028090"/>
                </a:solidFill>
                <a:latin typeface="Calibri"/>
                <a:ea typeface="Calibri"/>
                <a:cs typeface="Calibri"/>
                <a:sym typeface="Calibri"/>
              </a:rPr>
              <a:t>Source: open-access PMC case-report image</a:t>
            </a:r>
          </a:p>
        </p:txBody>
      </p:sp>
      <p:sp>
        <p:nvSpPr>
          <p:cNvPr id="53" name="Google Shape;53;p4"/>
          <p:cNvSpPr/>
          <p:nvPr/>
        </p:nvSpPr>
        <p:spPr>
          <a:xfrm>
            <a:off x="320040" y="4846320"/>
            <a:ext cx="8595360" cy="201168"/>
          </a:xfrm>
          <a:prstGeom prst="rect">
            <a:avLst/>
          </a:prstGeom>
          <a:solidFill>
            <a:srgbClr val="D6E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411480" y="4873752"/>
            <a:ext cx="8412480" cy="16459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850"/>
              <a:buFont typeface="Calibri"/>
              <a:buNone/>
            </a:pPr>
            <a:r>
              <a:rPr b="0" i="0" lang="en-US" sz="850" u="none" cap="none" strike="noStrike">
                <a:solidFill>
                  <a:srgbClr val="12263A"/>
                </a:solidFill>
                <a:latin typeface="Calibri"/>
                <a:ea typeface="Calibri"/>
                <a:cs typeface="Calibri"/>
                <a:sym typeface="Calibri"/>
              </a:rPr>
              <a:t>Use this as a retrieval-ambiguity example: a support image can explain evidence flow, but it is not a direct official test query or model-proven diagnosis.</a:t>
            </a:r>
          </a:p>
        </p:txBody>
      </p:sp>
      <p:pic>
        <p:nvPicPr>
          <p:cNvPr id="55" name="Google Shape;55;p4"/>
          <p:cNvPicPr preferRelativeResize="0"/>
          <p:nvPr/>
        </p:nvPicPr>
        <p:blipFill>
          <a:blip r:embed="rId3">
            <a:alphaModFix/>
          </a:blip>
          <a:stretch>
            <a:fillRect/>
          </a:stretch>
        </p:blipFill>
        <p:spPr>
          <a:xfrm>
            <a:off x="6230902" y="1508750"/>
            <a:ext cx="1950673" cy="1691651"/>
          </a:xfrm>
          <a:prstGeom prst="rect">
            <a:avLst/>
          </a:prstGeom>
          <a:noFill/>
          <a:ln>
            <a:noFill/>
          </a:ln>
        </p:spPr>
      </p:pic>
      <p:sp>
        <p:nvSpPr>
          <p:cNvPr id="56" name="Page badge 02"/>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Page badge 02"/>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p="http://schemas.openxmlformats.org/presentationml/2006/main">
  <p:cSld>
    <p:bg>
      <p:bgPr>
        <a:solidFill>
          <a:srgbClr val="FFFFFF"/>
        </a:solidFill>
      </p:bgPr>
    </p:bg>
    <p:spTree>
      <p:nvGrpSpPr>
        <p:cNvPr id="60" name="Shape 60"/>
        <p:cNvGrpSpPr/>
        <p:nvPr/>
      </p:nvGrpSpPr>
      <p:grpSpPr>
        <a:xfrm>
          <a:off x="0" y="0"/>
          <a:ext cx="0" cy="0"/>
          <a:chOff x="0" y="0"/>
          <a:chExt cx="0" cy="0"/>
        </a:xfrm>
      </p:grpSpPr>
      <p:sp>
        <p:nvSpPr>
          <p:cNvPr id="63" name="Google Shape;63;p5"/>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Four questions, one thread: does evidence help safely?</a:t>
            </a:r>
          </a:p>
        </p:txBody>
      </p:sp>
      <p:sp>
        <p:nvSpPr>
          <p:cNvPr id="64" name="Google Shape;64;p5"/>
          <p:cNvSpPr/>
          <p:nvPr/>
        </p:nvSpPr>
        <p:spPr>
          <a:xfrm>
            <a:off x="365760" y="65836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Each RQ asks whether more evidence improves the pipeline without creating unsupported claims.</a:t>
            </a:r>
          </a:p>
        </p:txBody>
      </p:sp>
      <p:sp>
        <p:nvSpPr>
          <p:cNvPr id="65" name="Google Shape;65;p5"/>
          <p:cNvSpPr/>
          <p:nvPr/>
        </p:nvSpPr>
        <p:spPr>
          <a:xfrm>
            <a:off x="320040" y="1051560"/>
            <a:ext cx="4160520" cy="173736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320040" y="1051560"/>
            <a:ext cx="109728" cy="173736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521208" y="1161288"/>
            <a:ext cx="731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8090"/>
              </a:buClr>
              <a:buSzPts val="1400"/>
              <a:buFont typeface="Calibri"/>
              <a:buNone/>
            </a:pPr>
            <a:r>
              <a:rPr b="1" i="0" lang="en-US" sz="1400" u="none" cap="none" strike="noStrike">
                <a:solidFill>
                  <a:srgbClr val="028090"/>
                </a:solidFill>
                <a:latin typeface="Calibri"/>
                <a:ea typeface="Calibri"/>
                <a:cs typeface="Calibri"/>
                <a:sym typeface="Calibri"/>
              </a:rPr>
              <a:t>RQ1</a:t>
            </a:r>
            <a:endParaRPr b="0" i="0" sz="1400" u="none" cap="none" strike="noStrike">
              <a:solidFill>
                <a:schemeClr val="dk1"/>
              </a:solidFill>
              <a:latin typeface="Calibri"/>
              <a:ea typeface="Calibri"/>
              <a:cs typeface="Calibri"/>
              <a:sym typeface="Calibri"/>
            </a:endParaRPr>
          </a:p>
        </p:txBody>
      </p:sp>
      <p:sp>
        <p:nvSpPr>
          <p:cNvPr id="68" name="Google Shape;68;p5"/>
          <p:cNvSpPr/>
          <p:nvPr/>
        </p:nvSpPr>
        <p:spPr>
          <a:xfrm>
            <a:off x="521208" y="1481328"/>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Weak-Reference Evaluation</a:t>
            </a:r>
          </a:p>
        </p:txBody>
      </p:sp>
      <p:sp>
        <p:nvSpPr>
          <p:cNvPr id="69" name="Google Shape;69;p5"/>
          <p:cNvSpPr/>
          <p:nvPr/>
        </p:nvSpPr>
        <p:spPr>
          <a:xfrm>
            <a:off x="521208" y="182880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Can structured case reconstruction support scored diagnosis evaluation on held-out leishmaniasis cases?</a:t>
            </a:r>
          </a:p>
        </p:txBody>
      </p:sp>
      <p:sp>
        <p:nvSpPr>
          <p:cNvPr id="70" name="Google Shape;70;p5"/>
          <p:cNvSpPr/>
          <p:nvPr/>
        </p:nvSpPr>
        <p:spPr>
          <a:xfrm>
            <a:off x="4663440" y="1051560"/>
            <a:ext cx="4160520" cy="173736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4663440" y="1051560"/>
            <a:ext cx="109728" cy="1737360"/>
          </a:xfrm>
          <a:prstGeom prst="rect">
            <a:avLst/>
          </a:prstGeom>
          <a:solidFill>
            <a:srgbClr val="0A5C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4864608" y="1161288"/>
            <a:ext cx="731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5C75"/>
              </a:buClr>
              <a:buSzPts val="1400"/>
              <a:buFont typeface="Calibri"/>
              <a:buNone/>
            </a:pPr>
            <a:r>
              <a:rPr b="1" i="0" lang="en-US" sz="1400" u="none" cap="none" strike="noStrike">
                <a:solidFill>
                  <a:srgbClr val="0A5C75"/>
                </a:solidFill>
                <a:latin typeface="Calibri"/>
                <a:ea typeface="Calibri"/>
                <a:cs typeface="Calibri"/>
                <a:sym typeface="Calibri"/>
              </a:rPr>
              <a:t>RQ2</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4864608" y="1481328"/>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Small-Model Practicality</a:t>
            </a:r>
          </a:p>
        </p:txBody>
      </p:sp>
      <p:sp>
        <p:nvSpPr>
          <p:cNvPr id="74" name="Google Shape;74;p5"/>
          <p:cNvSpPr/>
          <p:nvPr/>
        </p:nvSpPr>
        <p:spPr>
          <a:xfrm>
            <a:off x="4864608" y="182880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Can local open models run on a single GPU with enough latency and memory transparency for audit?</a:t>
            </a:r>
          </a:p>
        </p:txBody>
      </p:sp>
      <p:sp>
        <p:nvSpPr>
          <p:cNvPr id="75" name="Google Shape;75;p5"/>
          <p:cNvSpPr/>
          <p:nvPr/>
        </p:nvSpPr>
        <p:spPr>
          <a:xfrm>
            <a:off x="320040" y="3017520"/>
            <a:ext cx="4160520" cy="173736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320040" y="3017520"/>
            <a:ext cx="109728" cy="173736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521208" y="3127248"/>
            <a:ext cx="731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400"/>
              <a:buFont typeface="Calibri"/>
              <a:buNone/>
            </a:pPr>
            <a:r>
              <a:rPr b="1" i="0" lang="en-US" sz="1400" u="none" cap="none" strike="noStrike">
                <a:solidFill>
                  <a:srgbClr val="F4A261"/>
                </a:solidFill>
                <a:latin typeface="Calibri"/>
                <a:ea typeface="Calibri"/>
                <a:cs typeface="Calibri"/>
                <a:sym typeface="Calibri"/>
              </a:rPr>
              <a:t>RQ3</a:t>
            </a:r>
            <a:endParaRPr b="0" i="0" sz="1400" u="none" cap="none" strike="noStrike">
              <a:solidFill>
                <a:schemeClr val="dk1"/>
              </a:solidFill>
              <a:latin typeface="Calibri"/>
              <a:ea typeface="Calibri"/>
              <a:cs typeface="Calibri"/>
              <a:sym typeface="Calibri"/>
            </a:endParaRPr>
          </a:p>
        </p:txBody>
      </p:sp>
      <p:sp>
        <p:nvSpPr>
          <p:cNvPr id="78" name="Google Shape;78;p5"/>
          <p:cNvSpPr/>
          <p:nvPr/>
        </p:nvSpPr>
        <p:spPr>
          <a:xfrm>
            <a:off x="521208" y="3447288"/>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Multimodal Evidence</a:t>
            </a:r>
          </a:p>
        </p:txBody>
      </p:sp>
      <p:sp>
        <p:nvSpPr>
          <p:cNvPr id="79" name="Google Shape;79;p5"/>
          <p:cNvSpPr/>
          <p:nvPr/>
        </p:nvSpPr>
        <p:spPr>
          <a:xfrm>
            <a:off x="521208" y="379476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Do images and image-linked context add useful signal, or mainly increase visual hallucination risk?</a:t>
            </a:r>
          </a:p>
        </p:txBody>
      </p:sp>
      <p:sp>
        <p:nvSpPr>
          <p:cNvPr id="80" name="Google Shape;80;p5"/>
          <p:cNvSpPr/>
          <p:nvPr/>
        </p:nvSpPr>
        <p:spPr>
          <a:xfrm>
            <a:off x="4663440" y="3017520"/>
            <a:ext cx="4160520" cy="173736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4663440" y="3017520"/>
            <a:ext cx="109728" cy="1737360"/>
          </a:xfrm>
          <a:prstGeom prst="rect">
            <a:avLst/>
          </a:prstGeom>
          <a:solidFill>
            <a:srgbClr val="5A2D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4864608" y="3127248"/>
            <a:ext cx="731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2D82"/>
              </a:buClr>
              <a:buSzPts val="1400"/>
              <a:buFont typeface="Calibri"/>
              <a:buNone/>
            </a:pPr>
            <a:r>
              <a:rPr b="1" i="0" lang="en-US" sz="1400" u="none" cap="none" strike="noStrike">
                <a:solidFill>
                  <a:srgbClr val="5A2D82"/>
                </a:solidFill>
                <a:latin typeface="Calibri"/>
                <a:ea typeface="Calibri"/>
                <a:cs typeface="Calibri"/>
                <a:sym typeface="Calibri"/>
              </a:rPr>
              <a:t>RQ4</a:t>
            </a:r>
            <a:endParaRPr b="0" i="0" sz="1400" u="none" cap="none" strike="noStrike">
              <a:solidFill>
                <a:schemeClr val="dk1"/>
              </a:solidFill>
              <a:latin typeface="Calibri"/>
              <a:ea typeface="Calibri"/>
              <a:cs typeface="Calibri"/>
              <a:sym typeface="Calibri"/>
            </a:endParaRPr>
          </a:p>
        </p:txBody>
      </p:sp>
      <p:sp>
        <p:nvSpPr>
          <p:cNvPr id="83" name="Google Shape;83;p5"/>
          <p:cNvSpPr/>
          <p:nvPr/>
        </p:nvSpPr>
        <p:spPr>
          <a:xfrm>
            <a:off x="4864608" y="3447288"/>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Retrieval-Augmented Reasoning</a:t>
            </a:r>
          </a:p>
        </p:txBody>
      </p:sp>
      <p:sp>
        <p:nvSpPr>
          <p:cNvPr id="84" name="Google Shape;84;p5"/>
          <p:cNvSpPr/>
          <p:nvPr/>
        </p:nvSpPr>
        <p:spPr>
          <a:xfrm>
            <a:off x="4864608" y="3794760"/>
            <a:ext cx="38404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Does retrieving similar cases help generation compared with matched no-RAG conditions?</a:t>
            </a:r>
          </a:p>
        </p:txBody>
      </p:sp>
      <p:sp>
        <p:nvSpPr>
          <p:cNvPr id="85" name="Page badge 03"/>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Page badge 03"/>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ns2="http://schemas.openxmlformats.org/officeDocument/2006/relationships" xmlns:p="http://schemas.openxmlformats.org/presentationml/2006/main">
  <p:cSld>
    <p:bg>
      <p:bgPr>
        <a:solidFill>
          <a:srgbClr val="FFFFFF"/>
        </a:solidFill>
      </p:bgPr>
    </p:bg>
    <p:spTree>
      <p:nvGrpSpPr>
        <p:cNvPr id="89" name="Shape 89"/>
        <p:cNvGrpSpPr/>
        <p:nvPr/>
      </p:nvGrpSpPr>
      <p:grpSpPr>
        <a:xfrm>
          <a:off x="0" y="0"/>
          <a:ext cx="0" cy="0"/>
          <a:chOff x="0" y="0"/>
          <a:chExt cx="0" cy="0"/>
        </a:xfrm>
      </p:grpSpPr>
      <p:sp>
        <p:nvSpPr>
          <p:cNvPr id="90" name="TextBox 89"/>
          <p:cNvSpPr txBox="1"/>
          <p:nvPr/>
        </p:nvSpPr>
        <p:spPr>
          <a:xfrm>
            <a:off x="365760" y="137160"/>
            <a:ext cx="8229600" cy="502920"/>
          </a:xfrm>
          <a:prstGeom prst="rect">
            <a:avLst/>
          </a:prstGeom>
          <a:noFill/>
        </p:spPr>
        <p:txBody>
          <a:bodyPr wrap="square" anchor="ctr">
            <a:spAutoFit/>
          </a:bodyPr>
          <a:lstStyle/>
          <a:p>
            <a:pPr algn="l"/>
            <a:r>
              <a:rPr sz="2400" b="1" i="0">
                <a:solidFill>
                  <a:srgbClr val="12263A"/>
                </a:solidFill>
                <a:latin typeface="Calibri"/>
              </a:rPr>
              <a:t>Two-lane retrieval architecture</a:t>
            </a:r>
          </a:p>
        </p:txBody>
      </p:sp>
      <p:sp>
        <p:nvSpPr>
          <p:cNvPr id="91" name="TextBox 90"/>
          <p:cNvSpPr txBox="1"/>
          <p:nvPr/>
        </p:nvSpPr>
        <p:spPr>
          <a:xfrm>
            <a:off x="365760" y="658368"/>
            <a:ext cx="8229600" cy="256032"/>
          </a:xfrm>
          <a:prstGeom prst="rect">
            <a:avLst/>
          </a:prstGeom>
          <a:noFill/>
        </p:spPr>
        <p:txBody>
          <a:bodyPr wrap="square" anchor="ctr">
            <a:spAutoFit/>
          </a:bodyPr>
          <a:lstStyle/>
          <a:p>
            <a:pPr algn="l"/>
            <a:r>
              <a:rPr sz="1100" b="0" i="1">
                <a:solidFill>
                  <a:srgbClr val="64748B"/>
                </a:solidFill>
                <a:latin typeface="Calibri"/>
              </a:rPr>
              <a:t>Text retrieval and image-linked retrieval are fused, gated, and audited before presentation.</a:t>
            </a:r>
          </a:p>
        </p:txBody>
      </p:sp>
      <p:pic>
        <p:nvPicPr>
          <p:cNvPr id="93" name="Picture 92" descr="multimodal_rag_pipeline_icons_refined_capture.png"/>
          <p:cNvPicPr>
            <a:picLocks noChangeAspect="1"/>
          </p:cNvPicPr>
          <p:nvPr/>
        </p:nvPicPr>
        <p:blipFill>
          <a:blip ns2:embed="rId3"/>
          <a:stretch>
            <a:fillRect/>
          </a:stretch>
        </p:blipFill>
        <p:spPr>
          <a:xfrm>
            <a:off x="2001017" y="932688"/>
            <a:ext cx="5141965" cy="3950208"/>
          </a:xfrm>
          <a:prstGeom prst="rect">
            <a:avLst/>
          </a:prstGeom>
        </p:spPr>
      </p:pic>
      <p:sp>
        <p:nvSpPr>
          <p:cNvPr id="94" name="TextBox 93"/>
          <p:cNvSpPr txBox="1"/>
          <p:nvPr/>
        </p:nvSpPr>
        <p:spPr>
          <a:xfrm>
            <a:off x="502920" y="4956048"/>
            <a:ext cx="8138160" cy="128016"/>
          </a:xfrm>
          <a:prstGeom prst="rect">
            <a:avLst/>
          </a:prstGeom>
          <a:noFill/>
        </p:spPr>
        <p:txBody>
          <a:bodyPr wrap="none" anchor="ctr">
            <a:spAutoFit/>
          </a:bodyPr>
          <a:lstStyle/>
          <a:p>
            <a:pPr algn="ctr"/>
            <a:r>
              <a:rPr sz="550" b="0" i="0">
                <a:solidFill>
                  <a:srgbClr val="64748B"/>
                </a:solidFill>
                <a:latin typeface="Calibri"/>
              </a:rPr>
              <a:t>Architecture figure reused from the thesis pipeline diagram; the demo exposes retrieval, generation, uncertainty gate, and final route.</a:t>
            </a:r>
          </a:p>
        </p:txBody>
      </p:sp>
      <p:sp>
        <p:nvSpPr>
          <p:cNvPr id="95" name="Page badge 04"/>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Page badge 04"/>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18" name="Shape 118"/>
        <p:cNvGrpSpPr/>
        <p:nvPr/>
      </p:nvGrpSpPr>
      <p:grpSpPr>
        <a:xfrm>
          <a:off x="0" y="0"/>
          <a:ext cx="0" cy="0"/>
          <a:chOff x="0" y="0"/>
          <a:chExt cx="0" cy="0"/>
        </a:xfrm>
      </p:grpSpPr>
      <p:sp>
        <p:nvSpPr>
          <p:cNvPr id="121" name="Google Shape;121;p7"/>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Main result: RAG effect is model-dependent</a:t>
            </a:r>
          </a:p>
        </p:txBody>
      </p:sp>
      <p:sp>
        <p:nvSpPr>
          <p:cNvPr id="122" name="Google Shape;122;p7"/>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Weak-reference, prompt-judged diagnosis accuracy on 56 held-out cases; x-axis = model family, y-axis = diagnosis accuracy (%).</a:t>
            </a:r>
          </a:p>
        </p:txBody>
      </p:sp>
      <p:pic>
        <p:nvPicPr>
          <p:cNvPr id="123" name="Google Shape;123;p7"/>
          <p:cNvPicPr preferRelativeResize="0"/>
          <p:nvPr/>
        </p:nvPicPr>
        <p:blipFill rotWithShape="1">
          <a:blip r:embed="rId3">
            <a:alphaModFix/>
          </a:blip>
          <a:srcRect b="0" l="0" r="0" t="0"/>
          <a:stretch/>
        </p:blipFill>
        <p:spPr>
          <a:xfrm>
            <a:off x="320040" y="914400"/>
            <a:ext cx="5303520" cy="3474720"/>
          </a:xfrm>
          <a:prstGeom prst="rect">
            <a:avLst/>
          </a:prstGeom>
          <a:noFill/>
          <a:ln>
            <a:noFill/>
          </a:ln>
        </p:spPr>
      </p:pic>
      <p:sp>
        <p:nvSpPr>
          <p:cNvPr id="124" name="Google Shape;124;p7"/>
          <p:cNvSpPr/>
          <p:nvPr/>
        </p:nvSpPr>
        <p:spPr>
          <a:xfrm>
            <a:off x="5806440" y="914400"/>
            <a:ext cx="3200400" cy="347472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5943600" y="1005840"/>
            <a:ext cx="292608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Key deltas</a:t>
            </a:r>
          </a:p>
        </p:txBody>
      </p:sp>
      <p:sp>
        <p:nvSpPr>
          <p:cNvPr id="126" name="Google Shape;126;p7"/>
          <p:cNvSpPr/>
          <p:nvPr/>
        </p:nvSpPr>
        <p:spPr>
          <a:xfrm>
            <a:off x="5943600" y="1444752"/>
            <a:ext cx="2834640" cy="594360"/>
          </a:xfrm>
          <a:prstGeom prst="rect">
            <a:avLst/>
          </a:prstGeom>
          <a:solidFill>
            <a:srgbClr val="FEE2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6053328" y="1490472"/>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100"/>
              <a:buFont typeface="Calibri"/>
              <a:buNone/>
            </a:pPr>
            <a:r>
              <a:rPr b="1" i="0" lang="en-US" sz="1100" u="none" cap="none" strike="noStrike">
                <a:solidFill>
                  <a:srgbClr val="12263A"/>
                </a:solidFill>
                <a:latin typeface="Calibri"/>
                <a:ea typeface="Calibri"/>
                <a:cs typeface="Calibri"/>
                <a:sym typeface="Calibri"/>
              </a:rPr>
              <a:t>Gemini</a:t>
            </a:r>
          </a:p>
        </p:txBody>
      </p:sp>
      <p:sp>
        <p:nvSpPr>
          <p:cNvPr id="128" name="Google Shape;128;p7"/>
          <p:cNvSpPr/>
          <p:nvPr/>
        </p:nvSpPr>
        <p:spPr>
          <a:xfrm>
            <a:off x="7424928" y="1490472"/>
            <a:ext cx="12344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3946"/>
              </a:buClr>
              <a:buSzPts val="1400"/>
              <a:buFont typeface="Calibri"/>
              <a:buNone/>
            </a:pPr>
            <a:r>
              <a:rPr b="1" i="0" lang="en-US" sz="1400" u="none" cap="none" strike="noStrike">
                <a:solidFill>
                  <a:srgbClr val="E63946"/>
                </a:solidFill>
                <a:latin typeface="Calibri"/>
                <a:ea typeface="Calibri"/>
                <a:cs typeface="Calibri"/>
                <a:sym typeface="Calibri"/>
              </a:rPr>
              <a:t>−11.2 pp</a:t>
            </a:r>
          </a:p>
        </p:txBody>
      </p:sp>
      <p:sp>
        <p:nvSpPr>
          <p:cNvPr id="129" name="Google Shape;129;p7"/>
          <p:cNvSpPr/>
          <p:nvPr/>
        </p:nvSpPr>
        <p:spPr>
          <a:xfrm>
            <a:off x="6053328" y="1764792"/>
            <a:ext cx="2788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statistically supported degradation</a:t>
            </a:r>
          </a:p>
        </p:txBody>
      </p:sp>
      <p:sp>
        <p:nvSpPr>
          <p:cNvPr id="130" name="Google Shape;130;p7"/>
          <p:cNvSpPr/>
          <p:nvPr/>
        </p:nvSpPr>
        <p:spPr>
          <a:xfrm>
            <a:off x="5943600" y="2157984"/>
            <a:ext cx="2834640" cy="594360"/>
          </a:xfrm>
          <a:prstGeom prst="rect">
            <a:avLst/>
          </a:prstGeom>
          <a:solidFill>
            <a:srgbClr val="FEE2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6053328" y="2203704"/>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100"/>
              <a:buFont typeface="Calibri"/>
              <a:buNone/>
            </a:pPr>
            <a:r>
              <a:rPr b="1" i="0" lang="en-US" sz="1100" u="none" cap="none" strike="noStrike">
                <a:solidFill>
                  <a:srgbClr val="12263A"/>
                </a:solidFill>
                <a:latin typeface="Calibri"/>
                <a:ea typeface="Calibri"/>
                <a:cs typeface="Calibri"/>
                <a:sym typeface="Calibri"/>
              </a:rPr>
              <a:t>MedGemma</a:t>
            </a:r>
          </a:p>
        </p:txBody>
      </p:sp>
      <p:sp>
        <p:nvSpPr>
          <p:cNvPr id="132" name="Google Shape;132;p7"/>
          <p:cNvSpPr/>
          <p:nvPr/>
        </p:nvSpPr>
        <p:spPr>
          <a:xfrm>
            <a:off x="7424928" y="2203704"/>
            <a:ext cx="12344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3946"/>
              </a:buClr>
              <a:buSzPts val="1400"/>
              <a:buFont typeface="Calibri"/>
              <a:buNone/>
            </a:pPr>
            <a:r>
              <a:rPr b="1" i="0" lang="en-US" sz="1400" u="none" cap="none" strike="noStrike">
                <a:solidFill>
                  <a:srgbClr val="E63946"/>
                </a:solidFill>
                <a:latin typeface="Calibri"/>
                <a:ea typeface="Calibri"/>
                <a:cs typeface="Calibri"/>
                <a:sym typeface="Calibri"/>
              </a:rPr>
              <a:t>−3.1 pp</a:t>
            </a:r>
          </a:p>
        </p:txBody>
      </p:sp>
      <p:sp>
        <p:nvSpPr>
          <p:cNvPr id="133" name="Google Shape;133;p7"/>
          <p:cNvSpPr/>
          <p:nvPr/>
        </p:nvSpPr>
        <p:spPr>
          <a:xfrm>
            <a:off x="6053328" y="2478024"/>
            <a:ext cx="2788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directional; not robust</a:t>
            </a:r>
          </a:p>
        </p:txBody>
      </p:sp>
      <p:sp>
        <p:nvSpPr>
          <p:cNvPr id="134" name="Google Shape;134;p7"/>
          <p:cNvSpPr/>
          <p:nvPr/>
        </p:nvSpPr>
        <p:spPr>
          <a:xfrm>
            <a:off x="5943600" y="2871216"/>
            <a:ext cx="2834640" cy="594360"/>
          </a:xfrm>
          <a:prstGeom prst="rect">
            <a:avLst/>
          </a:prstGeom>
          <a:solidFill>
            <a:srgbClr val="D1F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6053328" y="2916936"/>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100"/>
              <a:buFont typeface="Calibri"/>
              <a:buNone/>
            </a:pPr>
            <a:r>
              <a:rPr b="1" i="0" lang="en-US" sz="1100" u="none" cap="none" strike="noStrike">
                <a:solidFill>
                  <a:srgbClr val="12263A"/>
                </a:solidFill>
                <a:latin typeface="Calibri"/>
                <a:ea typeface="Calibri"/>
                <a:cs typeface="Calibri"/>
                <a:sym typeface="Calibri"/>
              </a:rPr>
              <a:t>Gemma 4</a:t>
            </a:r>
          </a:p>
        </p:txBody>
      </p:sp>
      <p:sp>
        <p:nvSpPr>
          <p:cNvPr id="136" name="Google Shape;136;p7"/>
          <p:cNvSpPr/>
          <p:nvPr/>
        </p:nvSpPr>
        <p:spPr>
          <a:xfrm>
            <a:off x="7424928" y="2916936"/>
            <a:ext cx="12344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59669"/>
              </a:buClr>
              <a:buSzPts val="1400"/>
              <a:buFont typeface="Calibri"/>
              <a:buNone/>
            </a:pPr>
            <a:r>
              <a:rPr b="1" i="0" lang="en-US" sz="1400" u="none" cap="none" strike="noStrike">
                <a:solidFill>
                  <a:srgbClr val="059669"/>
                </a:solidFill>
                <a:latin typeface="Calibri"/>
                <a:ea typeface="Calibri"/>
                <a:cs typeface="Calibri"/>
                <a:sym typeface="Calibri"/>
              </a:rPr>
              <a:t>+6.7 pp</a:t>
            </a:r>
          </a:p>
        </p:txBody>
      </p:sp>
      <p:sp>
        <p:nvSpPr>
          <p:cNvPr id="137" name="Google Shape;137;p7"/>
          <p:cNvSpPr/>
          <p:nvPr/>
        </p:nvSpPr>
        <p:spPr>
          <a:xfrm>
            <a:off x="6053328" y="3191256"/>
            <a:ext cx="2788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directional; CI crosses 0</a:t>
            </a:r>
          </a:p>
        </p:txBody>
      </p:sp>
      <p:sp>
        <p:nvSpPr>
          <p:cNvPr id="138" name="Google Shape;138;p7"/>
          <p:cNvSpPr/>
          <p:nvPr/>
        </p:nvSpPr>
        <p:spPr>
          <a:xfrm>
            <a:off x="5943600" y="3584448"/>
            <a:ext cx="2834640" cy="594360"/>
          </a:xfrm>
          <a:prstGeom prst="rect">
            <a:avLst/>
          </a:prstGeom>
          <a:solidFill>
            <a:srgbClr val="D1F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6053328" y="3630168"/>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100"/>
              <a:buFont typeface="Calibri"/>
              <a:buNone/>
            </a:pPr>
            <a:r>
              <a:rPr b="1" i="0" lang="en-US" sz="1100" u="none" cap="none" strike="noStrike">
                <a:solidFill>
                  <a:srgbClr val="12263A"/>
                </a:solidFill>
                <a:latin typeface="Calibri"/>
                <a:ea typeface="Calibri"/>
                <a:cs typeface="Calibri"/>
                <a:sym typeface="Calibri"/>
              </a:rPr>
              <a:t>Gemma 4 + images</a:t>
            </a:r>
          </a:p>
        </p:txBody>
      </p:sp>
      <p:sp>
        <p:nvSpPr>
          <p:cNvPr id="140" name="Google Shape;140;p7"/>
          <p:cNvSpPr/>
          <p:nvPr/>
        </p:nvSpPr>
        <p:spPr>
          <a:xfrm>
            <a:off x="7424928" y="3630168"/>
            <a:ext cx="123444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59669"/>
              </a:buClr>
              <a:buSzPts val="1400"/>
              <a:buFont typeface="Calibri"/>
              <a:buNone/>
            </a:pPr>
            <a:r>
              <a:rPr b="1" i="0" lang="en-US" sz="1400" u="none" cap="none" strike="noStrike">
                <a:solidFill>
                  <a:srgbClr val="059669"/>
                </a:solidFill>
                <a:latin typeface="Calibri"/>
                <a:ea typeface="Calibri"/>
                <a:cs typeface="Calibri"/>
                <a:sym typeface="Calibri"/>
              </a:rPr>
              <a:t>+1.8 pp</a:t>
            </a:r>
          </a:p>
        </p:txBody>
      </p:sp>
      <p:sp>
        <p:nvSpPr>
          <p:cNvPr id="141" name="Google Shape;141;p7"/>
          <p:cNvSpPr/>
          <p:nvPr/>
        </p:nvSpPr>
        <p:spPr>
          <a:xfrm>
            <a:off x="6053328" y="3904488"/>
            <a:ext cx="2788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exploratory; hallucination risk ↑</a:t>
            </a:r>
          </a:p>
        </p:txBody>
      </p:sp>
      <p:sp>
        <p:nvSpPr>
          <p:cNvPr id="142" name="Google Shape;142;p7"/>
          <p:cNvSpPr/>
          <p:nvPr/>
        </p:nvSpPr>
        <p:spPr>
          <a:xfrm>
            <a:off x="320040" y="4572000"/>
            <a:ext cx="8595360" cy="411480"/>
          </a:xfrm>
          <a:prstGeom prst="rect">
            <a:avLst/>
          </a:prstGeom>
          <a:solidFill>
            <a:srgbClr val="FFFBEB"/>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502920" y="461772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2400E"/>
              </a:buClr>
              <a:buSzPts val="950"/>
              <a:buFont typeface="Calibri"/>
              <a:buNone/>
            </a:pPr>
            <a:r>
              <a:rPr b="0" i="0" lang="en-US" sz="950" u="none" cap="none" strike="noStrike">
                <a:solidFill>
                  <a:srgbClr val="92400E"/>
                </a:solidFill>
                <a:latin typeface="Calibri"/>
                <a:ea typeface="Calibri"/>
                <a:cs typeface="Calibri"/>
                <a:sym typeface="Calibri"/>
              </a:rPr>
              <a:t>Chart: grouped bars compare matched no-RAG vs adaptive RAG for each model family. Retrieval is not uniformly beneficial.</a:t>
            </a:r>
          </a:p>
        </p:txBody>
      </p:sp>
      <p:sp>
        <p:nvSpPr>
          <p:cNvPr id="144" name="Page badge 05"/>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Page badge 05"/>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48" name="Shape 148"/>
        <p:cNvGrpSpPr/>
        <p:nvPr/>
      </p:nvGrpSpPr>
      <p:grpSpPr>
        <a:xfrm>
          <a:off x="0" y="0"/>
          <a:ext cx="0" cy="0"/>
          <a:chOff x="0" y="0"/>
          <a:chExt cx="0" cy="0"/>
        </a:xfrm>
      </p:grpSpPr>
      <p:sp>
        <p:nvSpPr>
          <p:cNvPr id="151" name="Google Shape;151;p8"/>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Corpus imbalance explains the specificity risk</a:t>
            </a:r>
          </a:p>
        </p:txBody>
      </p:sp>
      <p:sp>
        <p:nvSpPr>
          <p:cNvPr id="152" name="Google Shape;152;p8"/>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Left chart: class mix by split. Right chart: leish-labelled share of retrieved support after clean-context audit.</a:t>
            </a:r>
          </a:p>
        </p:txBody>
      </p:sp>
      <p:sp>
        <p:nvSpPr>
          <p:cNvPr id="153" name="Google Shape;153;p8"/>
          <p:cNvSpPr/>
          <p:nvPr/>
        </p:nvSpPr>
        <p:spPr>
          <a:xfrm>
            <a:off x="365760" y="987552"/>
            <a:ext cx="411480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8090"/>
              </a:buClr>
              <a:buSzPts val="1200"/>
              <a:buFont typeface="Calibri"/>
              <a:buNone/>
            </a:pPr>
            <a:r>
              <a:rPr b="1" i="0" lang="en-US" sz="1200" u="none" cap="none" strike="noStrike">
                <a:solidFill>
                  <a:srgbClr val="028090"/>
                </a:solidFill>
                <a:latin typeface="Calibri"/>
                <a:ea typeface="Calibri"/>
                <a:cs typeface="Calibri"/>
                <a:sym typeface="Calibri"/>
              </a:rPr>
              <a:t>Retrieval corpus</a:t>
            </a:r>
          </a:p>
        </p:txBody>
      </p:sp>
      <p:pic>
        <p:nvPicPr>
          <p:cNvPr id="154" name="Google Shape;154;p8"/>
          <p:cNvPicPr preferRelativeResize="0"/>
          <p:nvPr/>
        </p:nvPicPr>
        <p:blipFill rotWithShape="1">
          <a:blip r:embed="rId3">
            <a:alphaModFix/>
          </a:blip>
          <a:srcRect b="0" l="0" r="0" t="0"/>
          <a:stretch/>
        </p:blipFill>
        <p:spPr>
          <a:xfrm>
            <a:off x="320040" y="1298448"/>
            <a:ext cx="4206240" cy="3108960"/>
          </a:xfrm>
          <a:prstGeom prst="rect">
            <a:avLst/>
          </a:prstGeom>
          <a:noFill/>
          <a:ln>
            <a:noFill/>
          </a:ln>
        </p:spPr>
      </p:pic>
      <p:sp>
        <p:nvSpPr>
          <p:cNvPr id="155" name="Google Shape;155;p8"/>
          <p:cNvSpPr/>
          <p:nvPr/>
        </p:nvSpPr>
        <p:spPr>
          <a:xfrm>
            <a:off x="4663440" y="987552"/>
            <a:ext cx="4206240" cy="29260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A2D82"/>
              </a:buClr>
              <a:buSzPts val="1200"/>
              <a:buFont typeface="Calibri"/>
              <a:buNone/>
            </a:pPr>
            <a:r>
              <a:rPr b="1" i="0" lang="en-US" sz="1200" u="none" cap="none" strike="noStrike">
                <a:solidFill>
                  <a:srgbClr val="5A2D82"/>
                </a:solidFill>
                <a:latin typeface="Calibri"/>
                <a:ea typeface="Calibri"/>
                <a:cs typeface="Calibri"/>
                <a:sym typeface="Calibri"/>
              </a:rPr>
              <a:t>Held-out / support audit</a:t>
            </a:r>
          </a:p>
        </p:txBody>
      </p:sp>
      <p:pic>
        <p:nvPicPr>
          <p:cNvPr id="156" name="Google Shape;156;p8"/>
          <p:cNvPicPr preferRelativeResize="0"/>
          <p:nvPr/>
        </p:nvPicPr>
        <p:blipFill rotWithShape="1">
          <a:blip r:embed="rId4">
            <a:alphaModFix/>
          </a:blip>
          <a:srcRect b="0" l="0" r="0" t="0"/>
          <a:stretch/>
        </p:blipFill>
        <p:spPr>
          <a:xfrm>
            <a:off x="4617720" y="1298448"/>
            <a:ext cx="4206240" cy="3108960"/>
          </a:xfrm>
          <a:prstGeom prst="rect">
            <a:avLst/>
          </a:prstGeom>
          <a:noFill/>
          <a:ln>
            <a:noFill/>
          </a:ln>
        </p:spPr>
      </p:pic>
      <p:sp>
        <p:nvSpPr>
          <p:cNvPr id="157" name="Google Shape;157;p8"/>
          <p:cNvSpPr/>
          <p:nvPr/>
        </p:nvSpPr>
        <p:spPr>
          <a:xfrm>
            <a:off x="320040" y="4553712"/>
            <a:ext cx="8595360" cy="438912"/>
          </a:xfrm>
          <a:prstGeom prst="rect">
            <a:avLst/>
          </a:prstGeom>
          <a:solidFill>
            <a:srgbClr val="EFF6FF"/>
          </a:solidFill>
          <a:ln cap="flat" cmpd="sng" w="9525">
            <a:solidFill>
              <a:srgbClr val="122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502920" y="461772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900"/>
              <a:buFont typeface="Calibri"/>
              <a:buNone/>
            </a:pPr>
            <a:r>
              <a:rPr b="0" i="0" lang="en-US" sz="900" u="none" cap="none" strike="noStrike">
                <a:solidFill>
                  <a:srgbClr val="12263A"/>
                </a:solidFill>
                <a:latin typeface="Calibri"/>
                <a:ea typeface="Calibri"/>
                <a:cs typeface="Calibri"/>
                <a:sym typeface="Calibri"/>
              </a:rPr>
              <a:t>Key finding: the corpus is 106/121 leish cases while the held-out set is majority non-leish. Non-leish queries still receive mostly leish-labelled top-10 support, so RAG can over-support leishmaniasis mimics.</a:t>
            </a:r>
          </a:p>
        </p:txBody>
      </p:sp>
      <p:sp>
        <p:nvSpPr>
          <p:cNvPr id="159" name="Page badge 06"/>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Page badge 06"/>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p="http://schemas.openxmlformats.org/presentationml/2006/main">
  <p:cSld>
    <p:bg>
      <p:bgPr>
        <a:solidFill>
          <a:srgbClr val="FFFFFF"/>
        </a:solidFill>
      </p:bgPr>
    </p:bg>
    <p:spTree>
      <p:nvGrpSpPr>
        <p:cNvPr id="163" name="Shape 163"/>
        <p:cNvGrpSpPr/>
        <p:nvPr/>
      </p:nvGrpSpPr>
      <p:grpSpPr>
        <a:xfrm>
          <a:off x="0" y="0"/>
          <a:ext cx="0" cy="0"/>
          <a:chOff x="0" y="0"/>
          <a:chExt cx="0" cy="0"/>
        </a:xfrm>
      </p:grpSpPr>
      <p:sp>
        <p:nvSpPr>
          <p:cNvPr id="166" name="Google Shape;166;p9"/>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defRPr>
                <a:solidFill>
                  <a:srgbClr val="12263A"/>
                </a:solidFill>
              </a:defRPr>
            </a:pPr>
            <a:r>
              <a:rPr b="1" i="0" lang="en-US" sz="2400" u="none" cap="none" strike="noStrike">
                <a:solidFill>
                  <a:srgbClr val="12263A"/>
                </a:solidFill>
                <a:latin typeface="Calibri"/>
                <a:ea typeface="Calibri"/>
                <a:cs typeface="Calibri"/>
                <a:sym typeface="Calibri"/>
              </a:rPr>
              <a:t>Retriever quality sets the ceiling</a:t>
            </a:r>
          </a:p>
        </p:txBody>
      </p:sp>
      <p:sp>
        <p:nvSpPr>
          <p:cNvPr id="167" name="Google Shape;167;p9"/>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D8D8"/>
              </a:buClr>
              <a:buSzPts val="1100"/>
              <a:buFont typeface="Calibri"/>
              <a:buNone/>
              <a:defRPr>
                <a:solidFill>
                  <a:srgbClr val="556978"/>
                </a:solidFill>
              </a:defRPr>
            </a:pPr>
            <a:r>
              <a:rPr b="0" i="1" lang="en-US" sz="1100" u="none" cap="none" strike="noStrike">
                <a:solidFill>
                  <a:srgbClr val="556978"/>
                </a:solidFill>
                <a:latin typeface="Calibri"/>
                <a:ea typeface="Calibri"/>
                <a:cs typeface="Calibri"/>
                <a:sym typeface="Calibri"/>
              </a:rPr>
              <a:t>Classic retrieval metrics on 23 held-out queries with qrels; 121-case corpus with 104-doc qrels coverage.</a:t>
            </a:r>
          </a:p>
        </p:txBody>
      </p:sp>
      <p:sp>
        <p:nvSpPr>
          <p:cNvPr id="168" name="Google Shape;168;p9"/>
          <p:cNvSpPr/>
          <p:nvPr/>
        </p:nvSpPr>
        <p:spPr>
          <a:xfrm>
            <a:off x="320040" y="1097280"/>
            <a:ext cx="2743200" cy="1645920"/>
          </a:xfrm>
          <a:prstGeom prst="rect">
            <a:avLst/>
          </a:prstGeom>
          <a:solidFill>
            <a:srgbClr val="E5FAF7"/>
          </a:solidFill>
          <a:ln cap="flat" cmpd="sng" w="1905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320040" y="132588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4000"/>
              <a:buFont typeface="Calibri"/>
              <a:buNone/>
              <a:defRPr b="1">
                <a:solidFill>
                  <a:srgbClr val="028090"/>
                </a:solidFill>
              </a:defRPr>
            </a:pPr>
            <a:r>
              <a:rPr b="1" i="0" lang="en-US" sz="4000" u="none" cap="none" strike="noStrike">
                <a:solidFill>
                  <a:srgbClr val="028090"/>
                </a:solidFill>
                <a:latin typeface="Calibri"/>
                <a:ea typeface="Calibri"/>
                <a:cs typeface="Calibri"/>
                <a:sym typeface="Calibri"/>
              </a:rPr>
              <a:t>58.3%</a:t>
            </a:r>
            <a:endParaRPr b="0" i="0" sz="4000" u="none" cap="none" strike="noStrike">
              <a:solidFill>
                <a:schemeClr val="dk1"/>
              </a:solidFill>
              <a:latin typeface="Calibri"/>
              <a:ea typeface="Calibri"/>
              <a:cs typeface="Calibri"/>
              <a:sym typeface="Calibri"/>
            </a:endParaRPr>
          </a:p>
        </p:txBody>
      </p:sp>
      <p:sp>
        <p:nvSpPr>
          <p:cNvPr id="170" name="Google Shape;170;p9"/>
          <p:cNvSpPr/>
          <p:nvPr/>
        </p:nvSpPr>
        <p:spPr>
          <a:xfrm>
            <a:off x="320040" y="1993392"/>
            <a:ext cx="2743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P@5</a:t>
            </a:r>
            <a:endParaRPr b="0" i="0" sz="1300" u="none" cap="none" strike="noStrike">
              <a:solidFill>
                <a:schemeClr val="dk1"/>
              </a:solidFill>
              <a:latin typeface="Calibri"/>
              <a:ea typeface="Calibri"/>
              <a:cs typeface="Calibri"/>
              <a:sym typeface="Calibri"/>
            </a:endParaRPr>
          </a:p>
        </p:txBody>
      </p:sp>
      <p:sp>
        <p:nvSpPr>
          <p:cNvPr id="171" name="Google Shape;171;p9"/>
          <p:cNvSpPr/>
          <p:nvPr/>
        </p:nvSpPr>
        <p:spPr>
          <a:xfrm>
            <a:off x="320040" y="2331720"/>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00"/>
              <a:buFont typeface="Calibri"/>
              <a:buNone/>
              <a:defRPr>
                <a:solidFill>
                  <a:srgbClr val="556978"/>
                </a:solidFill>
              </a:defRPr>
            </a:pPr>
            <a:r>
              <a:rPr b="0" i="0" lang="en-US" sz="900" u="none" cap="none" strike="noStrike">
                <a:solidFill>
                  <a:srgbClr val="556978"/>
                </a:solidFill>
                <a:latin typeface="Calibri"/>
                <a:ea typeface="Calibri"/>
                <a:cs typeface="Calibri"/>
                <a:sym typeface="Calibri"/>
              </a:rPr>
              <a:t>Top-5 precision</a:t>
            </a:r>
            <a:endParaRPr b="0" i="0" sz="900" u="none" cap="none" strike="noStrike">
              <a:solidFill>
                <a:schemeClr val="dk1"/>
              </a:solidFill>
              <a:latin typeface="Calibri"/>
              <a:ea typeface="Calibri"/>
              <a:cs typeface="Calibri"/>
              <a:sym typeface="Calibri"/>
            </a:endParaRPr>
          </a:p>
        </p:txBody>
      </p:sp>
      <p:sp>
        <p:nvSpPr>
          <p:cNvPr id="172" name="Google Shape;172;p9"/>
          <p:cNvSpPr/>
          <p:nvPr/>
        </p:nvSpPr>
        <p:spPr>
          <a:xfrm>
            <a:off x="3246120" y="1097280"/>
            <a:ext cx="2743200" cy="1645920"/>
          </a:xfrm>
          <a:prstGeom prst="rect">
            <a:avLst/>
          </a:prstGeom>
          <a:solidFill>
            <a:srgbClr val="E5FAF7"/>
          </a:solidFill>
          <a:ln cap="flat" cmpd="sng" w="1905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
          <p:cNvSpPr/>
          <p:nvPr/>
        </p:nvSpPr>
        <p:spPr>
          <a:xfrm>
            <a:off x="3246120" y="132588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4000"/>
              <a:buFont typeface="Calibri"/>
              <a:buNone/>
              <a:defRPr b="1">
                <a:solidFill>
                  <a:srgbClr val="028090"/>
                </a:solidFill>
              </a:defRPr>
            </a:pPr>
            <a:r>
              <a:rPr b="1" i="0" lang="en-US" sz="4000" u="none" cap="none" strike="noStrike">
                <a:solidFill>
                  <a:srgbClr val="028090"/>
                </a:solidFill>
                <a:latin typeface="Calibri"/>
                <a:ea typeface="Calibri"/>
                <a:cs typeface="Calibri"/>
                <a:sym typeface="Calibri"/>
              </a:rPr>
              <a:t>59.5%</a:t>
            </a:r>
            <a:endParaRPr b="0" i="0" sz="4000" u="none" cap="none" strike="noStrike">
              <a:solidFill>
                <a:schemeClr val="dk1"/>
              </a:solidFill>
              <a:latin typeface="Calibri"/>
              <a:ea typeface="Calibri"/>
              <a:cs typeface="Calibri"/>
              <a:sym typeface="Calibri"/>
            </a:endParaRPr>
          </a:p>
        </p:txBody>
      </p:sp>
      <p:sp>
        <p:nvSpPr>
          <p:cNvPr id="174" name="Google Shape;174;p9"/>
          <p:cNvSpPr/>
          <p:nvPr/>
        </p:nvSpPr>
        <p:spPr>
          <a:xfrm>
            <a:off x="3246120" y="1993392"/>
            <a:ext cx="2743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nDCG@5</a:t>
            </a:r>
            <a:endParaRPr b="0" i="0" sz="1300" u="none" cap="none" strike="noStrike">
              <a:solidFill>
                <a:schemeClr val="dk1"/>
              </a:solidFill>
              <a:latin typeface="Calibri"/>
              <a:ea typeface="Calibri"/>
              <a:cs typeface="Calibri"/>
              <a:sym typeface="Calibri"/>
            </a:endParaRPr>
          </a:p>
        </p:txBody>
      </p:sp>
      <p:sp>
        <p:nvSpPr>
          <p:cNvPr id="175" name="Google Shape;175;p9"/>
          <p:cNvSpPr/>
          <p:nvPr/>
        </p:nvSpPr>
        <p:spPr>
          <a:xfrm>
            <a:off x="3246120" y="2331720"/>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00"/>
              <a:buFont typeface="Calibri"/>
              <a:buNone/>
              <a:defRPr>
                <a:solidFill>
                  <a:srgbClr val="556978"/>
                </a:solidFill>
              </a:defRPr>
            </a:pPr>
            <a:r>
              <a:rPr b="0" i="0" lang="en-US" sz="900" u="none" cap="none" strike="noStrike">
                <a:solidFill>
                  <a:srgbClr val="556978"/>
                </a:solidFill>
                <a:latin typeface="Calibri"/>
                <a:ea typeface="Calibri"/>
                <a:cs typeface="Calibri"/>
                <a:sym typeface="Calibri"/>
              </a:rPr>
              <a:t>Ranking quality @5</a:t>
            </a:r>
            <a:endParaRPr b="0" i="0" sz="900" u="none" cap="none" strike="noStrike">
              <a:solidFill>
                <a:schemeClr val="dk1"/>
              </a:solidFill>
              <a:latin typeface="Calibri"/>
              <a:ea typeface="Calibri"/>
              <a:cs typeface="Calibri"/>
              <a:sym typeface="Calibri"/>
            </a:endParaRPr>
          </a:p>
        </p:txBody>
      </p:sp>
      <p:sp>
        <p:nvSpPr>
          <p:cNvPr id="176" name="Google Shape;176;p9"/>
          <p:cNvSpPr/>
          <p:nvPr/>
        </p:nvSpPr>
        <p:spPr>
          <a:xfrm>
            <a:off x="6172200" y="1097280"/>
            <a:ext cx="2743200" cy="1645920"/>
          </a:xfrm>
          <a:prstGeom prst="rect">
            <a:avLst/>
          </a:prstGeom>
          <a:solidFill>
            <a:srgbClr val="E5FAF7"/>
          </a:solidFill>
          <a:ln cap="flat" cmpd="sng" w="1905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6172200" y="132588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4000"/>
              <a:buFont typeface="Calibri"/>
              <a:buNone/>
              <a:defRPr b="1">
                <a:solidFill>
                  <a:srgbClr val="028090"/>
                </a:solidFill>
              </a:defRPr>
            </a:pPr>
            <a:r>
              <a:rPr b="1" i="0" lang="en-US" sz="4000" u="none" cap="none" strike="noStrike">
                <a:solidFill>
                  <a:srgbClr val="028090"/>
                </a:solidFill>
                <a:latin typeface="Calibri"/>
                <a:ea typeface="Calibri"/>
                <a:cs typeface="Calibri"/>
                <a:sym typeface="Calibri"/>
              </a:rPr>
              <a:t>71.5%</a:t>
            </a:r>
            <a:endParaRPr b="0" i="0" sz="4000" u="none" cap="none" strike="noStrike">
              <a:solidFill>
                <a:schemeClr val="dk1"/>
              </a:solidFill>
              <a:latin typeface="Calibri"/>
              <a:ea typeface="Calibri"/>
              <a:cs typeface="Calibri"/>
              <a:sym typeface="Calibri"/>
            </a:endParaRPr>
          </a:p>
        </p:txBody>
      </p:sp>
      <p:sp>
        <p:nvSpPr>
          <p:cNvPr id="178" name="Google Shape;178;p9"/>
          <p:cNvSpPr/>
          <p:nvPr/>
        </p:nvSpPr>
        <p:spPr>
          <a:xfrm>
            <a:off x="6172200" y="1993392"/>
            <a:ext cx="2743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MRR</a:t>
            </a:r>
            <a:endParaRPr b="0" i="0" sz="1300" u="none" cap="none" strike="noStrike">
              <a:solidFill>
                <a:schemeClr val="dk1"/>
              </a:solidFill>
              <a:latin typeface="Calibri"/>
              <a:ea typeface="Calibri"/>
              <a:cs typeface="Calibri"/>
              <a:sym typeface="Calibri"/>
            </a:endParaRPr>
          </a:p>
        </p:txBody>
      </p:sp>
      <p:sp>
        <p:nvSpPr>
          <p:cNvPr id="179" name="Google Shape;179;p9"/>
          <p:cNvSpPr/>
          <p:nvPr/>
        </p:nvSpPr>
        <p:spPr>
          <a:xfrm>
            <a:off x="6172200" y="2331720"/>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00"/>
              <a:buFont typeface="Calibri"/>
              <a:buNone/>
              <a:defRPr>
                <a:solidFill>
                  <a:srgbClr val="556978"/>
                </a:solidFill>
              </a:defRPr>
            </a:pPr>
            <a:r>
              <a:rPr b="0" i="0" lang="en-US" sz="900" u="none" cap="none" strike="noStrike">
                <a:solidFill>
                  <a:srgbClr val="556978"/>
                </a:solidFill>
                <a:latin typeface="Calibri"/>
                <a:ea typeface="Calibri"/>
                <a:cs typeface="Calibri"/>
                <a:sym typeface="Calibri"/>
              </a:rPr>
              <a:t>First relevant hit</a:t>
            </a:r>
            <a:endParaRPr b="0" i="0" sz="900" u="none" cap="none" strike="noStrike">
              <a:solidFill>
                <a:schemeClr val="dk1"/>
              </a:solidFill>
              <a:latin typeface="Calibri"/>
              <a:ea typeface="Calibri"/>
              <a:cs typeface="Calibri"/>
              <a:sym typeface="Calibri"/>
            </a:endParaRPr>
          </a:p>
        </p:txBody>
      </p:sp>
      <p:sp>
        <p:nvSpPr>
          <p:cNvPr id="180" name="Google Shape;180;p9"/>
          <p:cNvSpPr/>
          <p:nvPr/>
        </p:nvSpPr>
        <p:spPr>
          <a:xfrm>
            <a:off x="320040" y="2971800"/>
            <a:ext cx="2743200" cy="1645920"/>
          </a:xfrm>
          <a:prstGeom prst="rect">
            <a:avLst/>
          </a:prstGeom>
          <a:solidFill>
            <a:srgbClr val="FFF6ED"/>
          </a:solidFill>
          <a:ln cap="flat" cmpd="sng" w="1905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320040" y="320040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261"/>
              </a:buClr>
              <a:buSzPts val="4000"/>
              <a:buFont typeface="Calibri"/>
              <a:buNone/>
              <a:defRPr b="1">
                <a:solidFill>
                  <a:srgbClr val="F4A261"/>
                </a:solidFill>
              </a:defRPr>
            </a:pPr>
            <a:r>
              <a:rPr b="1" i="0" lang="en-US" sz="4000" u="none" cap="none" strike="noStrike">
                <a:solidFill>
                  <a:srgbClr val="F4A261"/>
                </a:solidFill>
                <a:latin typeface="Calibri"/>
                <a:ea typeface="Calibri"/>
                <a:cs typeface="Calibri"/>
                <a:sym typeface="Calibri"/>
              </a:rPr>
              <a:t>13.5%</a:t>
            </a:r>
            <a:endParaRPr b="0" i="0" sz="4000" u="none" cap="none" strike="noStrike">
              <a:solidFill>
                <a:schemeClr val="dk1"/>
              </a:solidFill>
              <a:latin typeface="Calibri"/>
              <a:ea typeface="Calibri"/>
              <a:cs typeface="Calibri"/>
              <a:sym typeface="Calibri"/>
            </a:endParaRPr>
          </a:p>
        </p:txBody>
      </p:sp>
      <p:sp>
        <p:nvSpPr>
          <p:cNvPr id="182" name="Google Shape;182;p9"/>
          <p:cNvSpPr/>
          <p:nvPr/>
        </p:nvSpPr>
        <p:spPr>
          <a:xfrm>
            <a:off x="320040" y="3867912"/>
            <a:ext cx="2743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Recall@5</a:t>
            </a:r>
            <a:endParaRPr b="0" i="0" sz="1300" u="none" cap="none" strike="noStrike">
              <a:solidFill>
                <a:schemeClr val="dk1"/>
              </a:solidFill>
              <a:latin typeface="Calibri"/>
              <a:ea typeface="Calibri"/>
              <a:cs typeface="Calibri"/>
              <a:sym typeface="Calibri"/>
            </a:endParaRPr>
          </a:p>
        </p:txBody>
      </p:sp>
      <p:sp>
        <p:nvSpPr>
          <p:cNvPr id="183" name="Google Shape;183;p9"/>
          <p:cNvSpPr/>
          <p:nvPr/>
        </p:nvSpPr>
        <p:spPr>
          <a:xfrm>
            <a:off x="320040" y="4206240"/>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00"/>
              <a:buFont typeface="Calibri"/>
              <a:buNone/>
              <a:defRPr>
                <a:solidFill>
                  <a:srgbClr val="556978"/>
                </a:solidFill>
              </a:defRPr>
            </a:pPr>
            <a:r>
              <a:rPr b="0" i="0" lang="en-US" sz="900" u="none" cap="none" strike="noStrike">
                <a:solidFill>
                  <a:srgbClr val="556978"/>
                </a:solidFill>
                <a:latin typeface="Calibri"/>
                <a:ea typeface="Calibri"/>
                <a:cs typeface="Calibri"/>
                <a:sym typeface="Calibri"/>
              </a:rPr>
              <a:t>Coverage in top 5</a:t>
            </a:r>
            <a:endParaRPr b="0" i="0" sz="900" u="none" cap="none" strike="noStrike">
              <a:solidFill>
                <a:schemeClr val="dk1"/>
              </a:solidFill>
              <a:latin typeface="Calibri"/>
              <a:ea typeface="Calibri"/>
              <a:cs typeface="Calibri"/>
              <a:sym typeface="Calibri"/>
            </a:endParaRPr>
          </a:p>
        </p:txBody>
      </p:sp>
      <p:sp>
        <p:nvSpPr>
          <p:cNvPr id="184" name="Google Shape;184;p9"/>
          <p:cNvSpPr/>
          <p:nvPr/>
        </p:nvSpPr>
        <p:spPr>
          <a:xfrm>
            <a:off x="3246120" y="2971800"/>
            <a:ext cx="2743200" cy="1645920"/>
          </a:xfrm>
          <a:prstGeom prst="rect">
            <a:avLst/>
          </a:prstGeom>
          <a:solidFill>
            <a:srgbClr val="FFF6ED"/>
          </a:solidFill>
          <a:ln cap="flat" cmpd="sng" w="1905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a:off x="3246120" y="320040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261"/>
              </a:buClr>
              <a:buSzPts val="4000"/>
              <a:buFont typeface="Calibri"/>
              <a:buNone/>
              <a:defRPr b="1">
                <a:solidFill>
                  <a:srgbClr val="F4A261"/>
                </a:solidFill>
              </a:defRPr>
            </a:pPr>
            <a:r>
              <a:rPr b="1" i="0" lang="en-US" sz="4000" u="none" cap="none" strike="noStrike">
                <a:solidFill>
                  <a:srgbClr val="F4A261"/>
                </a:solidFill>
                <a:latin typeface="Calibri"/>
                <a:ea typeface="Calibri"/>
                <a:cs typeface="Calibri"/>
                <a:sym typeface="Calibri"/>
              </a:rPr>
              <a:t>23.4%</a:t>
            </a:r>
            <a:endParaRPr b="0" i="0" sz="4000" u="none" cap="none" strike="noStrike">
              <a:solidFill>
                <a:schemeClr val="dk1"/>
              </a:solidFill>
              <a:latin typeface="Calibri"/>
              <a:ea typeface="Calibri"/>
              <a:cs typeface="Calibri"/>
              <a:sym typeface="Calibri"/>
            </a:endParaRPr>
          </a:p>
        </p:txBody>
      </p:sp>
      <p:sp>
        <p:nvSpPr>
          <p:cNvPr id="186" name="Google Shape;186;p9"/>
          <p:cNvSpPr/>
          <p:nvPr/>
        </p:nvSpPr>
        <p:spPr>
          <a:xfrm>
            <a:off x="3246120" y="3867912"/>
            <a:ext cx="2743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Recall@10</a:t>
            </a:r>
            <a:endParaRPr b="0" i="0" sz="1300" u="none" cap="none" strike="noStrike">
              <a:solidFill>
                <a:schemeClr val="dk1"/>
              </a:solidFill>
              <a:latin typeface="Calibri"/>
              <a:ea typeface="Calibri"/>
              <a:cs typeface="Calibri"/>
              <a:sym typeface="Calibri"/>
            </a:endParaRPr>
          </a:p>
        </p:txBody>
      </p:sp>
      <p:sp>
        <p:nvSpPr>
          <p:cNvPr id="187" name="Google Shape;187;p9"/>
          <p:cNvSpPr/>
          <p:nvPr/>
        </p:nvSpPr>
        <p:spPr>
          <a:xfrm>
            <a:off x="3246120" y="4206240"/>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00"/>
              <a:buFont typeface="Calibri"/>
              <a:buNone/>
              <a:defRPr>
                <a:solidFill>
                  <a:srgbClr val="556978"/>
                </a:solidFill>
              </a:defRPr>
            </a:pPr>
            <a:r>
              <a:rPr b="0" i="0" lang="en-US" sz="900" u="none" cap="none" strike="noStrike">
                <a:solidFill>
                  <a:srgbClr val="556978"/>
                </a:solidFill>
                <a:latin typeface="Calibri"/>
                <a:ea typeface="Calibri"/>
                <a:cs typeface="Calibri"/>
                <a:sym typeface="Calibri"/>
              </a:rPr>
              <a:t>Coverage in top 10</a:t>
            </a:r>
            <a:endParaRPr b="0" i="0" sz="900" u="none" cap="none" strike="noStrike">
              <a:solidFill>
                <a:schemeClr val="dk1"/>
              </a:solidFill>
              <a:latin typeface="Calibri"/>
              <a:ea typeface="Calibri"/>
              <a:cs typeface="Calibri"/>
              <a:sym typeface="Calibri"/>
            </a:endParaRPr>
          </a:p>
        </p:txBody>
      </p:sp>
      <p:sp>
        <p:nvSpPr>
          <p:cNvPr id="188" name="Google Shape;188;p9"/>
          <p:cNvSpPr/>
          <p:nvPr/>
        </p:nvSpPr>
        <p:spPr>
          <a:xfrm>
            <a:off x="6172200" y="2971800"/>
            <a:ext cx="2743200" cy="1645920"/>
          </a:xfrm>
          <a:prstGeom prst="rect">
            <a:avLst/>
          </a:prstGeom>
          <a:solidFill>
            <a:srgbClr val="FFF6ED"/>
          </a:solidFill>
          <a:ln cap="flat" cmpd="sng" w="1905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6172200" y="3200400"/>
            <a:ext cx="274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261"/>
              </a:buClr>
              <a:buSzPts val="4000"/>
              <a:buFont typeface="Calibri"/>
              <a:buNone/>
              <a:defRPr b="1">
                <a:solidFill>
                  <a:srgbClr val="F4A261"/>
                </a:solidFill>
              </a:defRPr>
            </a:pPr>
            <a:r>
              <a:rPr b="1" i="0" lang="en-US" sz="4000" u="none" cap="none" strike="noStrike">
                <a:solidFill>
                  <a:srgbClr val="F4A261"/>
                </a:solidFill>
                <a:latin typeface="Calibri"/>
                <a:ea typeface="Calibri"/>
                <a:cs typeface="Calibri"/>
                <a:sym typeface="Calibri"/>
              </a:rPr>
              <a:t>26.1%</a:t>
            </a:r>
            <a:endParaRPr b="0" i="0" sz="4000" u="none" cap="none" strike="noStrike">
              <a:solidFill>
                <a:schemeClr val="dk1"/>
              </a:solidFill>
              <a:latin typeface="Calibri"/>
              <a:ea typeface="Calibri"/>
              <a:cs typeface="Calibri"/>
              <a:sym typeface="Calibri"/>
            </a:endParaRPr>
          </a:p>
        </p:txBody>
      </p:sp>
      <p:sp>
        <p:nvSpPr>
          <p:cNvPr id="190" name="Google Shape;190;p9"/>
          <p:cNvSpPr/>
          <p:nvPr/>
        </p:nvSpPr>
        <p:spPr>
          <a:xfrm>
            <a:off x="6172200" y="3867912"/>
            <a:ext cx="274320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MAP</a:t>
            </a:r>
            <a:endParaRPr b="0" i="0" sz="1300" u="none" cap="none" strike="noStrike">
              <a:solidFill>
                <a:schemeClr val="dk1"/>
              </a:solidFill>
              <a:latin typeface="Calibri"/>
              <a:ea typeface="Calibri"/>
              <a:cs typeface="Calibri"/>
              <a:sym typeface="Calibri"/>
            </a:endParaRPr>
          </a:p>
        </p:txBody>
      </p:sp>
      <p:sp>
        <p:nvSpPr>
          <p:cNvPr id="191" name="Google Shape;191;p9"/>
          <p:cNvSpPr/>
          <p:nvPr/>
        </p:nvSpPr>
        <p:spPr>
          <a:xfrm>
            <a:off x="6172200" y="4206240"/>
            <a:ext cx="274320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B2D8D8"/>
              </a:buClr>
              <a:buSzPts val="900"/>
              <a:buFont typeface="Calibri"/>
              <a:buNone/>
              <a:defRPr>
                <a:solidFill>
                  <a:srgbClr val="556978"/>
                </a:solidFill>
              </a:defRPr>
            </a:pPr>
            <a:r>
              <a:rPr b="0" i="0" lang="en-US" sz="900" u="none" cap="none" strike="noStrike">
                <a:solidFill>
                  <a:srgbClr val="556978"/>
                </a:solidFill>
                <a:latin typeface="Calibri"/>
                <a:ea typeface="Calibri"/>
                <a:cs typeface="Calibri"/>
                <a:sym typeface="Calibri"/>
              </a:rPr>
              <a:t>Overall ranking</a:t>
            </a:r>
            <a:endParaRPr b="0" i="0" sz="900" u="none" cap="none" strike="noStrike">
              <a:solidFill>
                <a:schemeClr val="dk1"/>
              </a:solidFill>
              <a:latin typeface="Calibri"/>
              <a:ea typeface="Calibri"/>
              <a:cs typeface="Calibri"/>
              <a:sym typeface="Calibri"/>
            </a:endParaRPr>
          </a:p>
        </p:txBody>
      </p:sp>
      <p:sp>
        <p:nvSpPr>
          <p:cNvPr id="192" name="Google Shape;192;p9"/>
          <p:cNvSpPr/>
          <p:nvPr/>
        </p:nvSpPr>
        <p:spPr>
          <a:xfrm>
            <a:off x="320040" y="4663440"/>
            <a:ext cx="8595360" cy="365760"/>
          </a:xfrm>
          <a:prstGeom prst="rect">
            <a:avLst/>
          </a:prstGeom>
          <a:solidFill>
            <a:srgbClr val="EBF8FC"/>
          </a:solidFill>
          <a:ln cap="flat" cmpd="sng" w="12700">
            <a:solidFill>
              <a:srgbClr val="0280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502920" y="4718304"/>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D8D8"/>
              </a:buClr>
              <a:buSzPts val="900"/>
              <a:buFont typeface="Calibri"/>
              <a:buNone/>
              <a:defRPr>
                <a:solidFill>
                  <a:srgbClr val="2A3746"/>
                </a:solidFill>
              </a:defRPr>
            </a:pPr>
            <a:r>
              <a:rPr b="0" i="0" lang="en-US" sz="900" u="none" cap="none" strike="noStrike">
                <a:solidFill>
                  <a:srgbClr val="2A3746"/>
                </a:solidFill>
                <a:latin typeface="Calibri"/>
                <a:ea typeface="Calibri"/>
                <a:cs typeface="Calibri"/>
                <a:sym typeface="Calibri"/>
              </a:rPr>
              <a:t>Top-rank precision and first-hit quality support explanations, but low recall means relevant cases often fall outside the prompt context window.</a:t>
            </a:r>
          </a:p>
        </p:txBody>
      </p:sp>
      <p:sp>
        <p:nvSpPr>
          <p:cNvPr id="194" name="Page badge 07"/>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Page badge 07"/>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98" name="Shape 198"/>
        <p:cNvGrpSpPr/>
        <p:nvPr/>
      </p:nvGrpSpPr>
      <p:grpSpPr>
        <a:xfrm>
          <a:off x="0" y="0"/>
          <a:ext cx="0" cy="0"/>
          <a:chOff x="0" y="0"/>
          <a:chExt cx="0" cy="0"/>
        </a:xfrm>
      </p:grpSpPr>
      <p:sp>
        <p:nvSpPr>
          <p:cNvPr id="201" name="Google Shape;201;p10"/>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Image evidence: useful but risky</a:t>
            </a:r>
          </a:p>
        </p:txBody>
      </p:sp>
      <p:sp>
        <p:nvSpPr>
          <p:cNvPr id="202" name="Google Shape;202;p10"/>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Chart axes now show model family (x-axis) and unsupported visual claims as a percentage (y-axis).</a:t>
            </a:r>
          </a:p>
        </p:txBody>
      </p:sp>
      <p:pic>
        <p:nvPicPr>
          <p:cNvPr id="203" name="Google Shape;203;p10"/>
          <p:cNvPicPr preferRelativeResize="0"/>
          <p:nvPr/>
        </p:nvPicPr>
        <p:blipFill rotWithShape="1">
          <a:blip r:embed="rId3">
            <a:alphaModFix/>
          </a:blip>
          <a:srcRect b="0" l="0" r="0" t="0"/>
          <a:stretch/>
        </p:blipFill>
        <p:spPr>
          <a:xfrm>
            <a:off x="320040" y="914400"/>
            <a:ext cx="5029200" cy="3474720"/>
          </a:xfrm>
          <a:prstGeom prst="rect">
            <a:avLst/>
          </a:prstGeom>
          <a:noFill/>
          <a:ln>
            <a:noFill/>
          </a:ln>
        </p:spPr>
      </p:pic>
      <p:sp>
        <p:nvSpPr>
          <p:cNvPr id="204" name="Google Shape;204;p10"/>
          <p:cNvSpPr/>
          <p:nvPr/>
        </p:nvSpPr>
        <p:spPr>
          <a:xfrm>
            <a:off x="5577840" y="914400"/>
            <a:ext cx="3383280" cy="347472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0"/>
          <p:cNvSpPr/>
          <p:nvPr/>
        </p:nvSpPr>
        <p:spPr>
          <a:xfrm>
            <a:off x="5715000" y="1005840"/>
            <a:ext cx="31089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Image-evidence findings</a:t>
            </a:r>
          </a:p>
        </p:txBody>
      </p:sp>
      <p:sp>
        <p:nvSpPr>
          <p:cNvPr id="206" name="Google Shape;206;p10"/>
          <p:cNvSpPr/>
          <p:nvPr/>
        </p:nvSpPr>
        <p:spPr>
          <a:xfrm>
            <a:off x="5715000" y="1417320"/>
            <a:ext cx="3108960" cy="475488"/>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a:off x="5779008" y="1463040"/>
            <a:ext cx="25603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400"/>
              <a:buFont typeface="Calibri"/>
              <a:buNone/>
            </a:pPr>
            <a:r>
              <a:rPr b="1" i="0" lang="en-US" sz="1400" u="none" cap="none" strike="noStrike">
                <a:solidFill>
                  <a:srgbClr val="059669"/>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08" name="Google Shape;208;p10"/>
          <p:cNvSpPr/>
          <p:nvPr/>
        </p:nvSpPr>
        <p:spPr>
          <a:xfrm>
            <a:off x="6080760" y="1472184"/>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950"/>
              <a:buFont typeface="Calibri"/>
              <a:buNone/>
            </a:pPr>
            <a:r>
              <a:rPr b="0" i="0" lang="en-US" sz="950" u="none" cap="none" strike="noStrike">
                <a:solidFill>
                  <a:srgbClr val="1C3557"/>
                </a:solidFill>
                <a:latin typeface="Calibri"/>
                <a:ea typeface="Calibri"/>
                <a:cs typeface="Calibri"/>
                <a:sym typeface="Calibri"/>
              </a:rPr>
              <a:t>Images are context, not ground truth: captions, article text, and lab evidence still carry the diagnosis.</a:t>
            </a:r>
          </a:p>
        </p:txBody>
      </p:sp>
      <p:sp>
        <p:nvSpPr>
          <p:cNvPr id="209" name="Google Shape;209;p10"/>
          <p:cNvSpPr/>
          <p:nvPr/>
        </p:nvSpPr>
        <p:spPr>
          <a:xfrm>
            <a:off x="5715000" y="1984248"/>
            <a:ext cx="3108960" cy="475488"/>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5779008" y="2029968"/>
            <a:ext cx="25603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3946"/>
              </a:buClr>
              <a:buSzPts val="1400"/>
              <a:buFont typeface="Calibri"/>
              <a:buNone/>
            </a:pPr>
            <a:r>
              <a:rPr b="1" i="0" lang="en-US" sz="1400" u="none" cap="none" strike="noStrike">
                <a:solidFill>
                  <a:srgbClr val="E63946"/>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11" name="Google Shape;211;p10"/>
          <p:cNvSpPr/>
          <p:nvPr/>
        </p:nvSpPr>
        <p:spPr>
          <a:xfrm>
            <a:off x="6080760" y="2039112"/>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950"/>
              <a:buFont typeface="Calibri"/>
              <a:buNone/>
            </a:pPr>
            <a:r>
              <a:rPr b="0" i="0" lang="en-US" sz="950" u="none" cap="none" strike="noStrike">
                <a:solidFill>
                  <a:srgbClr val="1C3557"/>
                </a:solidFill>
                <a:latin typeface="Calibri"/>
                <a:ea typeface="Calibri"/>
                <a:cs typeface="Calibri"/>
                <a:sym typeface="Calibri"/>
              </a:rPr>
              <a:t>PMC3140149 is a support/retrieval example, not a direct official test query.</a:t>
            </a:r>
          </a:p>
        </p:txBody>
      </p:sp>
      <p:sp>
        <p:nvSpPr>
          <p:cNvPr id="212" name="Google Shape;212;p10"/>
          <p:cNvSpPr/>
          <p:nvPr/>
        </p:nvSpPr>
        <p:spPr>
          <a:xfrm>
            <a:off x="5715000" y="2551176"/>
            <a:ext cx="3108960" cy="475488"/>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5779008" y="2596896"/>
            <a:ext cx="25603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59669"/>
              </a:buClr>
              <a:buSzPts val="1400"/>
              <a:buFont typeface="Calibri"/>
              <a:buNone/>
            </a:pPr>
            <a:r>
              <a:rPr b="1" i="0" lang="en-US" sz="1400" u="none" cap="none" strike="noStrike">
                <a:solidFill>
                  <a:srgbClr val="059669"/>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14" name="Google Shape;214;p10"/>
          <p:cNvSpPr/>
          <p:nvPr/>
        </p:nvSpPr>
        <p:spPr>
          <a:xfrm>
            <a:off x="6080760" y="2606040"/>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950"/>
              <a:buFont typeface="Calibri"/>
              <a:buNone/>
            </a:pPr>
            <a:r>
              <a:rPr b="0" i="0" lang="en-US" sz="950" u="none" cap="none" strike="noStrike">
                <a:solidFill>
                  <a:srgbClr val="1C3557"/>
                </a:solidFill>
                <a:latin typeface="Calibri"/>
                <a:ea typeface="Calibri"/>
                <a:cs typeface="Calibri"/>
                <a:sym typeface="Calibri"/>
              </a:rPr>
              <a:t>Gemma 4 support-image follow-up was directionally stronger than standard RAG, but the safety cost is visible in the red bar.</a:t>
            </a:r>
          </a:p>
        </p:txBody>
      </p:sp>
      <p:sp>
        <p:nvSpPr>
          <p:cNvPr id="215" name="Google Shape;215;p10"/>
          <p:cNvSpPr/>
          <p:nvPr/>
        </p:nvSpPr>
        <p:spPr>
          <a:xfrm>
            <a:off x="5715000" y="3118104"/>
            <a:ext cx="3108960" cy="475488"/>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5779008" y="3163824"/>
            <a:ext cx="25603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A261"/>
              </a:buClr>
              <a:buSzPts val="1400"/>
              <a:buFont typeface="Calibri"/>
              <a:buNone/>
            </a:pPr>
            <a:r>
              <a:rPr b="1" i="0" lang="en-US" sz="1400" u="none" cap="none" strike="noStrike">
                <a:solidFill>
                  <a:srgbClr val="F4A261"/>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17" name="Google Shape;217;p10"/>
          <p:cNvSpPr/>
          <p:nvPr/>
        </p:nvSpPr>
        <p:spPr>
          <a:xfrm>
            <a:off x="6080760" y="3172968"/>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950"/>
              <a:buFont typeface="Calibri"/>
              <a:buNone/>
            </a:pPr>
            <a:r>
              <a:rPr b="0" i="0" lang="en-US" sz="950" u="none" cap="none" strike="noStrike">
                <a:solidFill>
                  <a:srgbClr val="1C3557"/>
                </a:solidFill>
                <a:latin typeface="Calibri"/>
                <a:ea typeface="Calibri"/>
                <a:cs typeface="Calibri"/>
                <a:sym typeface="Calibri"/>
              </a:rPr>
              <a:t>Unsupported visual claims rose from 3.4% to 7.9% for the Gemma4 support-image follow-up.</a:t>
            </a:r>
          </a:p>
        </p:txBody>
      </p:sp>
      <p:sp>
        <p:nvSpPr>
          <p:cNvPr id="218" name="Google Shape;218;p10"/>
          <p:cNvSpPr/>
          <p:nvPr/>
        </p:nvSpPr>
        <p:spPr>
          <a:xfrm>
            <a:off x="5715000" y="3685032"/>
            <a:ext cx="3108960" cy="475488"/>
          </a:xfrm>
          <a:prstGeom prst="rect">
            <a:avLst/>
          </a:prstGeom>
          <a:solidFill>
            <a:srgbClr val="F8FAFC"/>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5779008" y="3730752"/>
            <a:ext cx="25603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3946"/>
              </a:buClr>
              <a:buSzPts val="1400"/>
              <a:buFont typeface="Calibri"/>
              <a:buNone/>
            </a:pPr>
            <a:r>
              <a:rPr b="1" i="0" lang="en-US" sz="1400" u="none" cap="none" strike="noStrike">
                <a:solidFill>
                  <a:srgbClr val="E63946"/>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220" name="Google Shape;220;p10"/>
          <p:cNvSpPr/>
          <p:nvPr/>
        </p:nvSpPr>
        <p:spPr>
          <a:xfrm>
            <a:off x="6080760" y="3739896"/>
            <a:ext cx="2651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950"/>
              <a:buFont typeface="Calibri"/>
              <a:buNone/>
            </a:pPr>
            <a:r>
              <a:rPr b="0" i="0" lang="en-US" sz="950" u="none" cap="none" strike="noStrike">
                <a:solidFill>
                  <a:srgbClr val="1C3557"/>
                </a:solidFill>
                <a:latin typeface="Calibri"/>
                <a:ea typeface="Calibri"/>
                <a:cs typeface="Calibri"/>
                <a:sym typeface="Calibri"/>
              </a:rPr>
              <a:t>Adding images does not automatically improve diagnosis across models.</a:t>
            </a:r>
          </a:p>
        </p:txBody>
      </p:sp>
      <p:sp>
        <p:nvSpPr>
          <p:cNvPr id="221" name="Google Shape;221;p10"/>
          <p:cNvSpPr/>
          <p:nvPr/>
        </p:nvSpPr>
        <p:spPr>
          <a:xfrm>
            <a:off x="320040" y="4572000"/>
            <a:ext cx="8595360" cy="411480"/>
          </a:xfrm>
          <a:prstGeom prst="rect">
            <a:avLst/>
          </a:prstGeom>
          <a:solidFill>
            <a:srgbClr val="FEF2F2"/>
          </a:solidFill>
          <a:ln cap="flat" cmpd="sng" w="9525">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p:nvPr/>
        </p:nvSpPr>
        <p:spPr>
          <a:xfrm>
            <a:off x="502920" y="4636008"/>
            <a:ext cx="8229600" cy="3017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Visual hallucination = judge-detected unsupported visual/pathology claims. This is not expert adjudication, so the safe demo shows provenance and gate decisions.</a:t>
            </a:r>
          </a:p>
        </p:txBody>
      </p:sp>
      <p:sp>
        <p:nvSpPr>
          <p:cNvPr id="223" name="Page badge 08"/>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Page badge 08"/>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p="http://schemas.openxmlformats.org/presentationml/2006/main">
  <p:cSld>
    <p:bg>
      <p:bgPr>
        <a:solidFill>
          <a:srgbClr val="FFFFFF"/>
        </a:solidFill>
      </p:bgPr>
    </p:bg>
    <p:spTree>
      <p:nvGrpSpPr>
        <p:cNvPr id="227" name="Shape 227"/>
        <p:cNvGrpSpPr/>
        <p:nvPr/>
      </p:nvGrpSpPr>
      <p:grpSpPr>
        <a:xfrm>
          <a:off x="0" y="0"/>
          <a:ext cx="0" cy="0"/>
          <a:chOff x="0" y="0"/>
          <a:chExt cx="0" cy="0"/>
        </a:xfrm>
      </p:grpSpPr>
      <p:sp>
        <p:nvSpPr>
          <p:cNvPr id="230" name="Google Shape;230;p11"/>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Small-model practicality for a live defense</a:t>
            </a:r>
          </a:p>
        </p:txBody>
      </p:sp>
      <p:sp>
        <p:nvSpPr>
          <p:cNvPr id="231" name="Google Shape;231;p11"/>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Single 24 GB GPU local models vs. Gemini API: latency, memory, auditability, and demo reliability.</a:t>
            </a:r>
          </a:p>
        </p:txBody>
      </p:sp>
      <p:sp>
        <p:nvSpPr>
          <p:cNvPr id="232" name="Google Shape;232;p11"/>
          <p:cNvSpPr/>
          <p:nvPr/>
        </p:nvSpPr>
        <p:spPr>
          <a:xfrm>
            <a:off x="320040" y="1005840"/>
            <a:ext cx="2834640" cy="393192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a:off x="320040" y="1005840"/>
            <a:ext cx="2834640" cy="64008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a:off x="411480" y="1024128"/>
            <a:ext cx="26517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Gemini 2.5 Flash Lite</a:t>
            </a:r>
          </a:p>
        </p:txBody>
      </p:sp>
      <p:sp>
        <p:nvSpPr>
          <p:cNvPr id="235" name="Google Shape;235;p11"/>
          <p:cNvSpPr/>
          <p:nvPr/>
        </p:nvSpPr>
        <p:spPr>
          <a:xfrm>
            <a:off x="411480" y="1371600"/>
            <a:ext cx="26517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E8F0"/>
              </a:buClr>
              <a:buSzPts val="900"/>
              <a:buFont typeface="Calibri"/>
              <a:buNone/>
            </a:pPr>
            <a:r>
              <a:rPr b="0" i="0" lang="en-US" sz="900" u="none" cap="none" strike="noStrike">
                <a:solidFill>
                  <a:srgbClr val="D0E8F0"/>
                </a:solidFill>
                <a:latin typeface="Calibri"/>
                <a:ea typeface="Calibri"/>
                <a:cs typeface="Calibri"/>
                <a:sym typeface="Calibri"/>
              </a:rPr>
              <a:t>API · external</a:t>
            </a:r>
          </a:p>
        </p:txBody>
      </p:sp>
      <p:sp>
        <p:nvSpPr>
          <p:cNvPr id="236" name="Google Shape;236;p11"/>
          <p:cNvSpPr/>
          <p:nvPr/>
        </p:nvSpPr>
        <p:spPr>
          <a:xfrm>
            <a:off x="411480" y="1783080"/>
            <a:ext cx="2651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Latency: 3–4 s/case</a:t>
            </a:r>
          </a:p>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Memory: API/cloud</a:t>
            </a:r>
          </a:p>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Best diag. acc.: 89.7%</a:t>
            </a:r>
          </a:p>
        </p:txBody>
      </p:sp>
      <p:sp>
        <p:nvSpPr>
          <p:cNvPr id="237" name="Google Shape;237;p11"/>
          <p:cNvSpPr/>
          <p:nvPr/>
        </p:nvSpPr>
        <p:spPr>
          <a:xfrm>
            <a:off x="411480" y="2633472"/>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000"/>
              <a:buFont typeface="Calibri"/>
              <a:buNone/>
            </a:pPr>
            <a:r>
              <a:rPr b="1" i="0" lang="en-US" sz="1000" u="none" cap="none" strike="noStrike">
                <a:solidFill>
                  <a:srgbClr val="059669"/>
                </a:solidFill>
                <a:latin typeface="Calibri"/>
                <a:ea typeface="Calibri"/>
                <a:cs typeface="Calibri"/>
                <a:sym typeface="Calibri"/>
              </a:rPr>
              <a:t>Strengths</a:t>
            </a:r>
            <a:endParaRPr b="0" i="0" sz="1000" u="none" cap="none" strike="noStrike">
              <a:solidFill>
                <a:schemeClr val="dk1"/>
              </a:solidFill>
              <a:latin typeface="Calibri"/>
              <a:ea typeface="Calibri"/>
              <a:cs typeface="Calibri"/>
              <a:sym typeface="Calibri"/>
            </a:endParaRPr>
          </a:p>
        </p:txBody>
      </p:sp>
      <p:sp>
        <p:nvSpPr>
          <p:cNvPr id="238" name="Google Shape;238;p11"/>
          <p:cNvSpPr/>
          <p:nvPr/>
        </p:nvSpPr>
        <p:spPr>
          <a:xfrm>
            <a:off x="411480" y="2907792"/>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Fastest inference</a:t>
            </a:r>
            <a:endParaRPr b="0" i="0" sz="950" u="none" cap="none" strike="noStrike">
              <a:solidFill>
                <a:schemeClr val="dk1"/>
              </a:solidFill>
              <a:latin typeface="Calibri"/>
              <a:ea typeface="Calibri"/>
              <a:cs typeface="Calibri"/>
              <a:sym typeface="Calibri"/>
            </a:endParaRPr>
          </a:p>
        </p:txBody>
      </p:sp>
      <p:sp>
        <p:nvSpPr>
          <p:cNvPr id="239" name="Google Shape;239;p11"/>
          <p:cNvSpPr/>
          <p:nvPr/>
        </p:nvSpPr>
        <p:spPr>
          <a:xfrm>
            <a:off x="411480" y="3163824"/>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Highest no-RAG accuracy</a:t>
            </a:r>
            <a:endParaRPr b="0" i="0" sz="950" u="none" cap="none" strike="noStrike">
              <a:solidFill>
                <a:schemeClr val="dk1"/>
              </a:solidFill>
              <a:latin typeface="Calibri"/>
              <a:ea typeface="Calibri"/>
              <a:cs typeface="Calibri"/>
              <a:sym typeface="Calibri"/>
            </a:endParaRPr>
          </a:p>
        </p:txBody>
      </p:sp>
      <p:sp>
        <p:nvSpPr>
          <p:cNvPr id="240" name="Google Shape;240;p11"/>
          <p:cNvSpPr/>
          <p:nvPr/>
        </p:nvSpPr>
        <p:spPr>
          <a:xfrm>
            <a:off x="411480" y="3419856"/>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Strong multimodal</a:t>
            </a:r>
            <a:endParaRPr b="0" i="0" sz="950" u="none" cap="none" strike="noStrike">
              <a:solidFill>
                <a:schemeClr val="dk1"/>
              </a:solidFill>
              <a:latin typeface="Calibri"/>
              <a:ea typeface="Calibri"/>
              <a:cs typeface="Calibri"/>
              <a:sym typeface="Calibri"/>
            </a:endParaRPr>
          </a:p>
        </p:txBody>
      </p:sp>
      <p:sp>
        <p:nvSpPr>
          <p:cNvPr id="241" name="Google Shape;241;p11"/>
          <p:cNvSpPr/>
          <p:nvPr/>
        </p:nvSpPr>
        <p:spPr>
          <a:xfrm>
            <a:off x="411480" y="3694176"/>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3946"/>
              </a:buClr>
              <a:buSzPts val="1000"/>
              <a:buFont typeface="Calibri"/>
              <a:buNone/>
            </a:pPr>
            <a:r>
              <a:rPr b="1" i="0" lang="en-US" sz="1000" u="none" cap="none" strike="noStrike">
                <a:solidFill>
                  <a:srgbClr val="E63946"/>
                </a:solidFill>
                <a:latin typeface="Calibri"/>
                <a:ea typeface="Calibri"/>
                <a:cs typeface="Calibri"/>
                <a:sym typeface="Calibri"/>
              </a:rPr>
              <a:t>Limitations</a:t>
            </a:r>
          </a:p>
        </p:txBody>
      </p:sp>
      <p:sp>
        <p:nvSpPr>
          <p:cNvPr id="242" name="Google Shape;242;p11"/>
          <p:cNvSpPr/>
          <p:nvPr/>
        </p:nvSpPr>
        <p:spPr>
          <a:xfrm>
            <a:off x="411480" y="3968496"/>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RAG degraded under matched evaluation</a:t>
            </a:r>
          </a:p>
        </p:txBody>
      </p:sp>
      <p:sp>
        <p:nvSpPr>
          <p:cNvPr id="243" name="Google Shape;243;p11"/>
          <p:cNvSpPr/>
          <p:nvPr/>
        </p:nvSpPr>
        <p:spPr>
          <a:xfrm>
            <a:off x="411480" y="4206240"/>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No local GPU audit trail</a:t>
            </a:r>
          </a:p>
        </p:txBody>
      </p:sp>
      <p:sp>
        <p:nvSpPr>
          <p:cNvPr id="244" name="Google Shape;244;p11"/>
          <p:cNvSpPr/>
          <p:nvPr/>
        </p:nvSpPr>
        <p:spPr>
          <a:xfrm>
            <a:off x="411480" y="4443984"/>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External dependency</a:t>
            </a:r>
          </a:p>
        </p:txBody>
      </p:sp>
      <p:sp>
        <p:nvSpPr>
          <p:cNvPr id="245" name="Google Shape;245;p11"/>
          <p:cNvSpPr/>
          <p:nvPr/>
        </p:nvSpPr>
        <p:spPr>
          <a:xfrm>
            <a:off x="3264408" y="1005840"/>
            <a:ext cx="2834640" cy="393192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a:off x="3264408" y="1005840"/>
            <a:ext cx="2834640" cy="640080"/>
          </a:xfrm>
          <a:prstGeom prst="rect">
            <a:avLst/>
          </a:prstGeom>
          <a:solidFill>
            <a:srgbClr val="0A5C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3355848" y="1024128"/>
            <a:ext cx="26517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MedGemma 1.5 4B</a:t>
            </a:r>
          </a:p>
        </p:txBody>
      </p:sp>
      <p:sp>
        <p:nvSpPr>
          <p:cNvPr id="248" name="Google Shape;248;p11"/>
          <p:cNvSpPr/>
          <p:nvPr/>
        </p:nvSpPr>
        <p:spPr>
          <a:xfrm>
            <a:off x="3355848" y="1371600"/>
            <a:ext cx="26517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E8F0"/>
              </a:buClr>
              <a:buSzPts val="900"/>
              <a:buFont typeface="Calibri"/>
              <a:buNone/>
            </a:pPr>
            <a:r>
              <a:rPr b="0" i="0" lang="en-US" sz="900" u="none" cap="none" strike="noStrike">
                <a:solidFill>
                  <a:srgbClr val="D0E8F0"/>
                </a:solidFill>
                <a:latin typeface="Calibri"/>
                <a:ea typeface="Calibri"/>
                <a:cs typeface="Calibri"/>
                <a:sym typeface="Calibri"/>
              </a:rPr>
              <a:t>Local · medical-tuned</a:t>
            </a:r>
          </a:p>
        </p:txBody>
      </p:sp>
      <p:sp>
        <p:nvSpPr>
          <p:cNvPr id="249" name="Google Shape;249;p11"/>
          <p:cNvSpPr/>
          <p:nvPr/>
        </p:nvSpPr>
        <p:spPr>
          <a:xfrm>
            <a:off x="3355848" y="1783080"/>
            <a:ext cx="2651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Latency: 22–26 s/case</a:t>
            </a:r>
          </a:p>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Memory: ~16 GB GPU</a:t>
            </a:r>
          </a:p>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Best diag. acc.: 73.7%</a:t>
            </a:r>
          </a:p>
        </p:txBody>
      </p:sp>
      <p:sp>
        <p:nvSpPr>
          <p:cNvPr id="250" name="Google Shape;250;p11"/>
          <p:cNvSpPr/>
          <p:nvPr/>
        </p:nvSpPr>
        <p:spPr>
          <a:xfrm>
            <a:off x="3355848" y="2633472"/>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000"/>
              <a:buFont typeface="Calibri"/>
              <a:buNone/>
            </a:pPr>
            <a:r>
              <a:rPr b="1" i="0" lang="en-US" sz="1000" u="none" cap="none" strike="noStrike">
                <a:solidFill>
                  <a:srgbClr val="059669"/>
                </a:solidFill>
                <a:latin typeface="Calibri"/>
                <a:ea typeface="Calibri"/>
                <a:cs typeface="Calibri"/>
                <a:sym typeface="Calibri"/>
              </a:rPr>
              <a:t>Strengths</a:t>
            </a:r>
            <a:endParaRPr b="0" i="0" sz="1000" u="none" cap="none" strike="noStrike">
              <a:solidFill>
                <a:schemeClr val="dk1"/>
              </a:solidFill>
              <a:latin typeface="Calibri"/>
              <a:ea typeface="Calibri"/>
              <a:cs typeface="Calibri"/>
              <a:sym typeface="Calibri"/>
            </a:endParaRPr>
          </a:p>
        </p:txBody>
      </p:sp>
      <p:sp>
        <p:nvSpPr>
          <p:cNvPr id="251" name="Google Shape;251;p11"/>
          <p:cNvSpPr/>
          <p:nvPr/>
        </p:nvSpPr>
        <p:spPr>
          <a:xfrm>
            <a:off x="3355848" y="2907792"/>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Medical domain tuning</a:t>
            </a:r>
            <a:endParaRPr b="0" i="0" sz="950" u="none" cap="none" strike="noStrike">
              <a:solidFill>
                <a:schemeClr val="dk1"/>
              </a:solidFill>
              <a:latin typeface="Calibri"/>
              <a:ea typeface="Calibri"/>
              <a:cs typeface="Calibri"/>
              <a:sym typeface="Calibri"/>
            </a:endParaRPr>
          </a:p>
        </p:txBody>
      </p:sp>
      <p:sp>
        <p:nvSpPr>
          <p:cNvPr id="252" name="Google Shape;252;p11"/>
          <p:cNvSpPr/>
          <p:nvPr/>
        </p:nvSpPr>
        <p:spPr>
          <a:xfrm>
            <a:off x="3355848" y="3163824"/>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Full auditability</a:t>
            </a:r>
            <a:endParaRPr b="0" i="0" sz="950" u="none" cap="none" strike="noStrike">
              <a:solidFill>
                <a:schemeClr val="dk1"/>
              </a:solidFill>
              <a:latin typeface="Calibri"/>
              <a:ea typeface="Calibri"/>
              <a:cs typeface="Calibri"/>
              <a:sym typeface="Calibri"/>
            </a:endParaRPr>
          </a:p>
        </p:txBody>
      </p:sp>
      <p:sp>
        <p:nvSpPr>
          <p:cNvPr id="253" name="Google Shape;253;p11"/>
          <p:cNvSpPr/>
          <p:nvPr/>
        </p:nvSpPr>
        <p:spPr>
          <a:xfrm>
            <a:off x="3355848" y="3419856"/>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Privacy-safe</a:t>
            </a:r>
            <a:endParaRPr b="0" i="0" sz="950" u="none" cap="none" strike="noStrike">
              <a:solidFill>
                <a:schemeClr val="dk1"/>
              </a:solidFill>
              <a:latin typeface="Calibri"/>
              <a:ea typeface="Calibri"/>
              <a:cs typeface="Calibri"/>
              <a:sym typeface="Calibri"/>
            </a:endParaRPr>
          </a:p>
        </p:txBody>
      </p:sp>
      <p:sp>
        <p:nvSpPr>
          <p:cNvPr id="254" name="Google Shape;254;p11"/>
          <p:cNvSpPr/>
          <p:nvPr/>
        </p:nvSpPr>
        <p:spPr>
          <a:xfrm>
            <a:off x="3355848" y="3694176"/>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3946"/>
              </a:buClr>
              <a:buSzPts val="1000"/>
              <a:buFont typeface="Calibri"/>
              <a:buNone/>
            </a:pPr>
            <a:r>
              <a:rPr b="1" i="0" lang="en-US" sz="1000" u="none" cap="none" strike="noStrike">
                <a:solidFill>
                  <a:srgbClr val="E63946"/>
                </a:solidFill>
                <a:latin typeface="Calibri"/>
                <a:ea typeface="Calibri"/>
                <a:cs typeface="Calibri"/>
                <a:sym typeface="Calibri"/>
              </a:rPr>
              <a:t>Limitations</a:t>
            </a:r>
            <a:endParaRPr b="0" i="0" sz="1000" u="none" cap="none" strike="noStrike">
              <a:solidFill>
                <a:schemeClr val="dk1"/>
              </a:solidFill>
              <a:latin typeface="Calibri"/>
              <a:ea typeface="Calibri"/>
              <a:cs typeface="Calibri"/>
              <a:sym typeface="Calibri"/>
            </a:endParaRPr>
          </a:p>
        </p:txBody>
      </p:sp>
      <p:sp>
        <p:nvSpPr>
          <p:cNvPr id="255" name="Google Shape;255;p11"/>
          <p:cNvSpPr/>
          <p:nvPr/>
        </p:nvSpPr>
        <p:spPr>
          <a:xfrm>
            <a:off x="3355848" y="3968496"/>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High visual-hallucination rate</a:t>
            </a:r>
          </a:p>
        </p:txBody>
      </p:sp>
      <p:sp>
        <p:nvSpPr>
          <p:cNvPr id="256" name="Google Shape;256;p11"/>
          <p:cNvSpPr/>
          <p:nvPr/>
        </p:nvSpPr>
        <p:spPr>
          <a:xfrm>
            <a:off x="3355848" y="4206240"/>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RAG directionally worsened</a:t>
            </a:r>
          </a:p>
        </p:txBody>
      </p:sp>
      <p:sp>
        <p:nvSpPr>
          <p:cNvPr id="257" name="Google Shape;257;p11"/>
          <p:cNvSpPr/>
          <p:nvPr/>
        </p:nvSpPr>
        <p:spPr>
          <a:xfrm>
            <a:off x="3355848" y="4443984"/>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Weaker reasoning in this setting</a:t>
            </a:r>
          </a:p>
        </p:txBody>
      </p:sp>
      <p:sp>
        <p:nvSpPr>
          <p:cNvPr id="258" name="Google Shape;258;p11"/>
          <p:cNvSpPr/>
          <p:nvPr/>
        </p:nvSpPr>
        <p:spPr>
          <a:xfrm>
            <a:off x="6208776" y="1005840"/>
            <a:ext cx="2834640" cy="393192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
          <p:cNvSpPr/>
          <p:nvPr/>
        </p:nvSpPr>
        <p:spPr>
          <a:xfrm>
            <a:off x="6208776" y="1005840"/>
            <a:ext cx="2834640" cy="640080"/>
          </a:xfrm>
          <a:prstGeom prst="rect">
            <a:avLst/>
          </a:prstGeom>
          <a:solidFill>
            <a:srgbClr val="5A2D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1"/>
          <p:cNvSpPr/>
          <p:nvPr/>
        </p:nvSpPr>
        <p:spPr>
          <a:xfrm>
            <a:off x="6300216" y="1024128"/>
            <a:ext cx="26517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Gemma 4 E4B</a:t>
            </a:r>
          </a:p>
        </p:txBody>
      </p:sp>
      <p:sp>
        <p:nvSpPr>
          <p:cNvPr id="261" name="Google Shape;261;p11"/>
          <p:cNvSpPr/>
          <p:nvPr/>
        </p:nvSpPr>
        <p:spPr>
          <a:xfrm>
            <a:off x="6300216" y="1371600"/>
            <a:ext cx="26517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E8F0"/>
              </a:buClr>
              <a:buSzPts val="900"/>
              <a:buFont typeface="Calibri"/>
              <a:buNone/>
            </a:pPr>
            <a:r>
              <a:rPr b="0" i="0" lang="en-US" sz="900" u="none" cap="none" strike="noStrike">
                <a:solidFill>
                  <a:srgbClr val="D0E8F0"/>
                </a:solidFill>
                <a:latin typeface="Calibri"/>
                <a:ea typeface="Calibri"/>
                <a:cs typeface="Calibri"/>
                <a:sym typeface="Calibri"/>
              </a:rPr>
              <a:t>Local · open</a:t>
            </a:r>
          </a:p>
        </p:txBody>
      </p:sp>
      <p:sp>
        <p:nvSpPr>
          <p:cNvPr id="262" name="Google Shape;262;p11"/>
          <p:cNvSpPr/>
          <p:nvPr/>
        </p:nvSpPr>
        <p:spPr>
          <a:xfrm>
            <a:off x="6300216" y="1783080"/>
            <a:ext cx="265176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Latency: 46–59 s/case</a:t>
            </a:r>
          </a:p>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Memory: ~18–19 GB GPU</a:t>
            </a:r>
          </a:p>
          <a:p>
            <a:pPr indent="0" lvl="0" marL="0" marR="0" rtl="0" algn="l">
              <a:spcBef>
                <a:spcPts val="0"/>
              </a:spcBef>
              <a:spcAft>
                <a:spcPts val="0"/>
              </a:spcAft>
              <a:buClr>
                <a:srgbClr val="12263A"/>
              </a:buClr>
              <a:buSzPts val="1000"/>
              <a:buFont typeface="Calibri"/>
              <a:buNone/>
            </a:pPr>
            <a:r>
              <a:rPr b="1" i="0" lang="en-US" sz="1000" u="none" cap="none" strike="noStrike">
                <a:solidFill>
                  <a:srgbClr val="12263A"/>
                </a:solidFill>
                <a:latin typeface="Calibri"/>
                <a:ea typeface="Calibri"/>
                <a:cs typeface="Calibri"/>
                <a:sym typeface="Calibri"/>
              </a:rPr>
              <a:t>Best diag. acc.: 82.6% (RAG)</a:t>
            </a:r>
          </a:p>
        </p:txBody>
      </p:sp>
      <p:sp>
        <p:nvSpPr>
          <p:cNvPr id="263" name="Google Shape;263;p11"/>
          <p:cNvSpPr/>
          <p:nvPr/>
        </p:nvSpPr>
        <p:spPr>
          <a:xfrm>
            <a:off x="6300216" y="2633472"/>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000"/>
              <a:buFont typeface="Calibri"/>
              <a:buNone/>
            </a:pPr>
            <a:r>
              <a:rPr b="1" i="0" lang="en-US" sz="1000" u="none" cap="none" strike="noStrike">
                <a:solidFill>
                  <a:srgbClr val="059669"/>
                </a:solidFill>
                <a:latin typeface="Calibri"/>
                <a:ea typeface="Calibri"/>
                <a:cs typeface="Calibri"/>
                <a:sym typeface="Calibri"/>
              </a:rPr>
              <a:t>Strengths</a:t>
            </a:r>
            <a:endParaRPr b="0" i="0" sz="1000" u="none" cap="none" strike="noStrike">
              <a:solidFill>
                <a:schemeClr val="dk1"/>
              </a:solidFill>
              <a:latin typeface="Calibri"/>
              <a:ea typeface="Calibri"/>
              <a:cs typeface="Calibri"/>
              <a:sym typeface="Calibri"/>
            </a:endParaRPr>
          </a:p>
        </p:txBody>
      </p:sp>
      <p:sp>
        <p:nvSpPr>
          <p:cNvPr id="264" name="Google Shape;264;p11"/>
          <p:cNvSpPr/>
          <p:nvPr/>
        </p:nvSpPr>
        <p:spPr>
          <a:xfrm>
            <a:off x="6300216" y="2907792"/>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Best directional RAG delta (+6.7 pp)</a:t>
            </a:r>
          </a:p>
        </p:txBody>
      </p:sp>
      <p:sp>
        <p:nvSpPr>
          <p:cNvPr id="265" name="Google Shape;265;p11"/>
          <p:cNvSpPr/>
          <p:nvPr/>
        </p:nvSpPr>
        <p:spPr>
          <a:xfrm>
            <a:off x="6300216" y="3163824"/>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Real GPU sidecar demo available</a:t>
            </a:r>
          </a:p>
        </p:txBody>
      </p:sp>
      <p:sp>
        <p:nvSpPr>
          <p:cNvPr id="266" name="Google Shape;266;p11"/>
          <p:cNvSpPr/>
          <p:nvPr/>
        </p:nvSpPr>
        <p:spPr>
          <a:xfrm>
            <a:off x="6300216" y="3419856"/>
            <a:ext cx="265176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5F46"/>
              </a:buClr>
              <a:buSzPts val="950"/>
              <a:buFont typeface="Calibri"/>
              <a:buNone/>
            </a:pPr>
            <a:r>
              <a:rPr b="0" i="0" lang="en-US" sz="950" u="none" cap="none" strike="noStrike">
                <a:solidFill>
                  <a:srgbClr val="065F46"/>
                </a:solidFill>
                <a:latin typeface="Calibri"/>
                <a:ea typeface="Calibri"/>
                <a:cs typeface="Calibri"/>
                <a:sym typeface="Calibri"/>
              </a:rPr>
              <a:t>✓  Auditable</a:t>
            </a:r>
            <a:endParaRPr b="0" i="0" sz="950" u="none" cap="none" strike="noStrike">
              <a:solidFill>
                <a:schemeClr val="dk1"/>
              </a:solidFill>
              <a:latin typeface="Calibri"/>
              <a:ea typeface="Calibri"/>
              <a:cs typeface="Calibri"/>
              <a:sym typeface="Calibri"/>
            </a:endParaRPr>
          </a:p>
        </p:txBody>
      </p:sp>
      <p:sp>
        <p:nvSpPr>
          <p:cNvPr id="267" name="Google Shape;267;p11"/>
          <p:cNvSpPr/>
          <p:nvPr/>
        </p:nvSpPr>
        <p:spPr>
          <a:xfrm>
            <a:off x="6300216" y="3694176"/>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3946"/>
              </a:buClr>
              <a:buSzPts val="1000"/>
              <a:buFont typeface="Calibri"/>
              <a:buNone/>
            </a:pPr>
            <a:r>
              <a:rPr b="1" i="0" lang="en-US" sz="1000" u="none" cap="none" strike="noStrike">
                <a:solidFill>
                  <a:srgbClr val="E63946"/>
                </a:solidFill>
                <a:latin typeface="Calibri"/>
                <a:ea typeface="Calibri"/>
                <a:cs typeface="Calibri"/>
                <a:sym typeface="Calibri"/>
              </a:rPr>
              <a:t>Limitations</a:t>
            </a:r>
            <a:endParaRPr b="0" i="0" sz="1000" u="none" cap="none" strike="noStrike">
              <a:solidFill>
                <a:schemeClr val="dk1"/>
              </a:solidFill>
              <a:latin typeface="Calibri"/>
              <a:ea typeface="Calibri"/>
              <a:cs typeface="Calibri"/>
              <a:sym typeface="Calibri"/>
            </a:endParaRPr>
          </a:p>
        </p:txBody>
      </p:sp>
      <p:sp>
        <p:nvSpPr>
          <p:cNvPr id="268" name="Google Shape;268;p11"/>
          <p:cNvSpPr/>
          <p:nvPr/>
        </p:nvSpPr>
        <p:spPr>
          <a:xfrm>
            <a:off x="6300216" y="3968496"/>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Slowest inference</a:t>
            </a:r>
          </a:p>
        </p:txBody>
      </p:sp>
      <p:sp>
        <p:nvSpPr>
          <p:cNvPr id="269" name="Google Shape;269;p11"/>
          <p:cNvSpPr/>
          <p:nvPr/>
        </p:nvSpPr>
        <p:spPr>
          <a:xfrm>
            <a:off x="6300216" y="4206240"/>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Directional, not conclusive</a:t>
            </a:r>
          </a:p>
        </p:txBody>
      </p:sp>
      <p:sp>
        <p:nvSpPr>
          <p:cNvPr id="270" name="Google Shape;270;p11"/>
          <p:cNvSpPr/>
          <p:nvPr/>
        </p:nvSpPr>
        <p:spPr>
          <a:xfrm>
            <a:off x="6300216" y="4443984"/>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F1D1D"/>
              </a:buClr>
              <a:buSzPts val="900"/>
              <a:buFont typeface="Calibri"/>
              <a:buNone/>
            </a:pPr>
            <a:r>
              <a:rPr b="0" i="0" lang="en-US" sz="900" u="none" cap="none" strike="noStrike">
                <a:solidFill>
                  <a:srgbClr val="7F1D1D"/>
                </a:solidFill>
                <a:latin typeface="Calibri"/>
                <a:ea typeface="Calibri"/>
                <a:cs typeface="Calibri"/>
                <a:sym typeface="Calibri"/>
              </a:rPr>
              <a:t>✗ Image evidence raises hallucination risk</a:t>
            </a:r>
          </a:p>
        </p:txBody>
      </p:sp>
      <p:sp>
        <p:nvSpPr>
          <p:cNvPr id="271" name="Page badge 09"/>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Page badge 09"/>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09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p="http://schemas.openxmlformats.org/presentationml/2006/main">
  <p:cSld>
    <p:bg>
      <p:bgPr>
        <a:solidFill>
          <a:srgbClr val="FFFFFF"/>
        </a:solidFill>
      </p:bgPr>
    </p:bg>
    <p:spTree>
      <p:nvGrpSpPr>
        <p:cNvPr id="275" name="Shape 275"/>
        <p:cNvGrpSpPr/>
        <p:nvPr/>
      </p:nvGrpSpPr>
      <p:grpSpPr>
        <a:xfrm>
          <a:off x="0" y="0"/>
          <a:ext cx="0" cy="0"/>
          <a:chOff x="0" y="0"/>
          <a:chExt cx="0" cy="0"/>
        </a:xfrm>
      </p:grpSpPr>
      <p:sp>
        <p:nvSpPr>
          <p:cNvPr id="278" name="Google Shape;278;p12"/>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Limitations are part of the contribution</a:t>
            </a:r>
          </a:p>
        </p:txBody>
      </p:sp>
      <p:sp>
        <p:nvSpPr>
          <p:cNvPr id="279" name="Google Shape;279;p12"/>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The thesis claims are deliberately narrow: traceable research evaluation, not bedside-use evidence.</a:t>
            </a:r>
          </a:p>
        </p:txBody>
      </p:sp>
      <p:sp>
        <p:nvSpPr>
          <p:cNvPr id="280" name="Google Shape;280;p12"/>
          <p:cNvSpPr/>
          <p:nvPr/>
        </p:nvSpPr>
        <p:spPr>
          <a:xfrm>
            <a:off x="3200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320040" y="1051560"/>
            <a:ext cx="109728" cy="160020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5212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 Weak-reference labels</a:t>
            </a:r>
          </a:p>
        </p:txBody>
      </p:sp>
      <p:sp>
        <p:nvSpPr>
          <p:cNvPr id="283" name="Google Shape;283;p12"/>
          <p:cNvSpPr/>
          <p:nvPr/>
        </p:nvSpPr>
        <p:spPr>
          <a:xfrm>
            <a:off x="5212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No clinician adjudication; prompt-judged diagnosis accuracy is useful for controlled comparison, not clinical validation.</a:t>
            </a:r>
          </a:p>
        </p:txBody>
      </p:sp>
      <p:sp>
        <p:nvSpPr>
          <p:cNvPr id="284" name="Google Shape;284;p12"/>
          <p:cNvSpPr/>
          <p:nvPr/>
        </p:nvSpPr>
        <p:spPr>
          <a:xfrm>
            <a:off x="46634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4663440" y="1051560"/>
            <a:ext cx="109728" cy="1600200"/>
          </a:xfrm>
          <a:prstGeom prst="rect">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48646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 Corpus imbalance</a:t>
            </a:r>
          </a:p>
        </p:txBody>
      </p:sp>
      <p:sp>
        <p:nvSpPr>
          <p:cNvPr id="287" name="Google Shape;287;p12"/>
          <p:cNvSpPr/>
          <p:nvPr/>
        </p:nvSpPr>
        <p:spPr>
          <a:xfrm>
            <a:off x="48646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The retrieval corpus is leishmaniasis-heavy, so non-leishmaniasis mimics remain a specificity stress test.</a:t>
            </a:r>
          </a:p>
        </p:txBody>
      </p:sp>
      <p:sp>
        <p:nvSpPr>
          <p:cNvPr id="288" name="Google Shape;288;p12"/>
          <p:cNvSpPr/>
          <p:nvPr/>
        </p:nvSpPr>
        <p:spPr>
          <a:xfrm>
            <a:off x="3200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320040" y="2880360"/>
            <a:ext cx="109728" cy="1600200"/>
          </a:xfrm>
          <a:prstGeom prst="rect">
            <a:avLst/>
          </a:prstGeom>
          <a:solidFill>
            <a:srgbClr val="5A2D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
          <p:cNvSpPr/>
          <p:nvPr/>
        </p:nvSpPr>
        <p:spPr>
          <a:xfrm>
            <a:off x="5212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 Small held-out set</a:t>
            </a:r>
          </a:p>
        </p:txBody>
      </p:sp>
      <p:sp>
        <p:nvSpPr>
          <p:cNvPr id="291" name="Google Shape;291;p12"/>
          <p:cNvSpPr/>
          <p:nvPr/>
        </p:nvSpPr>
        <p:spPr>
          <a:xfrm>
            <a:off x="5212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Only Gemini's negative RAG delta is statistically supported; Gemma 4's +6.7 pp is directional only.</a:t>
            </a:r>
          </a:p>
        </p:txBody>
      </p:sp>
      <p:sp>
        <p:nvSpPr>
          <p:cNvPr id="292" name="Google Shape;292;p12"/>
          <p:cNvSpPr/>
          <p:nvPr/>
        </p:nvSpPr>
        <p:spPr>
          <a:xfrm>
            <a:off x="46634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p:nvPr/>
        </p:nvSpPr>
        <p:spPr>
          <a:xfrm>
            <a:off x="4663440" y="2880360"/>
            <a:ext cx="109728" cy="160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48646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 Adaptive RAG is route-mixed</a:t>
            </a:r>
          </a:p>
        </p:txBody>
      </p:sp>
      <p:sp>
        <p:nvSpPr>
          <p:cNvPr id="295" name="Google Shape;295;p12"/>
          <p:cNvSpPr/>
          <p:nvPr/>
        </p:nvSpPr>
        <p:spPr>
          <a:xfrm>
            <a:off x="48646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Some rows received retrieved context and others fell back. Route-level audit is needed before interpreting aggregate accuracy.</a:t>
            </a:r>
          </a:p>
        </p:txBody>
      </p:sp>
      <p:sp>
        <p:nvSpPr>
          <p:cNvPr id="296" name="Google Shape;296;p12"/>
          <p:cNvSpPr/>
          <p:nvPr/>
        </p:nvSpPr>
        <p:spPr>
          <a:xfrm>
            <a:off x="320040" y="4617720"/>
            <a:ext cx="8595360" cy="365760"/>
          </a:xfrm>
          <a:prstGeom prst="rect">
            <a:avLst/>
          </a:prstGeom>
          <a:solidFill>
            <a:srgbClr val="EFF6FF"/>
          </a:solidFill>
          <a:ln cap="flat" cmpd="sng" w="9525">
            <a:solidFill>
              <a:srgbClr val="122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502920" y="46634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950"/>
              <a:buFont typeface="Calibri"/>
              <a:buNone/>
            </a:pPr>
            <a:r>
              <a:rPr b="0" i="0" lang="en-US" sz="950" u="none" cap="none" strike="noStrike">
                <a:solidFill>
                  <a:srgbClr val="12263A"/>
                </a:solidFill>
                <a:latin typeface="Calibri"/>
                <a:ea typeface="Calibri"/>
                <a:cs typeface="Calibri"/>
                <a:sym typeface="Calibri"/>
              </a:rPr>
              <a:t>Future: clinician-reviewed labels · balanced mimic set · stronger recall · stricter visual-claim gating · deployment-grade validation</a:t>
            </a:r>
          </a:p>
        </p:txBody>
      </p:sp>
      <p:sp>
        <p:nvSpPr>
          <p:cNvPr id="298" name="Page badge 10"/>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Page badge 10"/>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10</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p="http://schemas.openxmlformats.org/presentationml/2006/main">
  <p:cSld>
    <p:bg>
      <p:bgPr>
        <a:solidFill>
          <a:srgbClr val="FFFFFF"/>
        </a:solidFill>
      </p:bgPr>
    </p:bg>
    <p:spTree>
      <p:nvGrpSpPr>
        <p:cNvPr id="302" name="Shape 302"/>
        <p:cNvGrpSpPr/>
        <p:nvPr/>
      </p:nvGrpSpPr>
      <p:grpSpPr>
        <a:xfrm>
          <a:off x="0" y="0"/>
          <a:ext cx="0" cy="0"/>
          <a:chOff x="0" y="0"/>
          <a:chExt cx="0" cy="0"/>
        </a:xfrm>
      </p:grpSpPr>
      <p:sp>
        <p:nvSpPr>
          <p:cNvPr id="303" name="Google Shape;303;p13"/>
          <p:cNvSpPr/>
          <p:nvPr/>
        </p:nvSpPr>
        <p:spPr>
          <a:xfrm>
            <a:off x="0" y="0"/>
            <a:ext cx="164592" cy="5143500"/>
          </a:xfrm>
          <a:prstGeom prst="rect">
            <a:avLst/>
          </a:prstGeom>
          <a:solidFill>
            <a:srgbClr val="02C3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3"/>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Calibri"/>
              <a:buNone/>
              <a:defRPr>
                <a:solidFill>
                  <a:srgbClr val="12263A"/>
                </a:solidFill>
              </a:defRPr>
            </a:pPr>
            <a:r>
              <a:rPr b="1" i="0" lang="en-US" sz="2800" u="none" cap="none" strike="noStrike">
                <a:solidFill>
                  <a:srgbClr val="12263A"/>
                </a:solidFill>
                <a:latin typeface="Calibri"/>
                <a:ea typeface="Calibri"/>
                <a:cs typeface="Calibri"/>
                <a:sym typeface="Calibri"/>
              </a:rPr>
              <a:t>Conclusion: feasible, traceable, not deployment-ready</a:t>
            </a:r>
          </a:p>
        </p:txBody>
      </p:sp>
      <p:sp>
        <p:nvSpPr>
          <p:cNvPr id="307" name="Google Shape;307;p13"/>
          <p:cNvSpPr/>
          <p:nvPr/>
        </p:nvSpPr>
        <p:spPr>
          <a:xfrm>
            <a:off x="365760" y="868680"/>
            <a:ext cx="4069080" cy="1691640"/>
          </a:xfrm>
          <a:prstGeom prst="rect">
            <a:avLst/>
          </a:prstGeom>
          <a:solidFill>
            <a:srgbClr val="E5FAF7"/>
          </a:solidFill>
          <a:ln cap="flat" cmpd="sng" w="1905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3"/>
          <p:cNvSpPr/>
          <p:nvPr/>
        </p:nvSpPr>
        <p:spPr>
          <a:xfrm>
            <a:off x="502920" y="960120"/>
            <a:ext cx="640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libri"/>
              <a:buNone/>
              <a:defRPr b="1">
                <a:solidFill>
                  <a:srgbClr val="028090"/>
                </a:solidFill>
              </a:defRPr>
            </a:pPr>
            <a:r>
              <a:rPr b="1" i="0" lang="en-US" sz="1100" u="none" cap="none" strike="noStrike">
                <a:solidFill>
                  <a:srgbClr val="028090"/>
                </a:solidFill>
                <a:latin typeface="Calibri"/>
                <a:ea typeface="Calibri"/>
                <a:cs typeface="Calibri"/>
                <a:sym typeface="Calibri"/>
              </a:rPr>
              <a:t>RQ1</a:t>
            </a:r>
            <a:endParaRPr b="0" i="0" sz="1100" u="none" cap="none" strike="noStrike">
              <a:solidFill>
                <a:schemeClr val="dk1"/>
              </a:solidFill>
              <a:latin typeface="Calibri"/>
              <a:ea typeface="Calibri"/>
              <a:cs typeface="Calibri"/>
              <a:sym typeface="Calibri"/>
            </a:endParaRPr>
          </a:p>
        </p:txBody>
      </p:sp>
      <p:sp>
        <p:nvSpPr>
          <p:cNvPr id="309" name="Google Shape;309;p13"/>
          <p:cNvSpPr/>
          <p:nvPr/>
        </p:nvSpPr>
        <p:spPr>
          <a:xfrm>
            <a:off x="1115568" y="960120"/>
            <a:ext cx="3200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Feasibility</a:t>
            </a:r>
            <a:endParaRPr b="0" i="0" sz="1300" u="none" cap="none" strike="noStrike">
              <a:solidFill>
                <a:schemeClr val="dk1"/>
              </a:solidFill>
              <a:latin typeface="Calibri"/>
              <a:ea typeface="Calibri"/>
              <a:cs typeface="Calibri"/>
              <a:sym typeface="Calibri"/>
            </a:endParaRPr>
          </a:p>
        </p:txBody>
      </p:sp>
      <p:sp>
        <p:nvSpPr>
          <p:cNvPr id="310" name="Google Shape;310;p13"/>
          <p:cNvSpPr/>
          <p:nvPr/>
        </p:nvSpPr>
        <p:spPr>
          <a:xfrm>
            <a:off x="1115568" y="1307592"/>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000"/>
              <a:buFont typeface="Calibri"/>
              <a:buNone/>
              <a:defRPr>
                <a:solidFill>
                  <a:srgbClr val="028090"/>
                </a:solidFill>
              </a:defRPr>
            </a:pPr>
            <a:r>
              <a:rPr b="0" i="1" lang="en-US" sz="1000" u="none" cap="none" strike="noStrike">
                <a:solidFill>
                  <a:srgbClr val="028090"/>
                </a:solidFill>
                <a:latin typeface="Calibri"/>
                <a:ea typeface="Calibri"/>
                <a:cs typeface="Calibri"/>
                <a:sym typeface="Calibri"/>
              </a:rPr>
              <a:t>Research pipeline works</a:t>
            </a:r>
          </a:p>
        </p:txBody>
      </p:sp>
      <p:sp>
        <p:nvSpPr>
          <p:cNvPr id="311" name="Google Shape;311;p13"/>
          <p:cNvSpPr/>
          <p:nvPr/>
        </p:nvSpPr>
        <p:spPr>
          <a:xfrm>
            <a:off x="502920" y="1618488"/>
            <a:ext cx="37947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D8D8"/>
              </a:buClr>
              <a:buSzPts val="1000"/>
              <a:buFont typeface="Calibri"/>
              <a:buNone/>
              <a:defRPr>
                <a:solidFill>
                  <a:srgbClr val="2A3746"/>
                </a:solidFill>
              </a:defRPr>
            </a:pPr>
            <a:r>
              <a:rPr b="0" i="0" lang="en-US" sz="1000" u="none" cap="none" strike="noStrike">
                <a:solidFill>
                  <a:srgbClr val="2A3746"/>
                </a:solidFill>
                <a:latin typeface="Calibri"/>
                <a:ea typeface="Calibri"/>
                <a:cs typeface="Calibri"/>
                <a:sym typeface="Calibri"/>
              </a:rPr>
              <a:t>Structured cases, retrieval, generation, gate audit, and live demo are reproducible and traceable.</a:t>
            </a:r>
          </a:p>
        </p:txBody>
      </p:sp>
      <p:sp>
        <p:nvSpPr>
          <p:cNvPr id="312" name="Google Shape;312;p13"/>
          <p:cNvSpPr/>
          <p:nvPr/>
        </p:nvSpPr>
        <p:spPr>
          <a:xfrm>
            <a:off x="4663440" y="868680"/>
            <a:ext cx="4069080" cy="1691640"/>
          </a:xfrm>
          <a:prstGeom prst="rect">
            <a:avLst/>
          </a:prstGeom>
          <a:solidFill>
            <a:srgbClr val="EBF8FC"/>
          </a:solidFill>
          <a:ln cap="flat" cmpd="sng" w="19050">
            <a:solidFill>
              <a:srgbClr val="3ABF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3"/>
          <p:cNvSpPr/>
          <p:nvPr/>
        </p:nvSpPr>
        <p:spPr>
          <a:xfrm>
            <a:off x="4800600" y="960120"/>
            <a:ext cx="640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BFE0"/>
              </a:buClr>
              <a:buSzPts val="1100"/>
              <a:buFont typeface="Calibri"/>
              <a:buNone/>
              <a:defRPr b="1">
                <a:solidFill>
                  <a:srgbClr val="3ABFE0"/>
                </a:solidFill>
              </a:defRPr>
            </a:pPr>
            <a:r>
              <a:rPr b="1" i="0" lang="en-US" sz="1100" u="none" cap="none" strike="noStrike">
                <a:solidFill>
                  <a:srgbClr val="3ABFE0"/>
                </a:solidFill>
                <a:latin typeface="Calibri"/>
                <a:ea typeface="Calibri"/>
                <a:cs typeface="Calibri"/>
                <a:sym typeface="Calibri"/>
              </a:rPr>
              <a:t>RQ2</a:t>
            </a:r>
            <a:endParaRPr b="0" i="0" sz="1100" u="none" cap="none" strike="noStrike">
              <a:solidFill>
                <a:schemeClr val="dk1"/>
              </a:solidFill>
              <a:latin typeface="Calibri"/>
              <a:ea typeface="Calibri"/>
              <a:cs typeface="Calibri"/>
              <a:sym typeface="Calibri"/>
            </a:endParaRPr>
          </a:p>
        </p:txBody>
      </p:sp>
      <p:sp>
        <p:nvSpPr>
          <p:cNvPr id="314" name="Google Shape;314;p13"/>
          <p:cNvSpPr/>
          <p:nvPr/>
        </p:nvSpPr>
        <p:spPr>
          <a:xfrm>
            <a:off x="5413248" y="960120"/>
            <a:ext cx="3200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Small Models</a:t>
            </a:r>
            <a:endParaRPr b="0" i="0" sz="1300" u="none" cap="none" strike="noStrike">
              <a:solidFill>
                <a:schemeClr val="dk1"/>
              </a:solidFill>
              <a:latin typeface="Calibri"/>
              <a:ea typeface="Calibri"/>
              <a:cs typeface="Calibri"/>
              <a:sym typeface="Calibri"/>
            </a:endParaRPr>
          </a:p>
        </p:txBody>
      </p:sp>
      <p:sp>
        <p:nvSpPr>
          <p:cNvPr id="315" name="Google Shape;315;p13"/>
          <p:cNvSpPr/>
          <p:nvPr/>
        </p:nvSpPr>
        <p:spPr>
          <a:xfrm>
            <a:off x="5413248" y="1307592"/>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BFE0"/>
              </a:buClr>
              <a:buSzPts val="1000"/>
              <a:buFont typeface="Calibri"/>
              <a:buNone/>
              <a:defRPr>
                <a:solidFill>
                  <a:srgbClr val="3ABFE0"/>
                </a:solidFill>
              </a:defRPr>
            </a:pPr>
            <a:r>
              <a:rPr b="0" i="1" lang="en-US" sz="1000" u="none" cap="none" strike="noStrike">
                <a:solidFill>
                  <a:srgbClr val="3ABFE0"/>
                </a:solidFill>
                <a:latin typeface="Calibri"/>
                <a:ea typeface="Calibri"/>
                <a:cs typeface="Calibri"/>
                <a:sym typeface="Calibri"/>
              </a:rPr>
              <a:t>Practical but bounded</a:t>
            </a:r>
          </a:p>
        </p:txBody>
      </p:sp>
      <p:sp>
        <p:nvSpPr>
          <p:cNvPr id="316" name="Google Shape;316;p13"/>
          <p:cNvSpPr/>
          <p:nvPr/>
        </p:nvSpPr>
        <p:spPr>
          <a:xfrm>
            <a:off x="4800600" y="1618488"/>
            <a:ext cx="37947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D8D8"/>
              </a:buClr>
              <a:buSzPts val="1000"/>
              <a:buFont typeface="Calibri"/>
              <a:buNone/>
              <a:defRPr>
                <a:solidFill>
                  <a:srgbClr val="2A3746"/>
                </a:solidFill>
              </a:defRPr>
            </a:pPr>
            <a:r>
              <a:rPr b="0" i="0" lang="en-US" sz="1000" u="none" cap="none" strike="noStrike">
                <a:solidFill>
                  <a:srgbClr val="2A3746"/>
                </a:solidFill>
                <a:latin typeface="Calibri"/>
                <a:ea typeface="Calibri"/>
                <a:cs typeface="Calibri"/>
                <a:sym typeface="Calibri"/>
              </a:rPr>
              <a:t>Local models run on a 24 GB GPU, but latency and memory make full live evaluation risky.</a:t>
            </a:r>
          </a:p>
        </p:txBody>
      </p:sp>
      <p:sp>
        <p:nvSpPr>
          <p:cNvPr id="317" name="Google Shape;317;p13"/>
          <p:cNvSpPr/>
          <p:nvPr/>
        </p:nvSpPr>
        <p:spPr>
          <a:xfrm>
            <a:off x="365760" y="2743200"/>
            <a:ext cx="4069080" cy="1691640"/>
          </a:xfrm>
          <a:prstGeom prst="rect">
            <a:avLst/>
          </a:prstGeom>
          <a:solidFill>
            <a:srgbClr val="FFF6ED"/>
          </a:solidFill>
          <a:ln cap="flat" cmpd="sng" w="1905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3"/>
          <p:cNvSpPr/>
          <p:nvPr/>
        </p:nvSpPr>
        <p:spPr>
          <a:xfrm>
            <a:off x="502920" y="2834640"/>
            <a:ext cx="640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100"/>
              <a:buFont typeface="Calibri"/>
              <a:buNone/>
              <a:defRPr b="1">
                <a:solidFill>
                  <a:srgbClr val="F4A261"/>
                </a:solidFill>
              </a:defRPr>
            </a:pPr>
            <a:r>
              <a:rPr b="1" i="0" lang="en-US" sz="1100" u="none" cap="none" strike="noStrike">
                <a:solidFill>
                  <a:srgbClr val="F4A261"/>
                </a:solidFill>
                <a:latin typeface="Calibri"/>
                <a:ea typeface="Calibri"/>
                <a:cs typeface="Calibri"/>
                <a:sym typeface="Calibri"/>
              </a:rPr>
              <a:t>RQ3</a:t>
            </a:r>
            <a:endParaRPr b="0" i="0" sz="1100" u="none" cap="none" strike="noStrike">
              <a:solidFill>
                <a:schemeClr val="dk1"/>
              </a:solidFill>
              <a:latin typeface="Calibri"/>
              <a:ea typeface="Calibri"/>
              <a:cs typeface="Calibri"/>
              <a:sym typeface="Calibri"/>
            </a:endParaRPr>
          </a:p>
        </p:txBody>
      </p:sp>
      <p:sp>
        <p:nvSpPr>
          <p:cNvPr id="319" name="Google Shape;319;p13"/>
          <p:cNvSpPr/>
          <p:nvPr/>
        </p:nvSpPr>
        <p:spPr>
          <a:xfrm>
            <a:off x="1115568" y="2834640"/>
            <a:ext cx="3200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Multimodal</a:t>
            </a:r>
            <a:endParaRPr b="0" i="0" sz="1300" u="none" cap="none" strike="noStrike">
              <a:solidFill>
                <a:schemeClr val="dk1"/>
              </a:solidFill>
              <a:latin typeface="Calibri"/>
              <a:ea typeface="Calibri"/>
              <a:cs typeface="Calibri"/>
              <a:sym typeface="Calibri"/>
            </a:endParaRPr>
          </a:p>
        </p:txBody>
      </p:sp>
      <p:sp>
        <p:nvSpPr>
          <p:cNvPr id="320" name="Google Shape;320;p13"/>
          <p:cNvSpPr/>
          <p:nvPr/>
        </p:nvSpPr>
        <p:spPr>
          <a:xfrm>
            <a:off x="1115568" y="3182112"/>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000"/>
              <a:buFont typeface="Calibri"/>
              <a:buNone/>
              <a:defRPr>
                <a:solidFill>
                  <a:srgbClr val="F4A261"/>
                </a:solidFill>
              </a:defRPr>
            </a:pPr>
            <a:r>
              <a:rPr b="0" i="1" lang="en-US" sz="1000" u="none" cap="none" strike="noStrike">
                <a:solidFill>
                  <a:srgbClr val="F4A261"/>
                </a:solidFill>
                <a:latin typeface="Calibri"/>
                <a:ea typeface="Calibri"/>
                <a:cs typeface="Calibri"/>
                <a:sym typeface="Calibri"/>
              </a:rPr>
              <a:t>Useful, risky signal</a:t>
            </a:r>
          </a:p>
        </p:txBody>
      </p:sp>
      <p:sp>
        <p:nvSpPr>
          <p:cNvPr id="321" name="Google Shape;321;p13"/>
          <p:cNvSpPr/>
          <p:nvPr/>
        </p:nvSpPr>
        <p:spPr>
          <a:xfrm>
            <a:off x="502920" y="3493008"/>
            <a:ext cx="37947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D8D8"/>
              </a:buClr>
              <a:buSzPts val="1000"/>
              <a:buFont typeface="Calibri"/>
              <a:buNone/>
              <a:defRPr>
                <a:solidFill>
                  <a:srgbClr val="2A3746"/>
                </a:solidFill>
              </a:defRPr>
            </a:pPr>
            <a:r>
              <a:rPr b="0" i="0" lang="en-US" sz="1000" u="none" cap="none" strike="noStrike">
                <a:solidFill>
                  <a:srgbClr val="2A3746"/>
                </a:solidFill>
                <a:latin typeface="Calibri"/>
                <a:ea typeface="Calibri"/>
                <a:cs typeface="Calibri"/>
                <a:sym typeface="Calibri"/>
              </a:rPr>
              <a:t>Image-linked evidence can help, but unsupported visual claims require conservative gating.</a:t>
            </a:r>
          </a:p>
        </p:txBody>
      </p:sp>
      <p:sp>
        <p:nvSpPr>
          <p:cNvPr id="322" name="Google Shape;322;p13"/>
          <p:cNvSpPr/>
          <p:nvPr/>
        </p:nvSpPr>
        <p:spPr>
          <a:xfrm>
            <a:off x="4663440" y="2743200"/>
            <a:ext cx="4069080" cy="1691640"/>
          </a:xfrm>
          <a:prstGeom prst="rect">
            <a:avLst/>
          </a:prstGeom>
          <a:solidFill>
            <a:srgbClr val="FFEFF1"/>
          </a:solidFill>
          <a:ln cap="flat" cmpd="sng" w="19050">
            <a:solidFill>
              <a:srgbClr val="F071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3"/>
          <p:cNvSpPr/>
          <p:nvPr/>
        </p:nvSpPr>
        <p:spPr>
          <a:xfrm>
            <a:off x="4800600" y="2834640"/>
            <a:ext cx="640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7167"/>
              </a:buClr>
              <a:buSzPts val="1100"/>
              <a:buFont typeface="Calibri"/>
              <a:buNone/>
              <a:defRPr b="1">
                <a:solidFill>
                  <a:srgbClr val="F07167"/>
                </a:solidFill>
              </a:defRPr>
            </a:pPr>
            <a:r>
              <a:rPr b="1" i="0" lang="en-US" sz="1100" u="none" cap="none" strike="noStrike">
                <a:solidFill>
                  <a:srgbClr val="F07167"/>
                </a:solidFill>
                <a:latin typeface="Calibri"/>
                <a:ea typeface="Calibri"/>
                <a:cs typeface="Calibri"/>
                <a:sym typeface="Calibri"/>
              </a:rPr>
              <a:t>RQ4</a:t>
            </a:r>
            <a:endParaRPr b="0" i="0" sz="1100" u="none" cap="none" strike="noStrike">
              <a:solidFill>
                <a:schemeClr val="dk1"/>
              </a:solidFill>
              <a:latin typeface="Calibri"/>
              <a:ea typeface="Calibri"/>
              <a:cs typeface="Calibri"/>
              <a:sym typeface="Calibri"/>
            </a:endParaRPr>
          </a:p>
        </p:txBody>
      </p:sp>
      <p:sp>
        <p:nvSpPr>
          <p:cNvPr id="324" name="Google Shape;324;p13"/>
          <p:cNvSpPr/>
          <p:nvPr/>
        </p:nvSpPr>
        <p:spPr>
          <a:xfrm>
            <a:off x="5413248" y="2834640"/>
            <a:ext cx="3200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defRPr b="1">
                <a:solidFill>
                  <a:srgbClr val="12263A"/>
                </a:solidFill>
              </a:defRPr>
            </a:pPr>
            <a:r>
              <a:rPr b="1" i="0" lang="en-US" sz="1300" u="none" cap="none" strike="noStrike">
                <a:solidFill>
                  <a:srgbClr val="12263A"/>
                </a:solidFill>
                <a:latin typeface="Calibri"/>
                <a:ea typeface="Calibri"/>
                <a:cs typeface="Calibri"/>
                <a:sym typeface="Calibri"/>
              </a:rPr>
              <a:t>RAG Effect</a:t>
            </a:r>
            <a:endParaRPr b="0" i="0" sz="1300" u="none" cap="none" strike="noStrike">
              <a:solidFill>
                <a:schemeClr val="dk1"/>
              </a:solidFill>
              <a:latin typeface="Calibri"/>
              <a:ea typeface="Calibri"/>
              <a:cs typeface="Calibri"/>
              <a:sym typeface="Calibri"/>
            </a:endParaRPr>
          </a:p>
        </p:txBody>
      </p:sp>
      <p:sp>
        <p:nvSpPr>
          <p:cNvPr id="325" name="Google Shape;325;p13"/>
          <p:cNvSpPr/>
          <p:nvPr/>
        </p:nvSpPr>
        <p:spPr>
          <a:xfrm>
            <a:off x="5413248" y="3182112"/>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07167"/>
              </a:buClr>
              <a:buSzPts val="1000"/>
              <a:buFont typeface="Calibri"/>
              <a:buNone/>
              <a:defRPr>
                <a:solidFill>
                  <a:srgbClr val="F07167"/>
                </a:solidFill>
              </a:defRPr>
            </a:pPr>
            <a:r>
              <a:rPr b="0" i="1" lang="en-US" sz="1000" u="none" cap="none" strike="noStrike">
                <a:solidFill>
                  <a:srgbClr val="F07167"/>
                </a:solidFill>
                <a:latin typeface="Calibri"/>
                <a:ea typeface="Calibri"/>
                <a:cs typeface="Calibri"/>
                <a:sym typeface="Calibri"/>
              </a:rPr>
              <a:t>Model-dependent</a:t>
            </a:r>
          </a:p>
        </p:txBody>
      </p:sp>
      <p:sp>
        <p:nvSpPr>
          <p:cNvPr id="326" name="Google Shape;326;p13"/>
          <p:cNvSpPr/>
          <p:nvPr/>
        </p:nvSpPr>
        <p:spPr>
          <a:xfrm>
            <a:off x="4800600" y="3493008"/>
            <a:ext cx="37947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D8D8"/>
              </a:buClr>
              <a:buSzPts val="1000"/>
              <a:buFont typeface="Calibri"/>
              <a:buNone/>
              <a:defRPr>
                <a:solidFill>
                  <a:srgbClr val="2A3746"/>
                </a:solidFill>
              </a:defRPr>
            </a:pPr>
            <a:r>
              <a:rPr b="0" i="0" lang="en-US" sz="1000" u="none" cap="none" strike="noStrike">
                <a:solidFill>
                  <a:srgbClr val="2A3746"/>
                </a:solidFill>
                <a:latin typeface="Calibri"/>
                <a:ea typeface="Calibri"/>
                <a:cs typeface="Calibri"/>
                <a:sym typeface="Calibri"/>
              </a:rPr>
              <a:t>Gemma 4 shows a positive directional RAG pattern; Gemini and MedGemma warn against universal RAG claims.</a:t>
            </a:r>
          </a:p>
        </p:txBody>
      </p:sp>
      <p:sp>
        <p:nvSpPr>
          <p:cNvPr id="327" name="Google Shape;327;p13"/>
          <p:cNvSpPr/>
          <p:nvPr/>
        </p:nvSpPr>
        <p:spPr>
          <a:xfrm>
            <a:off x="365760" y="4645152"/>
            <a:ext cx="8503920" cy="365760"/>
          </a:xfrm>
          <a:prstGeom prst="rect">
            <a:avLst/>
          </a:prstGeom>
          <a:solidFill>
            <a:srgbClr val="E5FAF7"/>
          </a:solidFill>
          <a:ln w="12700">
            <a:solidFill>
              <a:srgbClr val="028090"/>
            </a:solid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3"/>
          <p:cNvSpPr/>
          <p:nvPr/>
        </p:nvSpPr>
        <p:spPr>
          <a:xfrm>
            <a:off x="502920" y="4690872"/>
            <a:ext cx="83210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950"/>
              <a:buFont typeface="Calibri"/>
              <a:buNone/>
              <a:defRPr b="1">
                <a:solidFill>
                  <a:srgbClr val="12263A"/>
                </a:solidFill>
              </a:defRPr>
            </a:pPr>
            <a:r>
              <a:rPr b="1" i="0" lang="en-US" sz="950" u="none" cap="none" strike="noStrike">
                <a:solidFill>
                  <a:srgbClr val="12263A"/>
                </a:solidFill>
                <a:latin typeface="Calibri"/>
                <a:ea typeface="Calibri"/>
                <a:cs typeface="Calibri"/>
                <a:sym typeface="Calibri"/>
              </a:rPr>
              <a:t>Final claim: multimodal RAG for leishmaniasis can be evaluated traceably under constrained resources; stronger claims require balanced data, stronger labels, and expert review.</a:t>
            </a:r>
          </a:p>
        </p:txBody>
      </p:sp>
      <p:sp>
        <p:nvSpPr>
          <p:cNvPr id="329" name="Page badge 11"/>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Page badge 11"/>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11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p="http://schemas.openxmlformats.org/presentationml/2006/main">
  <p:cSld>
    <p:bg>
      <p:bgPr>
        <a:solidFill>
          <a:srgbClr val="FFFFFF"/>
        </a:solidFill>
      </p:bgPr>
    </p:bg>
    <p:spTree>
      <p:nvGrpSpPr>
        <p:cNvPr id="275" name="Shape 275"/>
        <p:cNvGrpSpPr/>
        <p:nvPr/>
      </p:nvGrpSpPr>
      <p:grpSpPr>
        <a:xfrm>
          <a:off x="0" y="0"/>
          <a:ext cx="0" cy="0"/>
          <a:chOff x="0" y="0"/>
          <a:chExt cx="0" cy="0"/>
        </a:xfrm>
      </p:grpSpPr>
      <p:sp>
        <p:nvSpPr>
          <p:cNvPr id="278" name="Google Shape;278;p12"/>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Core result map: evidence behind the main claims</a:t>
            </a:r>
          </a:p>
        </p:txBody>
      </p:sp>
      <p:sp>
        <p:nvSpPr>
          <p:cNvPr id="279" name="Google Shape;279;p12"/>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The spoken deck is intentionally compact; this map links headline claims to the supporting thesis results.</a:t>
            </a:r>
          </a:p>
        </p:txBody>
      </p:sp>
      <p:sp>
        <p:nvSpPr>
          <p:cNvPr id="280" name="Google Shape;280;p12"/>
          <p:cNvSpPr/>
          <p:nvPr/>
        </p:nvSpPr>
        <p:spPr>
          <a:xfrm>
            <a:off x="3200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320040" y="1051560"/>
            <a:ext cx="109728" cy="160020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5212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Main table set</a:t>
            </a:r>
          </a:p>
        </p:txBody>
      </p:sp>
      <p:sp>
        <p:nvSpPr>
          <p:cNvPr id="283" name="Google Shape;283;p12"/>
          <p:cNvSpPr/>
          <p:nvPr/>
        </p:nvSpPr>
        <p:spPr>
          <a:xfrm>
            <a:off x="5212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5.1 main metrics; 5.2-5.3 clean-context; 5.5 modality; 5.6 retrieval; 5.7 route audit; 5.8 imbalance; 5.9 matched deltas.</a:t>
            </a:r>
          </a:p>
        </p:txBody>
      </p:sp>
      <p:sp>
        <p:nvSpPr>
          <p:cNvPr id="284" name="Google Shape;284;p12"/>
          <p:cNvSpPr/>
          <p:nvPr/>
        </p:nvSpPr>
        <p:spPr>
          <a:xfrm>
            <a:off x="46634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4663440" y="1051560"/>
            <a:ext cx="109728" cy="1600200"/>
          </a:xfrm>
          <a:prstGeom prst="rect">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48646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Why the spoken deck is compressed</a:t>
            </a:r>
          </a:p>
        </p:txBody>
      </p:sp>
      <p:sp>
        <p:nvSpPr>
          <p:cNvPr id="287" name="Google Shape;287;p12"/>
          <p:cNvSpPr/>
          <p:nvPr/>
        </p:nvSpPr>
        <p:spPr>
          <a:xfrm>
            <a:off x="48646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The spoken deck compresses many result families into slides 5-10 to preserve a 30-minute defense flow.</a:t>
            </a:r>
          </a:p>
        </p:txBody>
      </p:sp>
      <p:sp>
        <p:nvSpPr>
          <p:cNvPr id="288" name="Google Shape;288;p12"/>
          <p:cNvSpPr/>
          <p:nvPr/>
        </p:nvSpPr>
        <p:spPr>
          <a:xfrm>
            <a:off x="3200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320040" y="2880360"/>
            <a:ext cx="109728" cy="1600200"/>
          </a:xfrm>
          <a:prstGeom prst="rect">
            <a:avLst/>
          </a:prstGeom>
          <a:solidFill>
            <a:srgbClr val="5A2D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
          <p:cNvSpPr/>
          <p:nvPr/>
        </p:nvSpPr>
        <p:spPr>
          <a:xfrm>
            <a:off x="5212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What the backup map adds</a:t>
            </a:r>
          </a:p>
        </p:txBody>
      </p:sp>
      <p:sp>
        <p:nvSpPr>
          <p:cNvPr id="291" name="Google Shape;291;p12"/>
          <p:cNvSpPr/>
          <p:nvPr/>
        </p:nvSpPr>
        <p:spPr>
          <a:xfrm>
            <a:off x="5212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Labeled charts plus three backup slides for result provenance, clean-context sensitivity, routing, modality, latency, and GPU evidence.</a:t>
            </a:r>
          </a:p>
        </p:txBody>
      </p:sp>
      <p:sp>
        <p:nvSpPr>
          <p:cNvPr id="292" name="Google Shape;292;p12"/>
          <p:cNvSpPr/>
          <p:nvPr/>
        </p:nvSpPr>
        <p:spPr>
          <a:xfrm>
            <a:off x="46634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p:nvPr/>
        </p:nvSpPr>
        <p:spPr>
          <a:xfrm>
            <a:off x="4663440" y="2880360"/>
            <a:ext cx="109728" cy="160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48646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Claim boundary</a:t>
            </a:r>
          </a:p>
        </p:txBody>
      </p:sp>
      <p:sp>
        <p:nvSpPr>
          <p:cNvPr id="295" name="Google Shape;295;p12"/>
          <p:cNvSpPr/>
          <p:nvPr/>
        </p:nvSpPr>
        <p:spPr>
          <a:xfrm>
            <a:off x="48646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The backup slides explain existing thesis evidence; they do not create new experimental claims.</a:t>
            </a:r>
          </a:p>
        </p:txBody>
      </p:sp>
      <p:sp>
        <p:nvSpPr>
          <p:cNvPr id="296" name="Google Shape;296;p12"/>
          <p:cNvSpPr/>
          <p:nvPr/>
        </p:nvSpPr>
        <p:spPr>
          <a:xfrm>
            <a:off x="320040" y="4617720"/>
            <a:ext cx="8595360" cy="365760"/>
          </a:xfrm>
          <a:prstGeom prst="rect">
            <a:avLst/>
          </a:prstGeom>
          <a:solidFill>
            <a:srgbClr val="EFF6FF"/>
          </a:solidFill>
          <a:ln cap="flat" cmpd="sng" w="9525">
            <a:solidFill>
              <a:srgbClr val="122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502920" y="46634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950"/>
              <a:buFont typeface="Calibri"/>
              <a:buNone/>
            </a:pPr>
            <a:r>
              <a:rPr b="0" i="0" lang="en-US" sz="950" u="none" cap="none" strike="noStrike">
                <a:solidFill>
                  <a:srgbClr val="12263A"/>
                </a:solidFill>
                <a:latin typeface="Calibri"/>
                <a:ea typeface="Calibri"/>
                <a:cs typeface="Calibri"/>
                <a:sym typeface="Calibri"/>
              </a:rPr>
              <a:t>Use this map when supervisors ask how each result family connects to the thesis results chapter and appendix.</a:t>
            </a:r>
          </a:p>
        </p:txBody>
      </p:sp>
      <p:sp>
        <p:nvSpPr>
          <p:cNvPr id="298" name="Page badge 12"/>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Page badge 12"/>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12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p="http://schemas.openxmlformats.org/presentationml/2006/main">
  <p:cSld>
    <p:bg>
      <p:bgPr>
        <a:solidFill>
          <a:srgbClr val="FFFFFF"/>
        </a:solidFill>
      </p:bgPr>
    </p:bg>
    <p:spTree>
      <p:nvGrpSpPr>
        <p:cNvPr id="275" name="Shape 275"/>
        <p:cNvGrpSpPr/>
        <p:nvPr/>
      </p:nvGrpSpPr>
      <p:grpSpPr>
        <a:xfrm>
          <a:off x="0" y="0"/>
          <a:ext cx="0" cy="0"/>
          <a:chOff x="0" y="0"/>
          <a:chExt cx="0" cy="0"/>
        </a:xfrm>
      </p:grpSpPr>
      <p:sp>
        <p:nvSpPr>
          <p:cNvPr id="278" name="Google Shape;278;p12"/>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Clean-context and route audit explain the RAG effect</a:t>
            </a:r>
          </a:p>
        </p:txBody>
      </p:sp>
      <p:sp>
        <p:nvSpPr>
          <p:cNvPr id="279" name="Google Shape;279;p12"/>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These mechanism checks explain why the observed RAG effect is conditional.</a:t>
            </a:r>
          </a:p>
        </p:txBody>
      </p:sp>
      <p:sp>
        <p:nvSpPr>
          <p:cNvPr id="280" name="Google Shape;280;p12"/>
          <p:cNvSpPr/>
          <p:nvPr/>
        </p:nvSpPr>
        <p:spPr>
          <a:xfrm>
            <a:off x="3200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320040" y="1051560"/>
            <a:ext cx="109728" cy="160020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5212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Clean-context deltas</a:t>
            </a:r>
          </a:p>
        </p:txBody>
      </p:sp>
      <p:sp>
        <p:nvSpPr>
          <p:cNvPr id="283" name="Google Shape;283;p12"/>
          <p:cNvSpPr/>
          <p:nvPr/>
        </p:nvSpPr>
        <p:spPr>
          <a:xfrm>
            <a:off x="5212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Gemini -7.1 pp; MedGemma +6.7 pp; Gemma4 +16.1 pp. Same 56 case IDs, sanitized query artifact; supplementary sensitivity only.</a:t>
            </a:r>
          </a:p>
        </p:txBody>
      </p:sp>
      <p:sp>
        <p:nvSpPr>
          <p:cNvPr id="284" name="Google Shape;284;p12"/>
          <p:cNvSpPr/>
          <p:nvPr/>
        </p:nvSpPr>
        <p:spPr>
          <a:xfrm>
            <a:off x="46634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4663440" y="1051560"/>
            <a:ext cx="109728" cy="1600200"/>
          </a:xfrm>
          <a:prstGeom prst="rect">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48646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Prompt2 A+B tier</a:t>
            </a:r>
          </a:p>
        </p:txBody>
      </p:sp>
      <p:sp>
        <p:nvSpPr>
          <p:cNvPr id="287" name="Google Shape;287;p12"/>
          <p:cNvSpPr/>
          <p:nvPr/>
        </p:nvSpPr>
        <p:spPr>
          <a:xfrm>
            <a:off x="48646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47 cases: Gemini -4.3 pp; MedGemma +4.3 pp; Gemma4 +14.9 pp. Descriptive, not confirmatory.</a:t>
            </a:r>
          </a:p>
        </p:txBody>
      </p:sp>
      <p:sp>
        <p:nvSpPr>
          <p:cNvPr id="288" name="Google Shape;288;p12"/>
          <p:cNvSpPr/>
          <p:nvPr/>
        </p:nvSpPr>
        <p:spPr>
          <a:xfrm>
            <a:off x="3200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320040" y="2880360"/>
            <a:ext cx="109728" cy="1600200"/>
          </a:xfrm>
          <a:prstGeom prst="rect">
            <a:avLst/>
          </a:prstGeom>
          <a:solidFill>
            <a:srgbClr val="5A2D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
          <p:cNvSpPr/>
          <p:nvPr/>
        </p:nvSpPr>
        <p:spPr>
          <a:xfrm>
            <a:off x="5212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Route-mixed RAG</a:t>
            </a:r>
          </a:p>
        </p:txBody>
      </p:sp>
      <p:sp>
        <p:nvSpPr>
          <p:cNvPr id="291" name="Google Shape;291;p12"/>
          <p:cNvSpPr/>
          <p:nvPr/>
        </p:nvSpPr>
        <p:spPr>
          <a:xfrm>
            <a:off x="5212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Gemma4 audit: 31/56 adaptive_rag rows and 25/56 no-context fallback rows. RAG did not inject context into every case.</a:t>
            </a:r>
          </a:p>
        </p:txBody>
      </p:sp>
      <p:sp>
        <p:nvSpPr>
          <p:cNvPr id="292" name="Google Shape;292;p12"/>
          <p:cNvSpPr/>
          <p:nvPr/>
        </p:nvSpPr>
        <p:spPr>
          <a:xfrm>
            <a:off x="46634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p:nvPr/>
        </p:nvSpPr>
        <p:spPr>
          <a:xfrm>
            <a:off x="4663440" y="2880360"/>
            <a:ext cx="109728" cy="160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48646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Retrieval imbalance</a:t>
            </a:r>
          </a:p>
        </p:txBody>
      </p:sp>
      <p:sp>
        <p:nvSpPr>
          <p:cNvPr id="295" name="Google Shape;295;p12"/>
          <p:cNvSpPr/>
          <p:nvPr/>
        </p:nvSpPr>
        <p:spPr>
          <a:xfrm>
            <a:off x="48646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Corpus 106/121 leish; held-out 33/56 non-leish. Non-leish top-10 support was still 98.8% leish-labelled.</a:t>
            </a:r>
          </a:p>
        </p:txBody>
      </p:sp>
      <p:sp>
        <p:nvSpPr>
          <p:cNvPr id="296" name="Google Shape;296;p12"/>
          <p:cNvSpPr/>
          <p:nvPr/>
        </p:nvSpPr>
        <p:spPr>
          <a:xfrm>
            <a:off x="320040" y="4617720"/>
            <a:ext cx="8595360" cy="365760"/>
          </a:xfrm>
          <a:prstGeom prst="rect">
            <a:avLst/>
          </a:prstGeom>
          <a:solidFill>
            <a:srgbClr val="EFF6FF"/>
          </a:solidFill>
          <a:ln cap="flat" cmpd="sng" w="9525">
            <a:solidFill>
              <a:srgbClr val="122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502920" y="46634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950"/>
              <a:buFont typeface="Calibri"/>
              <a:buNone/>
            </a:pPr>
            <a:r>
              <a:rPr b="0" i="0" lang="en-US" sz="950" u="none" cap="none" strike="noStrike">
                <a:solidFill>
                  <a:srgbClr val="12263A"/>
                </a:solidFill>
                <a:latin typeface="Calibri"/>
                <a:ea typeface="Calibri"/>
                <a:cs typeface="Calibri"/>
                <a:sym typeface="Calibri"/>
              </a:rPr>
              <a:t>Takeaway: retrieval helps conditionally because generator behavior, route policy, and corpus balance all matter.</a:t>
            </a:r>
          </a:p>
        </p:txBody>
      </p:sp>
      <p:sp>
        <p:nvSpPr>
          <p:cNvPr id="298" name="Page badge 13"/>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Page badge 13"/>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13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p="http://schemas.openxmlformats.org/presentationml/2006/main">
  <p:cSld>
    <p:bg>
      <p:bgPr>
        <a:solidFill>
          <a:srgbClr val="FFFFFF"/>
        </a:solidFill>
      </p:bgPr>
    </p:bg>
    <p:spTree>
      <p:nvGrpSpPr>
        <p:cNvPr id="275" name="Shape 275"/>
        <p:cNvGrpSpPr/>
        <p:nvPr/>
      </p:nvGrpSpPr>
      <p:grpSpPr>
        <a:xfrm>
          <a:off x="0" y="0"/>
          <a:ext cx="0" cy="0"/>
          <a:chOff x="0" y="0"/>
          <a:chExt cx="0" cy="0"/>
        </a:xfrm>
      </p:grpSpPr>
      <p:sp>
        <p:nvSpPr>
          <p:cNvPr id="278" name="Google Shape;278;p12"/>
          <p:cNvSpPr/>
          <p:nvPr/>
        </p:nvSpPr>
        <p:spPr>
          <a:xfrm>
            <a:off x="365760" y="137160"/>
            <a:ext cx="822960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2400"/>
              <a:buFont typeface="Calibri"/>
              <a:buNone/>
            </a:pPr>
            <a:r>
              <a:rPr b="1" i="0" lang="en-US" sz="2400" u="none" cap="none" strike="noStrike">
                <a:solidFill>
                  <a:srgbClr val="12263A"/>
                </a:solidFill>
                <a:latin typeface="Calibri"/>
                <a:ea typeface="Calibri"/>
                <a:cs typeface="Calibri"/>
                <a:sym typeface="Calibri"/>
              </a:rPr>
              <a:t>Sensitivity: modality, latency, and GPU practicality</a:t>
            </a:r>
          </a:p>
        </p:txBody>
      </p:sp>
      <p:sp>
        <p:nvSpPr>
          <p:cNvPr id="279" name="Google Shape;279;p12"/>
          <p:cNvSpPr/>
          <p:nvPr/>
        </p:nvSpPr>
        <p:spPr>
          <a:xfrm>
            <a:off x="365760" y="6583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This slide collects appendix evidence that supports the defense narrative without overclaiming deployment readiness.</a:t>
            </a:r>
          </a:p>
        </p:txBody>
      </p:sp>
      <p:sp>
        <p:nvSpPr>
          <p:cNvPr id="280" name="Google Shape;280;p12"/>
          <p:cNvSpPr/>
          <p:nvPr/>
        </p:nvSpPr>
        <p:spPr>
          <a:xfrm>
            <a:off x="3200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320040" y="1051560"/>
            <a:ext cx="109728" cy="1600200"/>
          </a:xfrm>
          <a:prstGeom prst="rect">
            <a:avLst/>
          </a:prstGeom>
          <a:solidFill>
            <a:srgbClr val="F4A2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5212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Modality matrix</a:t>
            </a:r>
          </a:p>
        </p:txBody>
      </p:sp>
      <p:sp>
        <p:nvSpPr>
          <p:cNvPr id="283" name="Google Shape;283;p12"/>
          <p:cNvSpPr/>
          <p:nvPr/>
        </p:nvSpPr>
        <p:spPr>
          <a:xfrm>
            <a:off x="5212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Gemini strongest multimodal no-RAG: 89.7%. Gemma4 text RAG: 85.3%; multimodal RAG: 82.6%; tensor-on RAG: 84.4% supplementary.</a:t>
            </a:r>
          </a:p>
        </p:txBody>
      </p:sp>
      <p:sp>
        <p:nvSpPr>
          <p:cNvPr id="284" name="Google Shape;284;p12"/>
          <p:cNvSpPr/>
          <p:nvPr/>
        </p:nvSpPr>
        <p:spPr>
          <a:xfrm>
            <a:off x="4663440" y="10515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4663440" y="1051560"/>
            <a:ext cx="109728" cy="1600200"/>
          </a:xfrm>
          <a:prstGeom prst="rect">
            <a:avLst/>
          </a:prstGeom>
          <a:solidFill>
            <a:srgbClr val="E639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4864608" y="11430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Image-risk trade-off</a:t>
            </a:r>
          </a:p>
        </p:txBody>
      </p:sp>
      <p:sp>
        <p:nvSpPr>
          <p:cNvPr id="287" name="Google Shape;287;p12"/>
          <p:cNvSpPr/>
          <p:nvPr/>
        </p:nvSpPr>
        <p:spPr>
          <a:xfrm>
            <a:off x="4864608" y="15270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Gemma4 support images: +1.8 pp over standard RAG but visual hallucination rose 3.4% -&gt; 7.9%. Multi-seed +8.3 pp vs no-RAG, CI crosses 0.</a:t>
            </a:r>
          </a:p>
        </p:txBody>
      </p:sp>
      <p:sp>
        <p:nvSpPr>
          <p:cNvPr id="288" name="Google Shape;288;p12"/>
          <p:cNvSpPr/>
          <p:nvPr/>
        </p:nvSpPr>
        <p:spPr>
          <a:xfrm>
            <a:off x="3200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p:nvPr/>
        </p:nvSpPr>
        <p:spPr>
          <a:xfrm>
            <a:off x="320040" y="2880360"/>
            <a:ext cx="109728" cy="1600200"/>
          </a:xfrm>
          <a:prstGeom prst="rect">
            <a:avLst/>
          </a:prstGeom>
          <a:solidFill>
            <a:srgbClr val="5A2D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
          <p:cNvSpPr/>
          <p:nvPr/>
        </p:nvSpPr>
        <p:spPr>
          <a:xfrm>
            <a:off x="5212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Local practicality</a:t>
            </a:r>
          </a:p>
        </p:txBody>
      </p:sp>
      <p:sp>
        <p:nvSpPr>
          <p:cNvPr id="291" name="Google Shape;291;p12"/>
          <p:cNvSpPr/>
          <p:nvPr/>
        </p:nvSpPr>
        <p:spPr>
          <a:xfrm>
            <a:off x="5212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MedGemma: 22-26 s/case, peak 15.70 GB. Gemma4: 46-59 s/case, peak 18.84 GB. Gemini API: 3-4 s/case.</a:t>
            </a:r>
          </a:p>
        </p:txBody>
      </p:sp>
      <p:sp>
        <p:nvSpPr>
          <p:cNvPr id="292" name="Google Shape;292;p12"/>
          <p:cNvSpPr/>
          <p:nvPr/>
        </p:nvSpPr>
        <p:spPr>
          <a:xfrm>
            <a:off x="4663440" y="2880360"/>
            <a:ext cx="4160520" cy="1600200"/>
          </a:xfrm>
          <a:prstGeom prst="rect">
            <a:avLst/>
          </a:prstGeom>
          <a:solidFill>
            <a:srgbClr val="FFFFFF"/>
          </a:solidFill>
          <a:ln>
            <a:noFill/>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p:nvPr/>
        </p:nvSpPr>
        <p:spPr>
          <a:xfrm>
            <a:off x="4663440" y="2880360"/>
            <a:ext cx="109728" cy="160020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4864608" y="297180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200"/>
              <a:buFont typeface="Calibri"/>
              <a:buNone/>
            </a:pPr>
            <a:r>
              <a:rPr b="1" i="0" lang="en-US" sz="1200" u="none" cap="none" strike="noStrike">
                <a:solidFill>
                  <a:srgbClr val="12263A"/>
                </a:solidFill>
                <a:latin typeface="Calibri"/>
                <a:ea typeface="Calibri"/>
                <a:cs typeface="Calibri"/>
                <a:sym typeface="Calibri"/>
              </a:rPr>
              <a:t>Defense point</a:t>
            </a:r>
          </a:p>
        </p:txBody>
      </p:sp>
      <p:sp>
        <p:nvSpPr>
          <p:cNvPr id="295" name="Google Shape;295;p12"/>
          <p:cNvSpPr/>
          <p:nvPr/>
        </p:nvSpPr>
        <p:spPr>
          <a:xfrm>
            <a:off x="4864608" y="3355848"/>
            <a:ext cx="384048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3557"/>
              </a:buClr>
              <a:buSzPts val="1050"/>
              <a:buFont typeface="Calibri"/>
              <a:buNone/>
            </a:pPr>
            <a:r>
              <a:rPr b="0" i="0" lang="en-US" sz="1050" u="none" cap="none" strike="noStrike">
                <a:solidFill>
                  <a:srgbClr val="1C3557"/>
                </a:solidFill>
                <a:latin typeface="Calibri"/>
                <a:ea typeface="Calibri"/>
                <a:cs typeface="Calibri"/>
                <a:sym typeface="Calibri"/>
              </a:rPr>
              <a:t>The contribution is traceability, auditability, and bounded evidence, not a deployment-ready classifier.</a:t>
            </a:r>
          </a:p>
        </p:txBody>
      </p:sp>
      <p:sp>
        <p:nvSpPr>
          <p:cNvPr id="296" name="Google Shape;296;p12"/>
          <p:cNvSpPr/>
          <p:nvPr/>
        </p:nvSpPr>
        <p:spPr>
          <a:xfrm>
            <a:off x="320040" y="4617720"/>
            <a:ext cx="8595360" cy="365760"/>
          </a:xfrm>
          <a:prstGeom prst="rect">
            <a:avLst/>
          </a:prstGeom>
          <a:solidFill>
            <a:srgbClr val="EFF6FF"/>
          </a:solidFill>
          <a:ln cap="flat" cmpd="sng" w="9525">
            <a:solidFill>
              <a:srgbClr val="122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502920" y="4663440"/>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2263A"/>
              </a:buClr>
              <a:buSzPts val="950"/>
              <a:buFont typeface="Calibri"/>
              <a:buNone/>
            </a:pPr>
            <a:r>
              <a:rPr b="0" i="0" lang="en-US" sz="950" u="none" cap="none" strike="noStrike">
                <a:solidFill>
                  <a:srgbClr val="12263A"/>
                </a:solidFill>
                <a:latin typeface="Calibri"/>
                <a:ea typeface="Calibri"/>
                <a:cs typeface="Calibri"/>
                <a:sym typeface="Calibri"/>
              </a:rPr>
              <a:t>These result families support the defense narrative without implying deployment readiness.</a:t>
            </a:r>
          </a:p>
        </p:txBody>
      </p:sp>
      <p:sp>
        <p:nvSpPr>
          <p:cNvPr id="298" name="Page badge 14"/>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Page badge 14"/>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14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FRESH LOCAL-GPU MULTIMODAL EVALUATION</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Live Demo Case Inspection</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88720"/>
            <a:ext cx="2560320" cy="566928"/>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CASE 1: PMC7516301_01</a:t>
            </a:r>
          </a:p>
          <a:p>
            <a:pPr>
              <a:defRPr sz="1100" b="1">
                <a:solidFill>
                  <a:srgbClr val="18273E"/>
                </a:solidFill>
              </a:defRPr>
            </a:pPr>
            <a:r>
              <a:rPr>
                <a:latin typeface="Calibri"/>
              </a:rPr>
              <a:t>Silver: MCL | Live Rank 1: MCL</a:t>
            </a:r>
          </a:p>
        </p:txBody>
      </p:sp>
      <p:sp>
        <p:nvSpPr>
          <p:cNvPr id="6" name="Rectangle 5"/>
          <p:cNvSpPr/>
          <p:nvPr/>
        </p:nvSpPr>
        <p:spPr>
          <a:xfrm>
            <a:off x="3200400" y="1188720"/>
            <a:ext cx="2560320" cy="566928"/>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CASE 2: PMC7456484_01</a:t>
            </a:r>
          </a:p>
          <a:p>
            <a:pPr>
              <a:defRPr sz="1100" b="1">
                <a:solidFill>
                  <a:srgbClr val="18273E"/>
                </a:solidFill>
              </a:defRPr>
            </a:pPr>
            <a:r>
              <a:rPr>
                <a:latin typeface="Calibri"/>
              </a:rPr>
              <a:t>Silver: PKDL | Live Rank 1: MCL</a:t>
            </a:r>
          </a:p>
        </p:txBody>
      </p:sp>
      <p:sp>
        <p:nvSpPr>
          <p:cNvPr id="7" name="Rectangle 6"/>
          <p:cNvSpPr/>
          <p:nvPr/>
        </p:nvSpPr>
        <p:spPr>
          <a:xfrm>
            <a:off x="5715000" y="1188720"/>
            <a:ext cx="2697480" cy="566928"/>
          </a:xfrm>
          <a:prstGeom prst="rect">
            <a:avLst/>
          </a:prstGeom>
          <a:solidFill>
            <a:srgbClr val="FCECE9"/>
          </a:solidFill>
          <a:ln w="12700">
            <a:solidFill>
              <a:srgbClr val="B03932"/>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B03932"/>
                </a:solidFill>
              </a:defRPr>
            </a:pPr>
            <a:r>
              <a:rPr>
                <a:latin typeface="Calibri"/>
              </a:rPr>
              <a:t>CASE 3: PMC10026180_04</a:t>
            </a:r>
          </a:p>
          <a:p>
            <a:pPr>
              <a:defRPr sz="1100" b="1">
                <a:solidFill>
                  <a:srgbClr val="18273E"/>
                </a:solidFill>
              </a:defRPr>
            </a:pPr>
            <a:r>
              <a:rPr>
                <a:latin typeface="Calibri"/>
              </a:rPr>
              <a:t>Label conflict: verified Non-Leish / pseudolabel CL | Live Rank 1: CL</a:t>
            </a:r>
          </a:p>
        </p:txBody>
      </p:sp>
      <p:sp>
        <p:nvSpPr>
          <p:cNvPr id="8" name="Rectangle 7"/>
          <p:cNvSpPr/>
          <p:nvPr/>
        </p:nvSpPr>
        <p:spPr>
          <a:xfrm>
            <a:off x="502920" y="1901952"/>
            <a:ext cx="7909560" cy="1115568"/>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rPr>
                <a:latin typeface="Calibri"/>
              </a:rPr>
              <a:t>Case Inspection Setup</a:t>
            </a:r>
          </a:p>
          <a:p>
            <a:pPr>
              <a:lnSpc>
                <a:spcPct val="105000"/>
              </a:lnSpc>
              <a:defRPr sz="900">
                <a:solidFill>
                  <a:srgbClr val="18273E"/>
                </a:solidFill>
              </a:defRPr>
            </a:pPr>
            <a:r>
              <a:rPr>
                <a:latin typeface="Calibri"/>
              </a:rPr>
              <a:t>Three selected queries from the 56-case held-out set; illustrative, not an accuracy sample</a:t>
            </a:r>
          </a:p>
          <a:p>
            <a:pPr>
              <a:lnSpc>
                <a:spcPct val="105000"/>
              </a:lnSpc>
              <a:defRPr sz="900">
                <a:solidFill>
                  <a:srgbClr val="18273E"/>
                </a:solidFill>
              </a:defRPr>
            </a:pPr>
            <a:r>
              <a:rPr>
                <a:latin typeface="Calibri"/>
              </a:rPr>
              <a:t>Verified absent from the official 121-case experimental retrieval corpus</a:t>
            </a:r>
          </a:p>
          <a:p>
            <a:pPr>
              <a:lnSpc>
                <a:spcPct val="105000"/>
              </a:lnSpc>
              <a:defRPr sz="900">
                <a:solidFill>
                  <a:srgbClr val="18273E"/>
                </a:solidFill>
              </a:defRPr>
            </a:pPr>
            <a:r>
              <a:rPr>
                <a:latin typeface="Calibri"/>
              </a:rPr>
              <a:t>Fresh Gemma 4 live-demo outputs used the local defense demo KB on NVIDIA TITAN RTX (4-bit)</a:t>
            </a:r>
          </a:p>
          <a:p>
            <a:pPr>
              <a:lnSpc>
                <a:spcPct val="105000"/>
              </a:lnSpc>
              <a:defRPr sz="900">
                <a:solidFill>
                  <a:srgbClr val="18273E"/>
                </a:solidFill>
              </a:defRPr>
            </a:pPr>
            <a:r>
              <a:rPr>
                <a:latin typeface="Calibri"/>
              </a:rPr>
              <a:t>Silver labels are pipeline references; aggregate thesis metrics remain the benchmark</a:t>
            </a:r>
          </a:p>
        </p:txBody>
      </p:sp>
      <p:sp>
        <p:nvSpPr>
          <p:cNvPr id="9" name="Rectangle 8"/>
          <p:cNvSpPr/>
          <p:nvPr/>
        </p:nvSpPr>
        <p:spPr>
          <a:xfrm>
            <a:off x="502920" y="3154680"/>
            <a:ext cx="3840480" cy="132588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1C804A"/>
                </a:solidFill>
              </a:defRPr>
            </a:pPr>
            <a:r>
              <a:rPr>
                <a:latin typeface="Calibri"/>
              </a:rPr>
              <a:t>Selected Example Outcomes</a:t>
            </a:r>
          </a:p>
          <a:p>
            <a:pPr>
              <a:lnSpc>
                <a:spcPct val="105000"/>
              </a:lnSpc>
              <a:defRPr sz="919">
                <a:solidFill>
                  <a:srgbClr val="18273E"/>
                </a:solidFill>
              </a:defRPr>
            </a:pPr>
            <a:r>
              <a:rPr>
                <a:latin typeface="Calibri"/>
              </a:rPr>
              <a:t>Case 1 (MCL): live rank-1 type matches the silver reference</a:t>
            </a:r>
          </a:p>
          <a:p>
            <a:pPr>
              <a:lnSpc>
                <a:spcPct val="105000"/>
              </a:lnSpc>
              <a:defRPr sz="919">
                <a:solidFill>
                  <a:srgbClr val="18273E"/>
                </a:solidFill>
              </a:defRPr>
            </a:pPr>
            <a:r>
              <a:rPr>
                <a:latin typeface="Calibri"/>
              </a:rPr>
              <a:t>Case 2 (PKDL): live rank-1 stays in the leishmaniasis family but shifts to MCL</a:t>
            </a:r>
          </a:p>
          <a:p>
            <a:pPr>
              <a:lnSpc>
                <a:spcPct val="105000"/>
              </a:lnSpc>
              <a:defRPr sz="919">
                <a:solidFill>
                  <a:srgbClr val="18273E"/>
                </a:solidFill>
              </a:defRPr>
            </a:pPr>
            <a:r>
              <a:rPr>
                <a:latin typeface="Calibri"/>
              </a:rPr>
              <a:t>Case 3: verified Non-Leish / pseudolabel CL; live output stays leishmaniasis-family</a:t>
            </a:r>
          </a:p>
        </p:txBody>
      </p:sp>
      <p:sp>
        <p:nvSpPr>
          <p:cNvPr id="10" name="Rectangle 9"/>
          <p:cNvSpPr/>
          <p:nvPr/>
        </p:nvSpPr>
        <p:spPr>
          <a:xfrm>
            <a:off x="4480560" y="3154680"/>
            <a:ext cx="3931920" cy="132588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0F766E"/>
                </a:solidFill>
              </a:defRPr>
            </a:pPr>
            <a:r>
              <a:rPr>
                <a:latin typeface="Calibri"/>
              </a:rPr>
              <a:t>Key Findings</a:t>
            </a:r>
          </a:p>
          <a:p>
            <a:pPr>
              <a:lnSpc>
                <a:spcPct val="105000"/>
              </a:lnSpc>
              <a:defRPr sz="860">
                <a:solidFill>
                  <a:srgbClr val="18273E"/>
                </a:solidFill>
              </a:defRPr>
            </a:pPr>
            <a:r>
              <a:rPr>
                <a:latin typeface="Calibri"/>
              </a:rPr>
              <a:t>Inspectable input-output-evidence traces under local GPU constraints</a:t>
            </a:r>
          </a:p>
          <a:p>
            <a:pPr>
              <a:lnSpc>
                <a:spcPct val="105000"/>
              </a:lnSpc>
              <a:defRPr sz="860">
                <a:solidFill>
                  <a:srgbClr val="18273E"/>
                </a:solidFill>
              </a:defRPr>
            </a:pPr>
            <a:r>
              <a:rPr>
                <a:latin typeface="Calibri"/>
              </a:rPr>
              <a:t>Case 2 exposes subtype-resolution limits</a:t>
            </a:r>
          </a:p>
          <a:p>
            <a:pPr>
              <a:lnSpc>
                <a:spcPct val="105000"/>
              </a:lnSpc>
              <a:defRPr sz="860">
                <a:solidFill>
                  <a:srgbClr val="18273E"/>
                </a:solidFill>
              </a:defRPr>
            </a:pPr>
            <a:r>
              <a:rPr>
                <a:latin typeface="Calibri"/>
              </a:rPr>
              <a:t>Case 3 exposes label-conflict and evidence-attribution limits</a:t>
            </a:r>
          </a:p>
          <a:p>
            <a:pPr>
              <a:lnSpc>
                <a:spcPct val="105000"/>
              </a:lnSpc>
              <a:defRPr sz="860">
                <a:solidFill>
                  <a:srgbClr val="18273E"/>
                </a:solidFill>
              </a:defRPr>
            </a:pPr>
            <a:r>
              <a:rPr>
                <a:latin typeface="Calibri"/>
              </a:rPr>
              <a:t>These cases do not establish clinical validity or deployment readiness</a:t>
            </a:r>
          </a:p>
          <a:p>
            <a:pPr>
              <a:lnSpc>
                <a:spcPct val="105000"/>
              </a:lnSpc>
              <a:defRPr sz="860">
                <a:solidFill>
                  <a:srgbClr val="18273E"/>
                </a:solidFill>
              </a:defRPr>
            </a:pPr>
            <a:r>
              <a:rPr>
                <a:latin typeface="Calibri"/>
              </a:rPr>
              <a:t>Images provide context, not diagnosis; full inputs: slides 20-22</a:t>
            </a:r>
          </a:p>
        </p:txBody>
      </p:sp>
      <p:sp>
        <p:nvSpPr>
          <p:cNvPr id="11" name="TextBox 10"/>
          <p:cNvSpPr txBox="1"/>
          <p:nvPr/>
        </p:nvSpPr>
        <p:spPr>
          <a:xfrm>
            <a:off x="502920" y="4828032"/>
            <a:ext cx="502920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Live case inspection - fresh local-GPU demo output</a:t>
            </a:r>
          </a:p>
        </p:txBody>
      </p:sp>
      <p:sp>
        <p:nvSpPr>
          <p:cNvPr id="12" name="Page badge 15"/>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Page badge 15"/>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15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FRESH LOCAL-GPU LIVE DEMO OUTPUT</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Case 1: PMC7516301_01 — Concordant Example</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2286000" cy="50292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SILVER REFERENCE LABEL</a:t>
            </a:r>
          </a:p>
          <a:p>
            <a:pPr>
              <a:defRPr sz="1100" b="1">
                <a:solidFill>
                  <a:srgbClr val="18273E"/>
                </a:solidFill>
              </a:defRPr>
            </a:pPr>
            <a:r>
              <a:rPr>
                <a:latin typeface="Calibri"/>
              </a:rPr>
              <a:t>Mucocutaneous Leishmaniasis (MCL)</a:t>
            </a:r>
          </a:p>
        </p:txBody>
      </p:sp>
      <p:sp>
        <p:nvSpPr>
          <p:cNvPr id="6" name="Rectangle 5"/>
          <p:cNvSpPr/>
          <p:nvPr/>
        </p:nvSpPr>
        <p:spPr>
          <a:xfrm>
            <a:off x="2926080" y="1143000"/>
            <a:ext cx="2468880" cy="50292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MODEL RANK 1</a:t>
            </a:r>
          </a:p>
          <a:p>
            <a:pPr>
              <a:defRPr sz="1100" b="1">
                <a:solidFill>
                  <a:srgbClr val="18273E"/>
                </a:solidFill>
              </a:defRPr>
            </a:pPr>
            <a:r>
              <a:rPr>
                <a:latin typeface="Calibri"/>
              </a:rPr>
              <a:t>MCL</a:t>
            </a:r>
          </a:p>
        </p:txBody>
      </p:sp>
      <p:sp>
        <p:nvSpPr>
          <p:cNvPr id="7" name="Rectangle 6"/>
          <p:cNvSpPr/>
          <p:nvPr/>
        </p:nvSpPr>
        <p:spPr>
          <a:xfrm>
            <a:off x="6309360" y="1143000"/>
            <a:ext cx="1051560" cy="5029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CONFIDENCE</a:t>
            </a:r>
          </a:p>
          <a:p>
            <a:pPr>
              <a:defRPr sz="1100" b="1">
                <a:solidFill>
                  <a:srgbClr val="18273E"/>
                </a:solidFill>
              </a:defRPr>
            </a:pPr>
            <a:r>
              <a:rPr>
                <a:latin typeface="Calibri"/>
              </a:rPr>
              <a:t>Medium</a:t>
            </a:r>
          </a:p>
        </p:txBody>
      </p:sp>
      <p:sp>
        <p:nvSpPr>
          <p:cNvPr id="8" name="Rectangle 7"/>
          <p:cNvSpPr/>
          <p:nvPr/>
        </p:nvSpPr>
        <p:spPr>
          <a:xfrm>
            <a:off x="7452360" y="1143000"/>
            <a:ext cx="960120" cy="50292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TIME</a:t>
            </a:r>
          </a:p>
          <a:p>
            <a:pPr>
              <a:defRPr sz="1100" b="1">
                <a:solidFill>
                  <a:srgbClr val="18273E"/>
                </a:solidFill>
              </a:defRPr>
            </a:pPr>
            <a:r>
              <a:rPr>
                <a:latin typeface="Calibri"/>
              </a:rPr>
              <a:t>78.3s</a:t>
            </a:r>
          </a:p>
        </p:txBody>
      </p:sp>
      <p:sp>
        <p:nvSpPr>
          <p:cNvPr id="9" name="Rectangle 8"/>
          <p:cNvSpPr/>
          <p:nvPr/>
        </p:nvSpPr>
        <p:spPr>
          <a:xfrm>
            <a:off x="502920" y="1783080"/>
            <a:ext cx="3931920" cy="123444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rPr>
                <a:latin typeface="Calibri"/>
              </a:rPr>
              <a:t>Clinical Input (Blinded)</a:t>
            </a:r>
          </a:p>
          <a:p>
            <a:pPr>
              <a:lnSpc>
                <a:spcPct val="105000"/>
              </a:lnSpc>
              <a:defRPr sz="790">
                <a:solidFill>
                  <a:srgbClr val="18273E"/>
                </a:solidFill>
              </a:defRPr>
            </a:pPr>
            <a:r>
              <a:rPr>
                <a:latin typeface="Calibri"/>
              </a:rPr>
              <a:t>19-year-old man from Syria with 6-month throat irritation progressing to severe throat pain and fever; exam noted prior arm scar and oropharyngeal/laryngeal mucosal lesions.</a:t>
            </a:r>
          </a:p>
          <a:p>
            <a:pPr>
              <a:lnSpc>
                <a:spcPct val="105000"/>
              </a:lnSpc>
              <a:defRPr sz="790">
                <a:solidFill>
                  <a:srgbClr val="18273E"/>
                </a:solidFill>
              </a:defRPr>
            </a:pPr>
            <a:r>
              <a:rPr>
                <a:latin typeface="Calibri"/>
              </a:rPr>
              <a:t>Held-out case absent from the official 121-case experimental retrieval corpus; full text is on slide 20.</a:t>
            </a:r>
          </a:p>
          <a:p>
            <a:pPr>
              <a:lnSpc>
                <a:spcPct val="105000"/>
              </a:lnSpc>
              <a:defRPr sz="790">
                <a:solidFill>
                  <a:srgbClr val="18273E"/>
                </a:solidFill>
              </a:defRPr>
            </a:pPr>
            <a:r>
              <a:rPr>
                <a:latin typeface="Calibri"/>
              </a:rPr>
              <a:t>Fresh live output used the local defense demo KB; target and confirmatory fields were withheld.</a:t>
            </a:r>
          </a:p>
        </p:txBody>
      </p:sp>
      <p:sp>
        <p:nvSpPr>
          <p:cNvPr id="10" name="Rectangle 9"/>
          <p:cNvSpPr/>
          <p:nvPr/>
        </p:nvSpPr>
        <p:spPr>
          <a:xfrm>
            <a:off x="502920" y="3154679"/>
            <a:ext cx="3931920" cy="86868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0F766E"/>
                </a:solidFill>
              </a:defRPr>
            </a:pPr>
            <a:r>
              <a:rPr>
                <a:latin typeface="Calibri"/>
              </a:rPr>
              <a:t>Model Output Summary</a:t>
            </a:r>
          </a:p>
          <a:p>
            <a:pPr>
              <a:lnSpc>
                <a:spcPct val="105000"/>
              </a:lnSpc>
              <a:defRPr sz="900">
                <a:solidFill>
                  <a:srgbClr val="18273E"/>
                </a:solidFill>
              </a:defRPr>
            </a:pPr>
            <a:r>
              <a:rPr>
                <a:latin typeface="Calibri"/>
              </a:rPr>
              <a:t>Top diagnosis: Mucocutaneous Leishmaniasis (Mucosal involvement)</a:t>
            </a:r>
          </a:p>
          <a:p>
            <a:pPr>
              <a:lnSpc>
                <a:spcPct val="105000"/>
              </a:lnSpc>
              <a:defRPr sz="900">
                <a:solidFill>
                  <a:srgbClr val="18273E"/>
                </a:solidFill>
              </a:defRPr>
            </a:pPr>
            <a:r>
              <a:rPr>
                <a:latin typeface="Calibri"/>
              </a:rPr>
              <a:t>Runtime support: 3 retrieved chunks</a:t>
            </a:r>
          </a:p>
          <a:p>
            <a:pPr>
              <a:lnSpc>
                <a:spcPct val="105000"/>
              </a:lnSpc>
              <a:defRPr sz="900">
                <a:solidFill>
                  <a:srgbClr val="18273E"/>
                </a:solidFill>
              </a:defRPr>
            </a:pPr>
            <a:r>
              <a:rPr>
                <a:latin typeface="Calibri"/>
              </a:rPr>
              <a:t>Output route: retrieval-supported response</a:t>
            </a:r>
          </a:p>
        </p:txBody>
      </p:sp>
      <p:pic>
        <p:nvPicPr>
          <p:cNvPr id="11" name="Picture 10" descr="image.png"/>
          <p:cNvPicPr>
            <a:picLocks noChangeAspect="1"/>
          </p:cNvPicPr>
          <p:nvPr/>
        </p:nvPicPr>
        <p:blipFill>
          <a:blip r:embed="rId2"/>
          <a:stretch>
            <a:fillRect/>
          </a:stretch>
        </p:blipFill>
        <p:spPr>
          <a:xfrm>
            <a:off x="5636220" y="1783080"/>
            <a:ext cx="1378283" cy="1049274"/>
          </a:xfrm>
          <a:prstGeom prst="rect">
            <a:avLst/>
          </a:prstGeom>
        </p:spPr>
      </p:pic>
      <p:sp>
        <p:nvSpPr>
          <p:cNvPr id="12" name="TextBox 11"/>
          <p:cNvSpPr txBox="1"/>
          <p:nvPr/>
        </p:nvSpPr>
        <p:spPr>
          <a:xfrm>
            <a:off x="4617720" y="2878074"/>
            <a:ext cx="3794760" cy="228600"/>
          </a:xfrm>
          <a:prstGeom prst="rect">
            <a:avLst/>
          </a:prstGeom>
          <a:noFill/>
        </p:spPr>
        <p:txBody>
          <a:bodyPr wrap="square" lIns="73152" rIns="73152" tIns="36576" bIns="36576">
            <a:noAutofit/>
          </a:bodyPr>
          <a:lstStyle/>
          <a:p>
            <a:pPr>
              <a:lnSpc>
                <a:spcPct val="108000"/>
              </a:lnSpc>
              <a:defRPr sz="800" b="1">
                <a:solidFill>
                  <a:srgbClr val="536071"/>
                </a:solidFill>
              </a:defRPr>
            </a:pPr>
            <a:r>
              <a:rPr>
                <a:latin typeface="Calibri"/>
              </a:rPr>
              <a:t>Input image</a:t>
            </a:r>
          </a:p>
        </p:txBody>
      </p:sp>
      <p:sp>
        <p:nvSpPr>
          <p:cNvPr id="13" name="Rectangle 12"/>
          <p:cNvSpPr/>
          <p:nvPr/>
        </p:nvSpPr>
        <p:spPr>
          <a:xfrm>
            <a:off x="4617720" y="3154679"/>
            <a:ext cx="3794760" cy="86868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28016" rIns="109728" tIns="82296" bIns="73152" wrap="square"/>
          <a:lstStyle/>
          <a:p>
            <a:pPr algn="ctr">
              <a:defRPr sz="1150" b="1">
                <a:solidFill>
                  <a:srgbClr val="1C804A"/>
                </a:solidFill>
              </a:defRPr>
            </a:pPr>
            <a:r>
              <a:rPr>
                <a:latin typeface="Calibri"/>
              </a:rPr>
              <a:t>LLM Council Review Synthesis</a:t>
            </a:r>
          </a:p>
          <a:p>
            <a:pPr algn="ctr">
              <a:lnSpc>
                <a:spcPct val="90000"/>
              </a:lnSpc>
              <a:defRPr sz="860" b="1">
                <a:solidFill>
                  <a:srgbClr val="536071"/>
                </a:solidFill>
              </a:defRPr>
            </a:pPr>
            <a:r>
              <a:rPr>
                <a:latin typeface="Calibri"/>
              </a:rPr>
              <a:t>Review synthesis; not Gemma output</a:t>
            </a:r>
          </a:p>
          <a:p>
            <a:pPr>
              <a:lnSpc>
                <a:spcPct val="98000"/>
              </a:lnSpc>
              <a:defRPr sz="825">
                <a:solidFill>
                  <a:srgbClr val="18273E"/>
                </a:solidFill>
              </a:defRPr>
            </a:pPr>
            <a:r>
              <a:rPr>
                <a:latin typeface="Calibri"/>
              </a:rPr>
              <a:t>Reviews agree MCL Rank 1 is a strong concordant positive example</a:t>
            </a:r>
          </a:p>
          <a:p>
            <a:pPr>
              <a:lnSpc>
                <a:spcPct val="98000"/>
              </a:lnSpc>
              <a:defRPr sz="825">
                <a:solidFill>
                  <a:srgbClr val="18273E"/>
                </a:solidFill>
              </a:defRPr>
            </a:pPr>
            <a:r>
              <a:rPr>
                <a:latin typeface="Calibri"/>
              </a:rPr>
              <a:t>Image is visually consistent/contextual, not diagnostic proof</a:t>
            </a:r>
          </a:p>
        </p:txBody>
      </p:sp>
      <p:sp>
        <p:nvSpPr>
          <p:cNvPr id="14" name="Rectangle 13"/>
          <p:cNvSpPr/>
          <p:nvPr/>
        </p:nvSpPr>
        <p:spPr>
          <a:xfrm>
            <a:off x="502920" y="4114799"/>
            <a:ext cx="7909560" cy="68580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rPr>
                <a:latin typeface="Calibri"/>
              </a:rPr>
              <a:t>Runtime Support Returned by Demo KB</a:t>
            </a:r>
          </a:p>
          <a:p>
            <a:pPr>
              <a:lnSpc>
                <a:spcPct val="105000"/>
              </a:lnSpc>
              <a:defRPr sz="800">
                <a:solidFill>
                  <a:srgbClr val="18273E"/>
                </a:solidFill>
              </a:defRPr>
            </a:pPr>
            <a:r>
              <a:rPr>
                <a:latin typeface="Calibri"/>
              </a:rPr>
              <a:t>1. Mucocutaneous leishmaniasis: runtime support returned by the backend</a:t>
            </a:r>
          </a:p>
          <a:p>
            <a:pPr>
              <a:lnSpc>
                <a:spcPct val="105000"/>
              </a:lnSpc>
              <a:defRPr sz="800">
                <a:solidFill>
                  <a:srgbClr val="18273E"/>
                </a:solidFill>
              </a:defRPr>
            </a:pPr>
            <a:r>
              <a:rPr>
                <a:latin typeface="Calibri"/>
              </a:rPr>
              <a:t>2. Cutaneous leishmaniasis: runtime support returned by the backend</a:t>
            </a:r>
          </a:p>
        </p:txBody>
      </p:sp>
      <p:sp>
        <p:nvSpPr>
          <p:cNvPr id="15" name="TextBox 14"/>
          <p:cNvSpPr txBox="1"/>
          <p:nvPr/>
        </p:nvSpPr>
        <p:spPr>
          <a:xfrm>
            <a:off x="502920" y="4828032"/>
            <a:ext cx="502920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Live case inspection - fresh local-GPU demo output</a:t>
            </a:r>
          </a:p>
        </p:txBody>
      </p:sp>
      <p:sp>
        <p:nvSpPr>
          <p:cNvPr id="16" name="Page badge 16"/>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Page badge 16"/>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16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FRESH LOCAL-GPU LIVE DEMO OUTPUT</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Case 2: PMC7456484_01 — Subtype Mismatch</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2286000" cy="502920"/>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SILVER REFERENCE LABEL</a:t>
            </a:r>
          </a:p>
          <a:p>
            <a:pPr>
              <a:defRPr sz="1100" b="1">
                <a:solidFill>
                  <a:srgbClr val="18273E"/>
                </a:solidFill>
              </a:defRPr>
            </a:pPr>
            <a:r>
              <a:rPr>
                <a:latin typeface="Calibri"/>
              </a:rPr>
              <a:t>Post-Kala-Azar Dermal Leishmaniasis (PKDL)</a:t>
            </a:r>
          </a:p>
        </p:txBody>
      </p:sp>
      <p:sp>
        <p:nvSpPr>
          <p:cNvPr id="6" name="Rectangle 5"/>
          <p:cNvSpPr/>
          <p:nvPr/>
        </p:nvSpPr>
        <p:spPr>
          <a:xfrm>
            <a:off x="2926080" y="1143000"/>
            <a:ext cx="2468880" cy="502920"/>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MODEL RANK 1</a:t>
            </a:r>
          </a:p>
          <a:p>
            <a:pPr>
              <a:defRPr sz="1100" b="1">
                <a:solidFill>
                  <a:srgbClr val="18273E"/>
                </a:solidFill>
              </a:defRPr>
            </a:pPr>
            <a:r>
              <a:rPr>
                <a:latin typeface="Calibri"/>
              </a:rPr>
              <a:t>MCL</a:t>
            </a:r>
          </a:p>
        </p:txBody>
      </p:sp>
      <p:sp>
        <p:nvSpPr>
          <p:cNvPr id="7" name="Rectangle 6"/>
          <p:cNvSpPr/>
          <p:nvPr/>
        </p:nvSpPr>
        <p:spPr>
          <a:xfrm>
            <a:off x="6309360" y="1143000"/>
            <a:ext cx="1051560" cy="5029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CONFIDENCE</a:t>
            </a:r>
          </a:p>
          <a:p>
            <a:pPr>
              <a:defRPr sz="1100" b="1">
                <a:solidFill>
                  <a:srgbClr val="18273E"/>
                </a:solidFill>
              </a:defRPr>
            </a:pPr>
            <a:r>
              <a:rPr>
                <a:latin typeface="Calibri"/>
              </a:rPr>
              <a:t>Medium</a:t>
            </a:r>
          </a:p>
        </p:txBody>
      </p:sp>
      <p:sp>
        <p:nvSpPr>
          <p:cNvPr id="8" name="Rectangle 7"/>
          <p:cNvSpPr/>
          <p:nvPr/>
        </p:nvSpPr>
        <p:spPr>
          <a:xfrm>
            <a:off x="7452360" y="1143000"/>
            <a:ext cx="960120" cy="50292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TIME</a:t>
            </a:r>
          </a:p>
          <a:p>
            <a:pPr>
              <a:defRPr sz="1100" b="1">
                <a:solidFill>
                  <a:srgbClr val="18273E"/>
                </a:solidFill>
              </a:defRPr>
            </a:pPr>
            <a:r>
              <a:rPr>
                <a:latin typeface="Calibri"/>
              </a:rPr>
              <a:t>74.0s</a:t>
            </a:r>
          </a:p>
        </p:txBody>
      </p:sp>
      <p:sp>
        <p:nvSpPr>
          <p:cNvPr id="9" name="Rectangle 8"/>
          <p:cNvSpPr/>
          <p:nvPr/>
        </p:nvSpPr>
        <p:spPr>
          <a:xfrm>
            <a:off x="502920" y="1783080"/>
            <a:ext cx="3931920" cy="123444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rPr>
                <a:latin typeface="Calibri"/>
              </a:rPr>
              <a:t>Clinical Input (Blinded)</a:t>
            </a:r>
          </a:p>
          <a:p>
            <a:pPr>
              <a:lnSpc>
                <a:spcPct val="105000"/>
              </a:lnSpc>
              <a:defRPr sz="790">
                <a:solidFill>
                  <a:srgbClr val="18273E"/>
                </a:solidFill>
              </a:defRPr>
            </a:pPr>
            <a:r>
              <a:rPr>
                <a:latin typeface="Calibri"/>
              </a:rPr>
              <a:t>37-year-old woman from eastern Bhutan with extensive facial plaques, eyelid damage/scarring, nasal mucosal extension, and prior treated visceral leishmaniasis history.</a:t>
            </a:r>
          </a:p>
          <a:p>
            <a:pPr>
              <a:lnSpc>
                <a:spcPct val="105000"/>
              </a:lnSpc>
              <a:defRPr sz="790">
                <a:solidFill>
                  <a:srgbClr val="18273E"/>
                </a:solidFill>
              </a:defRPr>
            </a:pPr>
            <a:r>
              <a:rPr>
                <a:latin typeface="Calibri"/>
              </a:rPr>
              <a:t>Held-out case absent from the official 121-case experimental retrieval corpus; full text is on slide 21.</a:t>
            </a:r>
          </a:p>
          <a:p>
            <a:pPr>
              <a:lnSpc>
                <a:spcPct val="105000"/>
              </a:lnSpc>
              <a:defRPr sz="790">
                <a:solidFill>
                  <a:srgbClr val="18273E"/>
                </a:solidFill>
              </a:defRPr>
            </a:pPr>
            <a:r>
              <a:rPr>
                <a:latin typeface="Calibri"/>
              </a:rPr>
              <a:t>Fresh live output used the local defense demo KB; target and confirmatory fields were withheld.</a:t>
            </a:r>
          </a:p>
        </p:txBody>
      </p:sp>
      <p:sp>
        <p:nvSpPr>
          <p:cNvPr id="10" name="Rectangle 9"/>
          <p:cNvSpPr/>
          <p:nvPr/>
        </p:nvSpPr>
        <p:spPr>
          <a:xfrm>
            <a:off x="502920" y="3154679"/>
            <a:ext cx="3931920" cy="86868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0F766E"/>
                </a:solidFill>
              </a:defRPr>
            </a:pPr>
            <a:r>
              <a:rPr>
                <a:latin typeface="Calibri"/>
              </a:rPr>
              <a:t>Model Output Summary</a:t>
            </a:r>
          </a:p>
          <a:p>
            <a:pPr>
              <a:lnSpc>
                <a:spcPct val="105000"/>
              </a:lnSpc>
              <a:defRPr sz="900">
                <a:solidFill>
                  <a:srgbClr val="18273E"/>
                </a:solidFill>
              </a:defRPr>
            </a:pPr>
            <a:r>
              <a:rPr>
                <a:latin typeface="Calibri"/>
              </a:rPr>
              <a:t>Top diagnosis: Chronic Mucocutaneous Leishmaniasis (Mucocutaneous Leishmaniasis)</a:t>
            </a:r>
          </a:p>
          <a:p>
            <a:pPr>
              <a:lnSpc>
                <a:spcPct val="105000"/>
              </a:lnSpc>
              <a:defRPr sz="900">
                <a:solidFill>
                  <a:srgbClr val="18273E"/>
                </a:solidFill>
              </a:defRPr>
            </a:pPr>
            <a:r>
              <a:rPr>
                <a:latin typeface="Calibri"/>
              </a:rPr>
              <a:t>Runtime support: 3 retrieved chunks</a:t>
            </a:r>
          </a:p>
          <a:p>
            <a:pPr>
              <a:lnSpc>
                <a:spcPct val="105000"/>
              </a:lnSpc>
              <a:defRPr sz="900">
                <a:solidFill>
                  <a:srgbClr val="18273E"/>
                </a:solidFill>
              </a:defRPr>
            </a:pPr>
            <a:r>
              <a:rPr>
                <a:latin typeface="Calibri"/>
              </a:rPr>
              <a:t>Output route: retrieval-supported response</a:t>
            </a:r>
          </a:p>
        </p:txBody>
      </p:sp>
      <p:pic>
        <p:nvPicPr>
          <p:cNvPr id="11" name="Picture 10" descr="image.png"/>
          <p:cNvPicPr>
            <a:picLocks noChangeAspect="1"/>
          </p:cNvPicPr>
          <p:nvPr/>
        </p:nvPicPr>
        <p:blipFill>
          <a:blip r:embed="rId2"/>
          <a:stretch>
            <a:fillRect/>
          </a:stretch>
        </p:blipFill>
        <p:spPr>
          <a:xfrm>
            <a:off x="4617720" y="1849114"/>
            <a:ext cx="3415284" cy="917205"/>
          </a:xfrm>
          <a:prstGeom prst="rect">
            <a:avLst/>
          </a:prstGeom>
        </p:spPr>
      </p:pic>
      <p:sp>
        <p:nvSpPr>
          <p:cNvPr id="12" name="TextBox 11"/>
          <p:cNvSpPr txBox="1"/>
          <p:nvPr/>
        </p:nvSpPr>
        <p:spPr>
          <a:xfrm>
            <a:off x="4617720" y="2878074"/>
            <a:ext cx="3794760" cy="228600"/>
          </a:xfrm>
          <a:prstGeom prst="rect">
            <a:avLst/>
          </a:prstGeom>
          <a:noFill/>
        </p:spPr>
        <p:txBody>
          <a:bodyPr wrap="square" lIns="73152" rIns="73152" tIns="36576" bIns="36576">
            <a:noAutofit/>
          </a:bodyPr>
          <a:lstStyle/>
          <a:p>
            <a:pPr>
              <a:lnSpc>
                <a:spcPct val="108000"/>
              </a:lnSpc>
              <a:defRPr sz="800" b="1">
                <a:solidFill>
                  <a:srgbClr val="536071"/>
                </a:solidFill>
              </a:defRPr>
            </a:pPr>
            <a:r>
              <a:rPr>
                <a:latin typeface="Calibri"/>
              </a:rPr>
              <a:t>Input image</a:t>
            </a:r>
          </a:p>
        </p:txBody>
      </p:sp>
      <p:sp>
        <p:nvSpPr>
          <p:cNvPr id="13" name="Rectangle 12"/>
          <p:cNvSpPr/>
          <p:nvPr/>
        </p:nvSpPr>
        <p:spPr>
          <a:xfrm>
            <a:off x="4617720" y="3154679"/>
            <a:ext cx="3794760" cy="868680"/>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28016" rIns="109728" tIns="82296" bIns="73152" wrap="square"/>
          <a:lstStyle/>
          <a:p>
            <a:pPr algn="ctr">
              <a:defRPr sz="1150" b="1">
                <a:solidFill>
                  <a:srgbClr val="EA580C"/>
                </a:solidFill>
              </a:defRPr>
            </a:pPr>
            <a:r>
              <a:rPr>
                <a:latin typeface="Calibri"/>
              </a:rPr>
              <a:t>LLM Council Review Synthesis</a:t>
            </a:r>
          </a:p>
          <a:p>
            <a:pPr algn="ctr">
              <a:lnSpc>
                <a:spcPct val="90000"/>
              </a:lnSpc>
              <a:defRPr sz="860" b="1">
                <a:solidFill>
                  <a:srgbClr val="536071"/>
                </a:solidFill>
              </a:defRPr>
            </a:pPr>
            <a:r>
              <a:rPr>
                <a:latin typeface="Calibri"/>
              </a:rPr>
              <a:t>Review synthesis; not Gemma output</a:t>
            </a:r>
          </a:p>
          <a:p>
            <a:pPr>
              <a:lnSpc>
                <a:spcPct val="98000"/>
              </a:lnSpc>
              <a:defRPr sz="825">
                <a:solidFill>
                  <a:srgbClr val="18273E"/>
                </a:solidFill>
              </a:defRPr>
            </a:pPr>
            <a:r>
              <a:rPr>
                <a:latin typeface="Calibri"/>
              </a:rPr>
              <a:t>Reviews agree the family is retained but PKDL is not named</a:t>
            </a:r>
          </a:p>
          <a:p>
            <a:pPr>
              <a:lnSpc>
                <a:spcPct val="98000"/>
              </a:lnSpc>
              <a:defRPr sz="825">
                <a:solidFill>
                  <a:srgbClr val="18273E"/>
                </a:solidFill>
              </a:defRPr>
            </a:pPr>
            <a:r>
              <a:rPr>
                <a:latin typeface="Calibri"/>
              </a:rPr>
              <a:t>Demo KB lacks a PKDL anchor; subtype limitation</a:t>
            </a:r>
          </a:p>
        </p:txBody>
      </p:sp>
      <p:sp>
        <p:nvSpPr>
          <p:cNvPr id="14" name="Rectangle 13"/>
          <p:cNvSpPr/>
          <p:nvPr/>
        </p:nvSpPr>
        <p:spPr>
          <a:xfrm>
            <a:off x="502920" y="4114799"/>
            <a:ext cx="7909560" cy="68580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rPr>
                <a:latin typeface="Calibri"/>
              </a:rPr>
              <a:t>Runtime Support Returned by Demo KB</a:t>
            </a:r>
          </a:p>
          <a:p>
            <a:pPr>
              <a:lnSpc>
                <a:spcPct val="105000"/>
              </a:lnSpc>
              <a:defRPr sz="800">
                <a:solidFill>
                  <a:srgbClr val="18273E"/>
                </a:solidFill>
              </a:defRPr>
            </a:pPr>
            <a:r>
              <a:rPr>
                <a:latin typeface="Calibri"/>
              </a:rPr>
              <a:t>1. Visceral leishmaniasis: runtime support returned by the backend</a:t>
            </a:r>
          </a:p>
          <a:p>
            <a:pPr>
              <a:lnSpc>
                <a:spcPct val="105000"/>
              </a:lnSpc>
              <a:defRPr sz="800">
                <a:solidFill>
                  <a:srgbClr val="18273E"/>
                </a:solidFill>
              </a:defRPr>
            </a:pPr>
            <a:r>
              <a:rPr>
                <a:latin typeface="Calibri"/>
              </a:rPr>
              <a:t>2. Mucocutaneous leishmaniasis: runtime support returned by the backend</a:t>
            </a:r>
          </a:p>
        </p:txBody>
      </p:sp>
      <p:sp>
        <p:nvSpPr>
          <p:cNvPr id="15" name="TextBox 14"/>
          <p:cNvSpPr txBox="1"/>
          <p:nvPr/>
        </p:nvSpPr>
        <p:spPr>
          <a:xfrm>
            <a:off x="502920" y="4828032"/>
            <a:ext cx="502920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Live case inspection - fresh local-GPU demo output</a:t>
            </a:r>
          </a:p>
        </p:txBody>
      </p:sp>
      <p:sp>
        <p:nvSpPr>
          <p:cNvPr id="16" name="Page badge 17"/>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Page badge 17"/>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17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FRESH LOCAL-GPU LIVE DEMO OUTPUT</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Case 3: PMC10026180_04 — Label-Conflict Stress Test</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2286000" cy="502920"/>
          </a:xfrm>
          <a:prstGeom prst="rect">
            <a:avLst/>
          </a:prstGeom>
          <a:solidFill>
            <a:srgbClr val="FCECE9"/>
          </a:solidFill>
          <a:ln w="12700">
            <a:solidFill>
              <a:srgbClr val="B03932"/>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B03932"/>
                </a:solidFill>
              </a:defRPr>
            </a:pPr>
            <a:r>
              <a:rPr>
                <a:latin typeface="Calibri"/>
              </a:rPr>
              <a:t>LABEL CONFLICT</a:t>
            </a:r>
          </a:p>
          <a:p>
            <a:pPr>
              <a:defRPr sz="1100" b="1">
                <a:solidFill>
                  <a:srgbClr val="18273E"/>
                </a:solidFill>
              </a:defRPr>
            </a:pPr>
            <a:r>
              <a:rPr>
                <a:latin typeface="Calibri"/>
              </a:rPr>
              <a:t>Verified Non-Leish / pseudolabel CL</a:t>
            </a:r>
          </a:p>
        </p:txBody>
      </p:sp>
      <p:sp>
        <p:nvSpPr>
          <p:cNvPr id="6" name="Rectangle 5"/>
          <p:cNvSpPr/>
          <p:nvPr/>
        </p:nvSpPr>
        <p:spPr>
          <a:xfrm>
            <a:off x="2926080" y="1143000"/>
            <a:ext cx="2468880" cy="502920"/>
          </a:xfrm>
          <a:prstGeom prst="rect">
            <a:avLst/>
          </a:prstGeom>
          <a:solidFill>
            <a:srgbClr val="FCECE9"/>
          </a:solidFill>
          <a:ln w="12700">
            <a:solidFill>
              <a:srgbClr val="B03932"/>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B03932"/>
                </a:solidFill>
              </a:defRPr>
            </a:pPr>
            <a:r>
              <a:rPr>
                <a:latin typeface="Calibri"/>
              </a:rPr>
              <a:t>MODEL RANK 1</a:t>
            </a:r>
          </a:p>
          <a:p>
            <a:pPr>
              <a:defRPr sz="1100" b="1">
                <a:solidFill>
                  <a:srgbClr val="18273E"/>
                </a:solidFill>
              </a:defRPr>
            </a:pPr>
            <a:r>
              <a:rPr>
                <a:latin typeface="Calibri"/>
              </a:rPr>
              <a:t>CL</a:t>
            </a:r>
          </a:p>
        </p:txBody>
      </p:sp>
      <p:sp>
        <p:nvSpPr>
          <p:cNvPr id="7" name="Rectangle 6"/>
          <p:cNvSpPr/>
          <p:nvPr/>
        </p:nvSpPr>
        <p:spPr>
          <a:xfrm>
            <a:off x="6309360" y="1143000"/>
            <a:ext cx="1051560" cy="5029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CONFIDENCE</a:t>
            </a:r>
          </a:p>
          <a:p>
            <a:pPr>
              <a:defRPr sz="1100" b="1">
                <a:solidFill>
                  <a:srgbClr val="18273E"/>
                </a:solidFill>
              </a:defRPr>
            </a:pPr>
            <a:r>
              <a:rPr>
                <a:latin typeface="Calibri"/>
              </a:rPr>
              <a:t>Medium</a:t>
            </a:r>
          </a:p>
        </p:txBody>
      </p:sp>
      <p:sp>
        <p:nvSpPr>
          <p:cNvPr id="8" name="Rectangle 7"/>
          <p:cNvSpPr/>
          <p:nvPr/>
        </p:nvSpPr>
        <p:spPr>
          <a:xfrm>
            <a:off x="7452360" y="1143000"/>
            <a:ext cx="960120" cy="50292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TIME</a:t>
            </a:r>
          </a:p>
          <a:p>
            <a:pPr>
              <a:defRPr sz="1100" b="1">
                <a:solidFill>
                  <a:srgbClr val="18273E"/>
                </a:solidFill>
              </a:defRPr>
            </a:pPr>
            <a:r>
              <a:rPr>
                <a:latin typeface="Calibri"/>
              </a:rPr>
              <a:t>61.5s</a:t>
            </a:r>
          </a:p>
        </p:txBody>
      </p:sp>
      <p:sp>
        <p:nvSpPr>
          <p:cNvPr id="9" name="Rectangle 8"/>
          <p:cNvSpPr/>
          <p:nvPr/>
        </p:nvSpPr>
        <p:spPr>
          <a:xfrm>
            <a:off x="502920" y="1783080"/>
            <a:ext cx="3931920" cy="123444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rPr>
                <a:latin typeface="Calibri"/>
              </a:rPr>
              <a:t>Clinical Input (Blinded)</a:t>
            </a:r>
          </a:p>
          <a:p>
            <a:pPr>
              <a:lnSpc>
                <a:spcPct val="105000"/>
              </a:lnSpc>
              <a:defRPr sz="790">
                <a:solidFill>
                  <a:srgbClr val="18273E"/>
                </a:solidFill>
              </a:defRPr>
            </a:pPr>
            <a:r>
              <a:rPr>
                <a:latin typeface="Calibri"/>
              </a:rPr>
              <a:t>11-year-old girl with ataxia telangiectasia, recurrent respiratory and ear infections, low IgG, and a spreading nose rash extending to the nostrils and left cheek; the image/text are leishmaniasis-plausible but the pipeline labels conflict.</a:t>
            </a:r>
          </a:p>
          <a:p>
            <a:pPr>
              <a:lnSpc>
                <a:spcPct val="105000"/>
              </a:lnSpc>
              <a:defRPr sz="790">
                <a:solidFill>
                  <a:srgbClr val="18273E"/>
                </a:solidFill>
              </a:defRPr>
            </a:pPr>
            <a:r>
              <a:rPr>
                <a:latin typeface="Calibri"/>
              </a:rPr>
              <a:t>Held-out case absent from the official 121-case experimental retrieval corpus; full text is on slide 22.</a:t>
            </a:r>
          </a:p>
          <a:p>
            <a:pPr>
              <a:lnSpc>
                <a:spcPct val="105000"/>
              </a:lnSpc>
              <a:defRPr sz="790">
                <a:solidFill>
                  <a:srgbClr val="18273E"/>
                </a:solidFill>
              </a:defRPr>
            </a:pPr>
            <a:r>
              <a:rPr>
                <a:latin typeface="Calibri"/>
              </a:rPr>
              <a:t>Fresh live output used the local defense demo KB; target and confirmatory fields were withheld.</a:t>
            </a:r>
          </a:p>
        </p:txBody>
      </p:sp>
      <p:sp>
        <p:nvSpPr>
          <p:cNvPr id="10" name="Rectangle 9"/>
          <p:cNvSpPr/>
          <p:nvPr/>
        </p:nvSpPr>
        <p:spPr>
          <a:xfrm>
            <a:off x="502920" y="3154679"/>
            <a:ext cx="3931920" cy="86868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0F766E"/>
                </a:solidFill>
              </a:defRPr>
            </a:pPr>
            <a:r>
              <a:rPr>
                <a:latin typeface="Calibri"/>
              </a:rPr>
              <a:t>Model Output Summary</a:t>
            </a:r>
          </a:p>
          <a:p>
            <a:pPr>
              <a:lnSpc>
                <a:spcPct val="105000"/>
              </a:lnSpc>
              <a:defRPr sz="900">
                <a:solidFill>
                  <a:srgbClr val="18273E"/>
                </a:solidFill>
              </a:defRPr>
            </a:pPr>
            <a:r>
              <a:rPr>
                <a:latin typeface="Calibri"/>
              </a:rPr>
              <a:t>Top diagnosis: Mucocutaneous Leishmaniasis (or other atypical infection)</a:t>
            </a:r>
          </a:p>
          <a:p>
            <a:pPr>
              <a:lnSpc>
                <a:spcPct val="105000"/>
              </a:lnSpc>
              <a:defRPr sz="900">
                <a:solidFill>
                  <a:srgbClr val="18273E"/>
                </a:solidFill>
              </a:defRPr>
            </a:pPr>
            <a:r>
              <a:rPr>
                <a:latin typeface="Calibri"/>
              </a:rPr>
              <a:t>Runtime support: 3 retrieved chunks</a:t>
            </a:r>
          </a:p>
          <a:p>
            <a:pPr>
              <a:lnSpc>
                <a:spcPct val="105000"/>
              </a:lnSpc>
              <a:defRPr sz="900">
                <a:solidFill>
                  <a:srgbClr val="18273E"/>
                </a:solidFill>
              </a:defRPr>
            </a:pPr>
            <a:r>
              <a:rPr>
                <a:latin typeface="Calibri"/>
              </a:rPr>
              <a:t>Output route: retrieval-supported response</a:t>
            </a:r>
          </a:p>
        </p:txBody>
      </p:sp>
      <p:pic>
        <p:nvPicPr>
          <p:cNvPr id="11" name="Picture 10" descr="image.png"/>
          <p:cNvPicPr>
            <a:picLocks noChangeAspect="1"/>
          </p:cNvPicPr>
          <p:nvPr/>
        </p:nvPicPr>
        <p:blipFill>
          <a:blip r:embed="rId2"/>
          <a:stretch>
            <a:fillRect/>
          </a:stretch>
        </p:blipFill>
        <p:spPr>
          <a:xfrm>
            <a:off x="5500055" y="1783080"/>
            <a:ext cx="1650612" cy="1049274"/>
          </a:xfrm>
          <a:prstGeom prst="rect">
            <a:avLst/>
          </a:prstGeom>
        </p:spPr>
      </p:pic>
      <p:sp>
        <p:nvSpPr>
          <p:cNvPr id="12" name="TextBox 11"/>
          <p:cNvSpPr txBox="1"/>
          <p:nvPr/>
        </p:nvSpPr>
        <p:spPr>
          <a:xfrm>
            <a:off x="4617720" y="2878074"/>
            <a:ext cx="3794760" cy="228600"/>
          </a:xfrm>
          <a:prstGeom prst="rect">
            <a:avLst/>
          </a:prstGeom>
          <a:noFill/>
        </p:spPr>
        <p:txBody>
          <a:bodyPr wrap="square" lIns="73152" rIns="73152" tIns="36576" bIns="36576">
            <a:noAutofit/>
          </a:bodyPr>
          <a:lstStyle/>
          <a:p>
            <a:pPr>
              <a:lnSpc>
                <a:spcPct val="108000"/>
              </a:lnSpc>
              <a:defRPr sz="800" b="1">
                <a:solidFill>
                  <a:srgbClr val="536071"/>
                </a:solidFill>
              </a:defRPr>
            </a:pPr>
            <a:r>
              <a:rPr>
                <a:latin typeface="Calibri"/>
              </a:rPr>
              <a:t>Input image</a:t>
            </a:r>
          </a:p>
        </p:txBody>
      </p:sp>
      <p:sp>
        <p:nvSpPr>
          <p:cNvPr id="13" name="Rectangle 12"/>
          <p:cNvSpPr/>
          <p:nvPr/>
        </p:nvSpPr>
        <p:spPr>
          <a:xfrm>
            <a:off x="4617720" y="3154679"/>
            <a:ext cx="3794760" cy="868680"/>
          </a:xfrm>
          <a:prstGeom prst="rect">
            <a:avLst/>
          </a:prstGeom>
          <a:solidFill>
            <a:srgbClr val="FCECE9"/>
          </a:solidFill>
          <a:ln w="12700">
            <a:solidFill>
              <a:srgbClr val="B03932"/>
            </a:solidFill>
          </a:ln>
        </p:spPr>
        <p:style>
          <a:lnRef idx="1">
            <a:schemeClr val="accent1"/>
          </a:lnRef>
          <a:fillRef idx="3">
            <a:schemeClr val="accent1"/>
          </a:fillRef>
          <a:effectRef idx="2">
            <a:schemeClr val="accent1"/>
          </a:effectRef>
          <a:fontRef idx="minor">
            <a:schemeClr val="lt1"/>
          </a:fontRef>
        </p:style>
        <p:txBody>
          <a:bodyPr rtlCol="0" anchor="ctr" lIns="128016" rIns="109728" tIns="82296" bIns="73152" wrap="square"/>
          <a:lstStyle/>
          <a:p>
            <a:pPr algn="ctr">
              <a:defRPr sz="1150" b="1">
                <a:solidFill>
                  <a:srgbClr val="B03932"/>
                </a:solidFill>
              </a:defRPr>
            </a:pPr>
            <a:r>
              <a:rPr>
                <a:latin typeface="Calibri"/>
              </a:rPr>
              <a:t>LLM Council Review Synthesis</a:t>
            </a:r>
          </a:p>
          <a:p>
            <a:pPr algn="ctr">
              <a:lnSpc>
                <a:spcPct val="90000"/>
              </a:lnSpc>
              <a:defRPr sz="860" b="1">
                <a:solidFill>
                  <a:srgbClr val="536071"/>
                </a:solidFill>
              </a:defRPr>
            </a:pPr>
            <a:r>
              <a:rPr>
                <a:latin typeface="Calibri"/>
              </a:rPr>
              <a:t>Review synthesis; not Gemma output</a:t>
            </a:r>
          </a:p>
          <a:p>
            <a:pPr>
              <a:lnSpc>
                <a:spcPct val="98000"/>
              </a:lnSpc>
              <a:defRPr sz="825">
                <a:solidFill>
                  <a:srgbClr val="18273E"/>
                </a:solidFill>
              </a:defRPr>
            </a:pPr>
            <a:r>
              <a:rPr>
                <a:latin typeface="Calibri"/>
              </a:rPr>
              <a:t>Reviews flag a label conflict; full-text case is leishmaniasis-plausible</a:t>
            </a:r>
          </a:p>
          <a:p>
            <a:pPr>
              <a:lnSpc>
                <a:spcPct val="98000"/>
              </a:lnSpc>
              <a:defRPr sz="825">
                <a:solidFill>
                  <a:srgbClr val="18273E"/>
                </a:solidFill>
              </a:defRPr>
            </a:pPr>
            <a:r>
              <a:rPr>
                <a:latin typeface="Calibri"/>
              </a:rPr>
              <a:t>Live CL/MCL-family output is not specificity proof; confirmation required</a:t>
            </a:r>
          </a:p>
        </p:txBody>
      </p:sp>
      <p:sp>
        <p:nvSpPr>
          <p:cNvPr id="14" name="Rectangle 13"/>
          <p:cNvSpPr/>
          <p:nvPr/>
        </p:nvSpPr>
        <p:spPr>
          <a:xfrm>
            <a:off x="502920" y="4114799"/>
            <a:ext cx="7909560" cy="68580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rPr>
                <a:latin typeface="Calibri"/>
              </a:rPr>
              <a:t>Runtime Support Returned by Demo KB</a:t>
            </a:r>
          </a:p>
          <a:p>
            <a:pPr>
              <a:lnSpc>
                <a:spcPct val="105000"/>
              </a:lnSpc>
              <a:defRPr sz="800">
                <a:solidFill>
                  <a:srgbClr val="18273E"/>
                </a:solidFill>
              </a:defRPr>
            </a:pPr>
            <a:r>
              <a:rPr>
                <a:latin typeface="Calibri"/>
              </a:rPr>
              <a:t>1. Cutaneous leishmaniasis: runtime support returned by the backend</a:t>
            </a:r>
          </a:p>
          <a:p>
            <a:pPr>
              <a:lnSpc>
                <a:spcPct val="105000"/>
              </a:lnSpc>
              <a:defRPr sz="800">
                <a:solidFill>
                  <a:srgbClr val="18273E"/>
                </a:solidFill>
              </a:defRPr>
            </a:pPr>
            <a:r>
              <a:rPr>
                <a:latin typeface="Calibri"/>
              </a:rPr>
              <a:t>2. Cutaneous leishmaniasis: runtime support returned by the backend</a:t>
            </a:r>
          </a:p>
        </p:txBody>
      </p:sp>
      <p:sp>
        <p:nvSpPr>
          <p:cNvPr id="15" name="TextBox 14"/>
          <p:cNvSpPr txBox="1"/>
          <p:nvPr/>
        </p:nvSpPr>
        <p:spPr>
          <a:xfrm>
            <a:off x="502920" y="4828032"/>
            <a:ext cx="502920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Live case inspection - fresh local-GPU demo output</a:t>
            </a:r>
          </a:p>
        </p:txBody>
      </p:sp>
      <p:sp>
        <p:nvSpPr>
          <p:cNvPr id="16" name="Page badge 18"/>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Page badge 18"/>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18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51435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502920"/>
            <a:ext cx="5212080" cy="274320"/>
          </a:xfrm>
          <a:prstGeom prst="rect">
            <a:avLst/>
          </a:prstGeom>
          <a:noFill/>
        </p:spPr>
        <p:txBody>
          <a:bodyPr wrap="square" lIns="73152" rIns="73152" tIns="36576" bIns="36576">
            <a:noAutofit/>
          </a:bodyPr>
          <a:lstStyle/>
          <a:p>
            <a:pPr>
              <a:lnSpc>
                <a:spcPct val="108000"/>
              </a:lnSpc>
              <a:defRPr sz="1000" b="1">
                <a:solidFill>
                  <a:srgbClr val="536071"/>
                </a:solidFill>
              </a:defRPr>
            </a:pPr>
            <a:r>
              <a:rPr>
                <a:latin typeface="Calibri"/>
              </a:rPr>
              <a:t>MASTER THESIS DEFENSE</a:t>
            </a:r>
          </a:p>
        </p:txBody>
      </p:sp>
      <p:sp>
        <p:nvSpPr>
          <p:cNvPr id="4" name="TextBox 3"/>
          <p:cNvSpPr txBox="1"/>
          <p:nvPr/>
        </p:nvSpPr>
        <p:spPr>
          <a:xfrm>
            <a:off x="502920" y="1115568"/>
            <a:ext cx="5303520" cy="749808"/>
          </a:xfrm>
          <a:prstGeom prst="rect">
            <a:avLst/>
          </a:prstGeom>
          <a:noFill/>
        </p:spPr>
        <p:txBody>
          <a:bodyPr wrap="square" lIns="73152" rIns="73152" tIns="36576" bIns="36576">
            <a:noAutofit/>
          </a:bodyPr>
          <a:lstStyle/>
          <a:p>
            <a:pPr>
              <a:lnSpc>
                <a:spcPct val="108000"/>
              </a:lnSpc>
              <a:defRPr sz="3600" b="1">
                <a:solidFill>
                  <a:srgbClr val="18273E"/>
                </a:solidFill>
              </a:defRPr>
            </a:pPr>
            <a:r>
              <a:rPr>
                <a:latin typeface="Calibri"/>
              </a:rPr>
              <a:t>Thank You</a:t>
            </a:r>
          </a:p>
        </p:txBody>
      </p:sp>
      <p:sp>
        <p:nvSpPr>
          <p:cNvPr id="5" name="TextBox 4"/>
          <p:cNvSpPr txBox="1"/>
          <p:nvPr/>
        </p:nvSpPr>
        <p:spPr>
          <a:xfrm>
            <a:off x="502920" y="1938528"/>
            <a:ext cx="5303520" cy="530352"/>
          </a:xfrm>
          <a:prstGeom prst="rect">
            <a:avLst/>
          </a:prstGeom>
          <a:noFill/>
        </p:spPr>
        <p:txBody>
          <a:bodyPr wrap="square" lIns="73152" rIns="73152" tIns="36576" bIns="36576">
            <a:noAutofit/>
          </a:bodyPr>
          <a:lstStyle/>
          <a:p>
            <a:pPr>
              <a:lnSpc>
                <a:spcPct val="108000"/>
              </a:lnSpc>
              <a:defRPr sz="2400" b="1">
                <a:solidFill>
                  <a:srgbClr val="0F766E"/>
                </a:solidFill>
              </a:defRPr>
            </a:pPr>
            <a:r>
              <a:rPr>
                <a:latin typeface="Calibri"/>
              </a:rPr>
              <a:t>Questions?</a:t>
            </a:r>
          </a:p>
        </p:txBody>
      </p:sp>
      <p:sp>
        <p:nvSpPr>
          <p:cNvPr id="6" name="TextBox 5"/>
          <p:cNvSpPr txBox="1"/>
          <p:nvPr/>
        </p:nvSpPr>
        <p:spPr>
          <a:xfrm>
            <a:off x="502920" y="2487168"/>
            <a:ext cx="6583680" cy="219456"/>
          </a:xfrm>
          <a:prstGeom prst="rect">
            <a:avLst/>
          </a:prstGeom>
          <a:noFill/>
        </p:spPr>
        <p:txBody>
          <a:bodyPr wrap="square" lIns="73152" rIns="73152" tIns="36576" bIns="36576">
            <a:noAutofit/>
          </a:bodyPr>
          <a:lstStyle/>
          <a:p>
            <a:pPr>
              <a:lnSpc>
                <a:spcPct val="108000"/>
              </a:lnSpc>
              <a:defRPr sz="1200" b="1">
                <a:solidFill>
                  <a:srgbClr val="536071"/>
                </a:solidFill>
              </a:defRPr>
            </a:pPr>
            <a:r>
              <a:rPr>
                <a:latin typeface="Calibri"/>
              </a:rPr>
              <a:t>Feasible and traceable under constraints; not deployment-ready.</a:t>
            </a:r>
          </a:p>
        </p:txBody>
      </p:sp>
      <p:sp>
        <p:nvSpPr>
          <p:cNvPr id="7" name="Rectangle 6"/>
          <p:cNvSpPr/>
          <p:nvPr/>
        </p:nvSpPr>
        <p:spPr>
          <a:xfrm>
            <a:off x="502920" y="2852928"/>
            <a:ext cx="5029200" cy="27432"/>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3127248"/>
            <a:ext cx="7955279" cy="438912"/>
          </a:xfrm>
          <a:prstGeom prst="rect">
            <a:avLst/>
          </a:prstGeom>
          <a:noFill/>
        </p:spPr>
        <p:txBody>
          <a:bodyPr wrap="square" lIns="73152" rIns="73152" tIns="36576" bIns="36576">
            <a:noAutofit/>
          </a:bodyPr>
          <a:lstStyle/>
          <a:p>
            <a:pPr>
              <a:lnSpc>
                <a:spcPct val="108000"/>
              </a:lnSpc>
              <a:defRPr sz="1500" b="1">
                <a:solidFill>
                  <a:srgbClr val="18273E"/>
                </a:solidFill>
              </a:defRPr>
            </a:pPr>
            <a:r>
              <a:rPr>
                <a:latin typeface="Calibri"/>
              </a:rPr>
              <a:t>Multimodal RAG for Leishmaniasis Diagnosis</a:t>
            </a:r>
          </a:p>
        </p:txBody>
      </p:sp>
      <p:sp>
        <p:nvSpPr>
          <p:cNvPr id="9" name="TextBox 8"/>
          <p:cNvSpPr txBox="1"/>
          <p:nvPr/>
        </p:nvSpPr>
        <p:spPr>
          <a:xfrm>
            <a:off x="502920" y="3749039"/>
            <a:ext cx="7955279" cy="310896"/>
          </a:xfrm>
          <a:prstGeom prst="rect">
            <a:avLst/>
          </a:prstGeom>
          <a:noFill/>
        </p:spPr>
        <p:txBody>
          <a:bodyPr wrap="square" lIns="73152" rIns="73152" tIns="36576" bIns="36576">
            <a:noAutofit/>
          </a:bodyPr>
          <a:lstStyle/>
          <a:p>
            <a:pPr>
              <a:lnSpc>
                <a:spcPct val="108000"/>
              </a:lnSpc>
              <a:defRPr sz="1200" b="1">
                <a:solidFill>
                  <a:srgbClr val="536071"/>
                </a:solidFill>
              </a:defRPr>
            </a:pPr>
            <a:r>
              <a:rPr>
                <a:latin typeface="Calibri"/>
              </a:rPr>
              <a:t>Nguyen Tuan Ngoc · Computer Science (M.Sc.)</a:t>
            </a:r>
          </a:p>
        </p:txBody>
      </p:sp>
      <p:sp>
        <p:nvSpPr>
          <p:cNvPr id="10" name="TextBox 9"/>
          <p:cNvSpPr txBox="1"/>
          <p:nvPr/>
        </p:nvSpPr>
        <p:spPr>
          <a:xfrm>
            <a:off x="502920" y="4151376"/>
            <a:ext cx="7955279" cy="274320"/>
          </a:xfrm>
          <a:prstGeom prst="rect">
            <a:avLst/>
          </a:prstGeom>
          <a:noFill/>
        </p:spPr>
        <p:txBody>
          <a:bodyPr wrap="square" lIns="73152" rIns="73152" tIns="36576" bIns="36576">
            <a:noAutofit/>
          </a:bodyPr>
          <a:lstStyle/>
          <a:p>
            <a:pPr>
              <a:lnSpc>
                <a:spcPct val="108000"/>
              </a:lnSpc>
              <a:defRPr sz="1000" b="0">
                <a:solidFill>
                  <a:srgbClr val="536071"/>
                </a:solidFill>
              </a:defRPr>
            </a:pPr>
            <a:r>
              <a:rPr>
                <a:latin typeface="Calibri"/>
              </a:rPr>
              <a:t>Vietnamese-German University · Hochschule Darmstadt (h_da)</a:t>
            </a:r>
          </a:p>
        </p:txBody>
      </p:sp>
      <p:pic>
        <p:nvPicPr>
          <p:cNvPr id="11" name="Picture 10" descr="Vietnamese-German University and Hochschule Darmstadt (Darmstadt University of Applied Sciences) logos." title="VGU and h_da institutional logos"/>
          <p:cNvPicPr>
            <a:picLocks noChangeAspect="1"/>
          </p:cNvPicPr>
          <p:nvPr/>
        </p:nvPicPr>
        <p:blipFill>
          <a:blip r:embed="rId2"/>
          <a:stretch>
            <a:fillRect/>
          </a:stretch>
        </p:blipFill>
        <p:spPr>
          <a:xfrm>
            <a:off x="6693408" y="73152"/>
            <a:ext cx="2048256" cy="138074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APPENDIX CASE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Full Blinded Input: PMC7516301_01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69164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CASE ID</a:t>
            </a:r>
          </a:p>
          <a:p>
            <a:pPr>
              <a:defRPr sz="1100" b="1">
                <a:solidFill>
                  <a:srgbClr val="18273E"/>
                </a:solidFill>
              </a:defRPr>
            </a:pPr>
            <a:r>
              <a:rPr>
                <a:latin typeface="Calibri"/>
              </a:rPr>
              <a:t>PMC7516301_01</a:t>
            </a:r>
          </a:p>
        </p:txBody>
      </p:sp>
      <p:sp>
        <p:nvSpPr>
          <p:cNvPr id="6" name="Rectangle 5"/>
          <p:cNvSpPr/>
          <p:nvPr/>
        </p:nvSpPr>
        <p:spPr>
          <a:xfrm>
            <a:off x="2331720" y="1143000"/>
            <a:ext cx="14630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INPUT MODE</a:t>
            </a:r>
          </a:p>
          <a:p>
            <a:pPr>
              <a:defRPr sz="1100" b="1">
                <a:solidFill>
                  <a:srgbClr val="18273E"/>
                </a:solidFill>
              </a:defRPr>
            </a:pPr>
            <a:r>
              <a:rPr>
                <a:latin typeface="Calibri"/>
              </a:rPr>
              <a:t>Text + image</a:t>
            </a:r>
          </a:p>
        </p:txBody>
      </p:sp>
      <p:sp>
        <p:nvSpPr>
          <p:cNvPr id="7" name="Rectangle 6"/>
          <p:cNvSpPr/>
          <p:nvPr/>
        </p:nvSpPr>
        <p:spPr>
          <a:xfrm>
            <a:off x="3931920" y="1143000"/>
            <a:ext cx="2057400"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SOURCE</a:t>
            </a:r>
          </a:p>
          <a:p>
            <a:pPr>
              <a:defRPr sz="1100" b="1">
                <a:solidFill>
                  <a:srgbClr val="18273E"/>
                </a:solidFill>
              </a:defRPr>
            </a:pPr>
            <a:r>
              <a:rPr>
                <a:latin typeface="Calibri"/>
              </a:rPr>
              <a:t>Held-out query</a:t>
            </a:r>
          </a:p>
        </p:txBody>
      </p:sp>
      <p:sp>
        <p:nvSpPr>
          <p:cNvPr id="8" name="Rectangle 7"/>
          <p:cNvSpPr/>
          <p:nvPr/>
        </p:nvSpPr>
        <p:spPr>
          <a:xfrm>
            <a:off x="6126480" y="1143000"/>
            <a:ext cx="228600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USE</a:t>
            </a:r>
          </a:p>
          <a:p>
            <a:pPr>
              <a:defRPr sz="1100" b="1">
                <a:solidFill>
                  <a:srgbClr val="18273E"/>
                </a:solidFill>
              </a:defRPr>
            </a:pPr>
            <a:r>
              <a:rPr>
                <a:latin typeface="Calibri"/>
              </a:rPr>
              <a:t>Q&amp;A appendix</a:t>
            </a:r>
          </a:p>
        </p:txBody>
      </p:sp>
      <p:sp>
        <p:nvSpPr>
          <p:cNvPr id="9" name="Rectangle 8"/>
          <p:cNvSpPr/>
          <p:nvPr/>
        </p:nvSpPr>
        <p:spPr>
          <a:xfrm>
            <a:off x="502920" y="1645920"/>
            <a:ext cx="5074920" cy="292608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rPr>
                <a:latin typeface="Calibri"/>
              </a:rPr>
              <a:t>Full blinded clinical input</a:t>
            </a:r>
          </a:p>
          <a:p>
            <a:pPr>
              <a:lnSpc>
                <a:spcPct val="100000"/>
              </a:lnSpc>
              <a:spcAft>
                <a:spcPts val="0"/>
              </a:spcAft>
              <a:defRPr sz="980">
                <a:solidFill>
                  <a:srgbClr val="18273E"/>
                </a:solidFill>
              </a:defRPr>
            </a:pPr>
            <a:r>
              <a:rPr>
                <a:latin typeface="Calibri"/>
              </a:rPr>
              <a:t>A 19-year-old man from Syria (arrived in Denmark in 2015) presented in June 2016 with a 6-month history of throat irritation that progressed over several days to severe throat pain and fever. He had no history of severe illness or excess infections; examination noted a scar on his arm that was suggestive of previous cutaneous leishmaniasis. Laryngoscopy demonstrated massive edema of the mucosa of both the pharynx and larynx; the epiglottis and uvula were swollen and red with papilloma-like lesions. Endoscopic images show marked swelling and papillomatous-appearing mucosal lesions of the oropharynx and larynx.</a:t>
            </a:r>
          </a:p>
        </p:txBody>
      </p:sp>
      <p:pic>
        <p:nvPicPr>
          <p:cNvPr id="10" name="Picture 9" descr="PMC7516301_01_input.png"/>
          <p:cNvPicPr>
            <a:picLocks noChangeAspect="1"/>
          </p:cNvPicPr>
          <p:nvPr/>
        </p:nvPicPr>
        <p:blipFill>
          <a:blip r:embed="rId2"/>
          <a:stretch>
            <a:fillRect/>
          </a:stretch>
        </p:blipFill>
        <p:spPr>
          <a:xfrm>
            <a:off x="5833872" y="2057959"/>
            <a:ext cx="2331720" cy="1836824"/>
          </a:xfrm>
          <a:prstGeom prst="rect">
            <a:avLst/>
          </a:prstGeom>
        </p:spPr>
      </p:pic>
      <p:sp>
        <p:nvSpPr>
          <p:cNvPr id="11" name="TextBox 10"/>
          <p:cNvSpPr txBox="1"/>
          <p:nvPr/>
        </p:nvSpPr>
        <p:spPr>
          <a:xfrm>
            <a:off x="5833872" y="4032504"/>
            <a:ext cx="2331720" cy="201168"/>
          </a:xfrm>
          <a:prstGeom prst="rect">
            <a:avLst/>
          </a:prstGeom>
          <a:noFill/>
        </p:spPr>
        <p:txBody>
          <a:bodyPr wrap="square" lIns="73152" rIns="73152" tIns="36576" bIns="36576">
            <a:noAutofit/>
          </a:bodyPr>
          <a:lstStyle/>
          <a:p>
            <a:pPr>
              <a:lnSpc>
                <a:spcPct val="108000"/>
              </a:lnSpc>
              <a:defRPr sz="750" b="1">
                <a:solidFill>
                  <a:srgbClr val="536071"/>
                </a:solidFill>
              </a:defRPr>
            </a:pPr>
            <a:r>
              <a:rPr>
                <a:latin typeface="Calibri"/>
              </a:rPr>
              <a:t>Input image used in test</a:t>
            </a:r>
          </a:p>
        </p:txBody>
      </p:sp>
      <p:sp>
        <p:nvSpPr>
          <p:cNvPr id="12" name="TextBox 11"/>
          <p:cNvSpPr txBox="1"/>
          <p:nvPr/>
        </p:nvSpPr>
        <p:spPr>
          <a:xfrm>
            <a:off x="502920" y="4590288"/>
            <a:ext cx="7635240" cy="182880"/>
          </a:xfrm>
          <a:prstGeom prst="rect">
            <a:avLst/>
          </a:prstGeom>
          <a:noFill/>
        </p:spPr>
        <p:txBody>
          <a:bodyPr wrap="square" lIns="73152" rIns="73152" tIns="36576" bIns="36576">
            <a:noAutofit/>
          </a:bodyPr>
          <a:lstStyle/>
          <a:p>
            <a:pPr>
              <a:lnSpc>
                <a:spcPct val="108000"/>
              </a:lnSpc>
              <a:defRPr sz="740" b="0">
                <a:solidFill>
                  <a:srgbClr val="536071"/>
                </a:solidFill>
              </a:defRPr>
            </a:pPr>
            <a:r>
              <a:rPr>
                <a:latin typeface="Calibri"/>
              </a:rPr>
              <a:t>Full blinded clinical input: diagnosis, title, abstract, captions, and confirmatory findings withheld.</a:t>
            </a:r>
          </a:p>
        </p:txBody>
      </p:sp>
      <p:sp>
        <p:nvSpPr>
          <p:cNvPr id="13" name="TextBox 12"/>
          <p:cNvSpPr txBox="1"/>
          <p:nvPr/>
        </p:nvSpPr>
        <p:spPr>
          <a:xfrm>
            <a:off x="502920" y="4828032"/>
            <a:ext cx="502920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Live case inspection - fresh local-GPU demo output</a:t>
            </a:r>
          </a:p>
        </p:txBody>
      </p:sp>
      <p:sp>
        <p:nvSpPr>
          <p:cNvPr id="14" name="Page badge 20"/>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Page badge 20"/>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20</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APPENDIX CASE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Full Blinded Input: PMC7456484_01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69164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CASE ID</a:t>
            </a:r>
          </a:p>
          <a:p>
            <a:pPr>
              <a:defRPr sz="1100" b="1">
                <a:solidFill>
                  <a:srgbClr val="18273E"/>
                </a:solidFill>
              </a:defRPr>
            </a:pPr>
            <a:r>
              <a:rPr>
                <a:latin typeface="Calibri"/>
              </a:rPr>
              <a:t>PMC7456484_01</a:t>
            </a:r>
          </a:p>
        </p:txBody>
      </p:sp>
      <p:sp>
        <p:nvSpPr>
          <p:cNvPr id="6" name="Rectangle 5"/>
          <p:cNvSpPr/>
          <p:nvPr/>
        </p:nvSpPr>
        <p:spPr>
          <a:xfrm>
            <a:off x="2331720" y="1143000"/>
            <a:ext cx="14630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INPUT MODE</a:t>
            </a:r>
          </a:p>
          <a:p>
            <a:pPr>
              <a:defRPr sz="1100" b="1">
                <a:solidFill>
                  <a:srgbClr val="18273E"/>
                </a:solidFill>
              </a:defRPr>
            </a:pPr>
            <a:r>
              <a:rPr>
                <a:latin typeface="Calibri"/>
              </a:rPr>
              <a:t>Text + image</a:t>
            </a:r>
          </a:p>
        </p:txBody>
      </p:sp>
      <p:sp>
        <p:nvSpPr>
          <p:cNvPr id="7" name="Rectangle 6"/>
          <p:cNvSpPr/>
          <p:nvPr/>
        </p:nvSpPr>
        <p:spPr>
          <a:xfrm>
            <a:off x="3931920" y="1143000"/>
            <a:ext cx="2057400"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SOURCE</a:t>
            </a:r>
          </a:p>
          <a:p>
            <a:pPr>
              <a:defRPr sz="1100" b="1">
                <a:solidFill>
                  <a:srgbClr val="18273E"/>
                </a:solidFill>
              </a:defRPr>
            </a:pPr>
            <a:r>
              <a:rPr>
                <a:latin typeface="Calibri"/>
              </a:rPr>
              <a:t>Held-out query</a:t>
            </a:r>
          </a:p>
        </p:txBody>
      </p:sp>
      <p:sp>
        <p:nvSpPr>
          <p:cNvPr id="8" name="Rectangle 7"/>
          <p:cNvSpPr/>
          <p:nvPr/>
        </p:nvSpPr>
        <p:spPr>
          <a:xfrm>
            <a:off x="6126480" y="1143000"/>
            <a:ext cx="228600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USE</a:t>
            </a:r>
          </a:p>
          <a:p>
            <a:pPr>
              <a:defRPr sz="1100" b="1">
                <a:solidFill>
                  <a:srgbClr val="18273E"/>
                </a:solidFill>
              </a:defRPr>
            </a:pPr>
            <a:r>
              <a:rPr>
                <a:latin typeface="Calibri"/>
              </a:rPr>
              <a:t>Q&amp;A appendix</a:t>
            </a:r>
          </a:p>
        </p:txBody>
      </p:sp>
      <p:sp>
        <p:nvSpPr>
          <p:cNvPr id="9" name="Rectangle 8"/>
          <p:cNvSpPr/>
          <p:nvPr/>
        </p:nvSpPr>
        <p:spPr>
          <a:xfrm>
            <a:off x="502920" y="1645920"/>
            <a:ext cx="3877056" cy="292608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rPr>
                <a:latin typeface="Calibri"/>
              </a:rPr>
              <a:t>Full blinded clinical input</a:t>
            </a:r>
          </a:p>
          <a:p>
            <a:pPr>
              <a:lnSpc>
                <a:spcPct val="100000"/>
              </a:lnSpc>
              <a:spcAft>
                <a:spcPts val="0"/>
              </a:spcAft>
              <a:defRPr sz="885">
                <a:solidFill>
                  <a:srgbClr val="18273E"/>
                </a:solidFill>
              </a:defRPr>
            </a:pPr>
            <a:r>
              <a:rPr>
                <a:latin typeface="Calibri"/>
              </a:rPr>
              <a:t>A 37‑year‑old woman from eastern Bhutan presented in 2014 with extensive erythematous plaques on the forehead, central face, perioral area, and cheeks extending to both ears. The left eye was damaged and there was marked swelling of the right eyelid with lid scarring and lagophthalmos. Plaques extended to the nasal mucosa without intraoral involvement. Other skin and systemic examinations were reportedly normal.</a:t>
            </a:r>
          </a:p>
          <a:p>
            <a:pPr>
              <a:lnSpc>
                <a:spcPct val="100000"/>
              </a:lnSpc>
              <a:spcAft>
                <a:spcPts val="0"/>
              </a:spcAft>
              <a:defRPr sz="885">
                <a:solidFill>
                  <a:srgbClr val="18273E"/>
                </a:solidFill>
              </a:defRPr>
            </a:pPr>
          </a:p>
          <a:p>
            <a:pPr>
              <a:lnSpc>
                <a:spcPct val="100000"/>
              </a:lnSpc>
              <a:spcAft>
                <a:spcPts val="0"/>
              </a:spcAft>
              <a:defRPr sz="885">
                <a:solidFill>
                  <a:srgbClr val="18273E"/>
                </a:solidFill>
              </a:defRPr>
            </a:pPr>
            <a:r>
              <a:rPr>
                <a:latin typeface="Calibri"/>
              </a:rPr>
              <a:t>Laboratory testing showed hemoglobin 11.7 g/dl, total leukocyte count 6,390/mm3 (neutrophils 62%, lymphocytes 28%), platelets 191,000/mm3, ESR 39 mm in the 1st hour, SGOT 35 U/L, SGPT 68 U/L, bilirubin 1 mg/dl, urea 21 mg/dl, creatinine 0.8 mg/dl, fasting glucose 80 mg/dl. Tests for HIV, hepatitis B and C, and syphilis were negative. Chest radiograph, ECG, and abdominal ultrasound were normal.</a:t>
            </a:r>
          </a:p>
        </p:txBody>
      </p:sp>
      <p:sp>
        <p:nvSpPr>
          <p:cNvPr id="10" name="Rectangle 9"/>
          <p:cNvSpPr/>
          <p:nvPr/>
        </p:nvSpPr>
        <p:spPr>
          <a:xfrm>
            <a:off x="4535424" y="1645920"/>
            <a:ext cx="3877056" cy="292608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rPr>
                <a:latin typeface="Calibri"/>
              </a:rPr>
              <a:t>Full blinded clinical input (continued)</a:t>
            </a:r>
          </a:p>
          <a:p>
            <a:pPr>
              <a:lnSpc>
                <a:spcPct val="100000"/>
              </a:lnSpc>
              <a:spcAft>
                <a:spcPts val="0"/>
              </a:spcAft>
              <a:defRPr sz="885">
                <a:solidFill>
                  <a:srgbClr val="18273E"/>
                </a:solidFill>
              </a:defRPr>
            </a:pPr>
            <a:r>
              <a:rPr>
                <a:latin typeface="Calibri"/>
              </a:rPr>
              <a:t>Relevant past history: in February 1999, during pregnancy she had fever, weight loss, anemia, and hepatomegaly and “was diagnosed as VL and treated with SSG injections 850 mg/day for 20 days.” Seven months after that illness she developed erythematous lesions on her forehead that spread over the face. In 2002 a dermatologist recorded papules and plaques over the cheeks, periorbital, and perioral areas that “were suspected as chronic dermatitis or cutaneous lupus erythematosus,” and she received topical, intralesional, and oral corticosteroids. In 2007 a WHO consultant for kala azar “suspected PKDL.” Skin biopsies performed in 2006, 2010, and 2013 “failed to confirm leishmaniasis,” and no firm diagnosis had been recorded.</a:t>
            </a:r>
          </a:p>
        </p:txBody>
      </p:sp>
      <p:sp>
        <p:nvSpPr>
          <p:cNvPr id="11" name="TextBox 10"/>
          <p:cNvSpPr txBox="1"/>
          <p:nvPr/>
        </p:nvSpPr>
        <p:spPr>
          <a:xfrm>
            <a:off x="502920" y="4590288"/>
            <a:ext cx="7635240" cy="182880"/>
          </a:xfrm>
          <a:prstGeom prst="rect">
            <a:avLst/>
          </a:prstGeom>
          <a:noFill/>
        </p:spPr>
        <p:txBody>
          <a:bodyPr wrap="square" lIns="73152" rIns="73152" tIns="36576" bIns="36576">
            <a:noAutofit/>
          </a:bodyPr>
          <a:lstStyle/>
          <a:p>
            <a:pPr>
              <a:lnSpc>
                <a:spcPct val="108000"/>
              </a:lnSpc>
              <a:defRPr sz="740" b="0">
                <a:solidFill>
                  <a:srgbClr val="536071"/>
                </a:solidFill>
              </a:defRPr>
            </a:pPr>
            <a:r>
              <a:rPr>
                <a:latin typeface="Calibri"/>
              </a:rPr>
              <a:t>Full blinded clinical input: diagnosis, title, abstract, captions, and confirmatory findings withheld.</a:t>
            </a:r>
          </a:p>
        </p:txBody>
      </p:sp>
      <p:sp>
        <p:nvSpPr>
          <p:cNvPr id="12" name="TextBox 11"/>
          <p:cNvSpPr txBox="1"/>
          <p:nvPr/>
        </p:nvSpPr>
        <p:spPr>
          <a:xfrm>
            <a:off x="502920" y="4828032"/>
            <a:ext cx="502920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Live case inspection - fresh local-GPU demo output</a:t>
            </a:r>
          </a:p>
        </p:txBody>
      </p:sp>
      <p:sp>
        <p:nvSpPr>
          <p:cNvPr id="13" name="Page badge 21"/>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Page badge 21"/>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21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APPENDIX CASE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Full Blinded Input: PMC10026180_04</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69164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CASE ID</a:t>
            </a:r>
          </a:p>
          <a:p>
            <a:pPr>
              <a:defRPr sz="1100" b="1">
                <a:solidFill>
                  <a:srgbClr val="18273E"/>
                </a:solidFill>
              </a:defRPr>
            </a:pPr>
            <a:r>
              <a:rPr>
                <a:latin typeface="Calibri"/>
              </a:rPr>
              <a:t>PMC10026180_04</a:t>
            </a:r>
          </a:p>
        </p:txBody>
      </p:sp>
      <p:sp>
        <p:nvSpPr>
          <p:cNvPr id="6" name="Rectangle 5"/>
          <p:cNvSpPr/>
          <p:nvPr/>
        </p:nvSpPr>
        <p:spPr>
          <a:xfrm>
            <a:off x="2331720" y="1143000"/>
            <a:ext cx="14630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INPUT MODE</a:t>
            </a:r>
          </a:p>
          <a:p>
            <a:pPr>
              <a:defRPr sz="1100" b="1">
                <a:solidFill>
                  <a:srgbClr val="18273E"/>
                </a:solidFill>
              </a:defRPr>
            </a:pPr>
            <a:r>
              <a:rPr>
                <a:latin typeface="Calibri"/>
              </a:rPr>
              <a:t>Text + image</a:t>
            </a:r>
          </a:p>
        </p:txBody>
      </p:sp>
      <p:sp>
        <p:nvSpPr>
          <p:cNvPr id="7" name="Rectangle 6"/>
          <p:cNvSpPr/>
          <p:nvPr/>
        </p:nvSpPr>
        <p:spPr>
          <a:xfrm>
            <a:off x="3931920" y="1143000"/>
            <a:ext cx="2057400"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SOURCE</a:t>
            </a:r>
          </a:p>
          <a:p>
            <a:pPr>
              <a:defRPr sz="1100" b="1">
                <a:solidFill>
                  <a:srgbClr val="18273E"/>
                </a:solidFill>
              </a:defRPr>
            </a:pPr>
            <a:r>
              <a:rPr>
                <a:latin typeface="Calibri"/>
              </a:rPr>
              <a:t>Held-out query</a:t>
            </a:r>
          </a:p>
        </p:txBody>
      </p:sp>
      <p:sp>
        <p:nvSpPr>
          <p:cNvPr id="8" name="Rectangle 7"/>
          <p:cNvSpPr/>
          <p:nvPr/>
        </p:nvSpPr>
        <p:spPr>
          <a:xfrm>
            <a:off x="6126480" y="1143000"/>
            <a:ext cx="228600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USE</a:t>
            </a:r>
          </a:p>
          <a:p>
            <a:pPr>
              <a:defRPr sz="1100" b="1">
                <a:solidFill>
                  <a:srgbClr val="18273E"/>
                </a:solidFill>
              </a:defRPr>
            </a:pPr>
            <a:r>
              <a:rPr>
                <a:latin typeface="Calibri"/>
              </a:rPr>
              <a:t>Q&amp;A appendix</a:t>
            </a:r>
          </a:p>
        </p:txBody>
      </p:sp>
      <p:sp>
        <p:nvSpPr>
          <p:cNvPr id="9" name="Rectangle 8"/>
          <p:cNvSpPr/>
          <p:nvPr/>
        </p:nvSpPr>
        <p:spPr>
          <a:xfrm>
            <a:off x="502920" y="1645920"/>
            <a:ext cx="5687568" cy="292608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rPr>
                <a:latin typeface="Calibri"/>
              </a:rPr>
              <a:t>Full blinded clinical input</a:t>
            </a:r>
          </a:p>
          <a:p>
            <a:pPr>
              <a:lnSpc>
                <a:spcPct val="100000"/>
              </a:lnSpc>
              <a:spcAft>
                <a:spcPts val="0"/>
              </a:spcAft>
              <a:defRPr sz="875">
                <a:solidFill>
                  <a:srgbClr val="18273E"/>
                </a:solidFill>
              </a:defRPr>
            </a:pPr>
            <a:r>
              <a:rPr>
                <a:latin typeface="Calibri"/>
              </a:rPr>
              <a:t>An 11-year-old Arab girl with a known diagnosis of ataxia telangiectasia (diagnosed at 1 year) presented with a spreading skin rash on her nose that extended to the nostrils and her left cheek. Family history included consanguineous parents and another sibling with AT. Her childhood course included ataxia, recurrent lung and ear infections, sclerosing cholangitis, hypothyroidism, and later diffuse large B‑cell lymphoma. She used a wheelchair and had multiple café‑au‑lait spots and telangiectasias. Immunologic testing showed a decreased immunoglobulin level (IgG 516 mg/L) with lymphocyte count and function reported as normal. Her baseline therapies included monthly IVIG, inhaled budesonide and fluticasone, and levothyroxine.</a:t>
            </a:r>
          </a:p>
          <a:p>
            <a:pPr>
              <a:lnSpc>
                <a:spcPct val="100000"/>
              </a:lnSpc>
              <a:spcAft>
                <a:spcPts val="0"/>
              </a:spcAft>
              <a:defRPr sz="875">
                <a:solidFill>
                  <a:srgbClr val="18273E"/>
                </a:solidFill>
              </a:defRPr>
            </a:pPr>
          </a:p>
          <a:p>
            <a:pPr>
              <a:lnSpc>
                <a:spcPct val="100000"/>
              </a:lnSpc>
              <a:spcAft>
                <a:spcPts val="0"/>
              </a:spcAft>
              <a:defRPr sz="875">
                <a:solidFill>
                  <a:srgbClr val="18273E"/>
                </a:solidFill>
              </a:defRPr>
            </a:pPr>
            <a:r>
              <a:rPr>
                <a:latin typeface="Calibri"/>
              </a:rPr>
              <a:t>Initially she received amoxicillin–clavulanic acid and topical chloramphenicol without clinical response. On examination, the tip of the nose had an erythematous plaque with a central erosion and a circinate‑elevated border with overlying scattered pustules; the nose bridge and nostrils had small erythematous erosions. An atypical infection was considered.</a:t>
            </a:r>
          </a:p>
        </p:txBody>
      </p:sp>
      <p:pic>
        <p:nvPicPr>
          <p:cNvPr id="10" name="Picture 9" descr="PMC10026180_04_input.png"/>
          <p:cNvPicPr>
            <a:picLocks noChangeAspect="1"/>
          </p:cNvPicPr>
          <p:nvPr/>
        </p:nvPicPr>
        <p:blipFill>
          <a:blip r:embed="rId2"/>
          <a:stretch>
            <a:fillRect/>
          </a:stretch>
        </p:blipFill>
        <p:spPr>
          <a:xfrm>
            <a:off x="6382512" y="2401857"/>
            <a:ext cx="1783080" cy="1149029"/>
          </a:xfrm>
          <a:prstGeom prst="rect">
            <a:avLst/>
          </a:prstGeom>
        </p:spPr>
      </p:pic>
      <p:sp>
        <p:nvSpPr>
          <p:cNvPr id="11" name="TextBox 10"/>
          <p:cNvSpPr txBox="1"/>
          <p:nvPr/>
        </p:nvSpPr>
        <p:spPr>
          <a:xfrm>
            <a:off x="6382512" y="3941064"/>
            <a:ext cx="1783080" cy="201168"/>
          </a:xfrm>
          <a:prstGeom prst="rect">
            <a:avLst/>
          </a:prstGeom>
          <a:noFill/>
        </p:spPr>
        <p:txBody>
          <a:bodyPr wrap="square" lIns="73152" rIns="73152" tIns="36576" bIns="36576">
            <a:noAutofit/>
          </a:bodyPr>
          <a:lstStyle/>
          <a:p>
            <a:pPr>
              <a:lnSpc>
                <a:spcPct val="108000"/>
              </a:lnSpc>
              <a:defRPr sz="750" b="1">
                <a:solidFill>
                  <a:srgbClr val="536071"/>
                </a:solidFill>
              </a:defRPr>
            </a:pPr>
            <a:r>
              <a:rPr>
                <a:latin typeface="Calibri"/>
              </a:rPr>
              <a:t>Input image used in test</a:t>
            </a:r>
          </a:p>
        </p:txBody>
      </p:sp>
      <p:sp>
        <p:nvSpPr>
          <p:cNvPr id="12" name="TextBox 11"/>
          <p:cNvSpPr txBox="1"/>
          <p:nvPr/>
        </p:nvSpPr>
        <p:spPr>
          <a:xfrm>
            <a:off x="502920" y="4590288"/>
            <a:ext cx="7635240" cy="182880"/>
          </a:xfrm>
          <a:prstGeom prst="rect">
            <a:avLst/>
          </a:prstGeom>
          <a:noFill/>
        </p:spPr>
        <p:txBody>
          <a:bodyPr wrap="square" lIns="73152" rIns="73152" tIns="36576" bIns="36576">
            <a:noAutofit/>
          </a:bodyPr>
          <a:lstStyle/>
          <a:p>
            <a:pPr>
              <a:lnSpc>
                <a:spcPct val="108000"/>
              </a:lnSpc>
              <a:defRPr sz="740" b="0">
                <a:solidFill>
                  <a:srgbClr val="536071"/>
                </a:solidFill>
              </a:defRPr>
            </a:pPr>
            <a:r>
              <a:rPr>
                <a:latin typeface="Calibri"/>
              </a:rPr>
              <a:t>Full blinded clinical input: diagnosis, title, abstract, captions, and confirmatory findings withheld.</a:t>
            </a:r>
          </a:p>
        </p:txBody>
      </p:sp>
      <p:sp>
        <p:nvSpPr>
          <p:cNvPr id="13" name="TextBox 12"/>
          <p:cNvSpPr txBox="1"/>
          <p:nvPr/>
        </p:nvSpPr>
        <p:spPr>
          <a:xfrm>
            <a:off x="502920" y="4828032"/>
            <a:ext cx="502920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Live case inspection - fresh local-GPU demo output</a:t>
            </a:r>
          </a:p>
        </p:txBody>
      </p:sp>
      <p:sp>
        <p:nvSpPr>
          <p:cNvPr id="14" name="Page badge 22"/>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Page badge 22"/>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22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APPENDIX EXPERIMENT-PIPELINE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Gemma 4 RAG/No-RAG Backup: PMC7516301_01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783080" cy="45720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CASE ID</a:t>
            </a:r>
          </a:p>
          <a:p>
            <a:pPr>
              <a:defRPr sz="1100" b="1">
                <a:solidFill>
                  <a:srgbClr val="18273E"/>
                </a:solidFill>
              </a:defRPr>
            </a:pPr>
            <a:r>
              <a:rPr>
                <a:latin typeface="Calibri"/>
              </a:rPr>
              <a:t>PMC7516301_01</a:t>
            </a:r>
          </a:p>
        </p:txBody>
      </p:sp>
      <p:sp>
        <p:nvSpPr>
          <p:cNvPr id="6" name="Rectangle 5"/>
          <p:cNvSpPr/>
          <p:nvPr/>
        </p:nvSpPr>
        <p:spPr>
          <a:xfrm>
            <a:off x="2423160" y="1143000"/>
            <a:ext cx="1691640" cy="45720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SILVER REFERENCE</a:t>
            </a:r>
          </a:p>
          <a:p>
            <a:pPr>
              <a:defRPr sz="1100" b="1">
                <a:solidFill>
                  <a:srgbClr val="18273E"/>
                </a:solidFill>
              </a:defRPr>
            </a:pPr>
            <a:r>
              <a:rPr>
                <a:latin typeface="Calibri"/>
              </a:rPr>
              <a:t>MCL</a:t>
            </a:r>
          </a:p>
        </p:txBody>
      </p:sp>
      <p:sp>
        <p:nvSpPr>
          <p:cNvPr id="7" name="Rectangle 6"/>
          <p:cNvSpPr/>
          <p:nvPr/>
        </p:nvSpPr>
        <p:spPr>
          <a:xfrm>
            <a:off x="4251960" y="1143000"/>
            <a:ext cx="1920240" cy="457200"/>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USE</a:t>
            </a:r>
          </a:p>
          <a:p>
            <a:pPr>
              <a:defRPr sz="1100" b="1">
                <a:solidFill>
                  <a:srgbClr val="18273E"/>
                </a:solidFill>
              </a:defRPr>
            </a:pPr>
            <a:r>
              <a:rPr>
                <a:latin typeface="Calibri"/>
              </a:rPr>
              <a:t>Q&amp;A backup only</a:t>
            </a:r>
          </a:p>
        </p:txBody>
      </p:sp>
      <p:sp>
        <p:nvSpPr>
          <p:cNvPr id="8" name="Rectangle 7"/>
          <p:cNvSpPr/>
          <p:nvPr/>
        </p:nvSpPr>
        <p:spPr>
          <a:xfrm>
            <a:off x="6309360" y="1143000"/>
            <a:ext cx="2103120" cy="45720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SOURCE</a:t>
            </a:r>
          </a:p>
          <a:p>
            <a:pPr>
              <a:defRPr sz="1100" b="1">
                <a:solidFill>
                  <a:srgbClr val="18273E"/>
                </a:solidFill>
              </a:defRPr>
            </a:pPr>
            <a:r>
              <a:rPr>
                <a:latin typeface="Calibri"/>
              </a:rPr>
              <a:t>Gemma 4 pipeline</a:t>
            </a:r>
          </a:p>
        </p:txBody>
      </p:sp>
      <p:sp>
        <p:nvSpPr>
          <p:cNvPr id="9" name="TextBox 8"/>
          <p:cNvSpPr txBox="1"/>
          <p:nvPr/>
        </p:nvSpPr>
        <p:spPr>
          <a:xfrm>
            <a:off x="502920" y="1700784"/>
            <a:ext cx="7909560" cy="219456"/>
          </a:xfrm>
          <a:prstGeom prst="rect">
            <a:avLst/>
          </a:prstGeom>
          <a:noFill/>
        </p:spPr>
        <p:txBody>
          <a:bodyPr wrap="square" lIns="73152" rIns="73152" tIns="36576" bIns="36576">
            <a:noAutofit/>
          </a:bodyPr>
          <a:lstStyle/>
          <a:p>
            <a:pPr>
              <a:lnSpc>
                <a:spcPct val="108000"/>
              </a:lnSpc>
              <a:defRPr sz="850" b="0">
                <a:solidFill>
                  <a:srgbClr val="536071"/>
                </a:solidFill>
              </a:defRPr>
            </a:pPr>
            <a:r>
              <a:rPr>
                <a:latin typeface="Calibri"/>
              </a:rPr>
              <a:t>Source: official Gemma 4 experiment-pipeline comparison; same held-out case ID, Q1/Q3 multimodal query type.</a:t>
            </a:r>
          </a:p>
        </p:txBody>
      </p:sp>
      <p:sp>
        <p:nvSpPr>
          <p:cNvPr id="10" name="Rectangle 9"/>
          <p:cNvSpPr/>
          <p:nvPr/>
        </p:nvSpPr>
        <p:spPr>
          <a:xfrm>
            <a:off x="502920" y="2029968"/>
            <a:ext cx="3840480" cy="1417320"/>
          </a:xfrm>
          <a:prstGeom prst="rect">
            <a:avLst/>
          </a:prstGeom>
          <a:solidFill>
            <a:srgbClr val="FCECE9"/>
          </a:solidFill>
          <a:ln w="12700">
            <a:solidFill>
              <a:srgbClr val="B03932"/>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B03932"/>
                </a:solidFill>
              </a:defRPr>
            </a:pPr>
            <a:r>
              <a:rPr>
                <a:latin typeface="Calibri"/>
              </a:rPr>
              <a:t>NO-RAG condition</a:t>
            </a:r>
          </a:p>
          <a:p>
            <a:pPr>
              <a:lnSpc>
                <a:spcPct val="105000"/>
              </a:lnSpc>
              <a:defRPr sz="830">
                <a:solidFill>
                  <a:srgbClr val="18273E"/>
                </a:solidFill>
              </a:defRPr>
            </a:pPr>
            <a:r>
              <a:rPr>
                <a:latin typeface="Calibri"/>
              </a:rPr>
              <a:t>Rank 1 type: Non-Leishmaniasis</a:t>
            </a:r>
          </a:p>
          <a:p>
            <a:pPr>
              <a:lnSpc>
                <a:spcPct val="105000"/>
              </a:lnSpc>
              <a:defRPr sz="830">
                <a:solidFill>
                  <a:srgbClr val="18273E"/>
                </a:solidFill>
              </a:defRPr>
            </a:pPr>
            <a:r>
              <a:rPr>
                <a:latin typeface="Calibri"/>
              </a:rPr>
              <a:t>Rank 1: Non-Leishmaniasis</a:t>
            </a:r>
          </a:p>
          <a:p>
            <a:pPr>
              <a:lnSpc>
                <a:spcPct val="105000"/>
              </a:lnSpc>
              <a:defRPr sz="830">
                <a:solidFill>
                  <a:srgbClr val="18273E"/>
                </a:solidFill>
              </a:defRPr>
            </a:pPr>
            <a:r>
              <a:rPr>
                <a:latin typeface="Calibri"/>
              </a:rPr>
              <a:t>Confidence: High</a:t>
            </a:r>
          </a:p>
          <a:p>
            <a:pPr>
              <a:lnSpc>
                <a:spcPct val="105000"/>
              </a:lnSpc>
              <a:defRPr sz="830">
                <a:solidFill>
                  <a:srgbClr val="18273E"/>
                </a:solidFill>
              </a:defRPr>
            </a:pPr>
            <a:r>
              <a:rPr>
                <a:latin typeface="Calibri"/>
              </a:rPr>
              <a:t>Retrieved context chunks: 0</a:t>
            </a:r>
          </a:p>
          <a:p>
            <a:pPr>
              <a:lnSpc>
                <a:spcPct val="105000"/>
              </a:lnSpc>
              <a:defRPr sz="830">
                <a:solidFill>
                  <a:srgbClr val="18273E"/>
                </a:solidFill>
              </a:defRPr>
            </a:pPr>
            <a:r>
              <a:rPr>
                <a:latin typeface="Calibri"/>
              </a:rPr>
              <a:t>Experiment pipeline: no retrieved context</a:t>
            </a:r>
          </a:p>
        </p:txBody>
      </p:sp>
      <p:sp>
        <p:nvSpPr>
          <p:cNvPr id="11" name="Rectangle 10"/>
          <p:cNvSpPr/>
          <p:nvPr/>
        </p:nvSpPr>
        <p:spPr>
          <a:xfrm>
            <a:off x="4572000" y="2029968"/>
            <a:ext cx="3840480" cy="141732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1C804A"/>
                </a:solidFill>
              </a:defRPr>
            </a:pPr>
            <a:r>
              <a:rPr>
                <a:latin typeface="Calibri"/>
              </a:rPr>
              <a:t>RAG condition</a:t>
            </a:r>
          </a:p>
          <a:p>
            <a:pPr>
              <a:lnSpc>
                <a:spcPct val="105000"/>
              </a:lnSpc>
              <a:defRPr sz="830">
                <a:solidFill>
                  <a:srgbClr val="18273E"/>
                </a:solidFill>
              </a:defRPr>
            </a:pPr>
            <a:r>
              <a:rPr>
                <a:latin typeface="Calibri"/>
              </a:rPr>
              <a:t>Rank 1 type: MCL</a:t>
            </a:r>
          </a:p>
          <a:p>
            <a:pPr>
              <a:lnSpc>
                <a:spcPct val="105000"/>
              </a:lnSpc>
              <a:defRPr sz="830">
                <a:solidFill>
                  <a:srgbClr val="18273E"/>
                </a:solidFill>
              </a:defRPr>
            </a:pPr>
            <a:r>
              <a:rPr>
                <a:latin typeface="Calibri"/>
              </a:rPr>
              <a:t>Rank 1: Mucosal Leishmaniasis (Mucocutaneous Leishmaniasis)</a:t>
            </a:r>
          </a:p>
          <a:p>
            <a:pPr>
              <a:lnSpc>
                <a:spcPct val="105000"/>
              </a:lnSpc>
              <a:defRPr sz="830">
                <a:solidFill>
                  <a:srgbClr val="18273E"/>
                </a:solidFill>
              </a:defRPr>
            </a:pPr>
            <a:r>
              <a:rPr>
                <a:latin typeface="Calibri"/>
              </a:rPr>
              <a:t>Confidence: High</a:t>
            </a:r>
          </a:p>
          <a:p>
            <a:pPr>
              <a:lnSpc>
                <a:spcPct val="105000"/>
              </a:lnSpc>
              <a:defRPr sz="830">
                <a:solidFill>
                  <a:srgbClr val="18273E"/>
                </a:solidFill>
              </a:defRPr>
            </a:pPr>
            <a:r>
              <a:rPr>
                <a:latin typeface="Calibri"/>
              </a:rPr>
              <a:t>Retrieved context chunks: 3</a:t>
            </a:r>
          </a:p>
          <a:p>
            <a:pPr>
              <a:lnSpc>
                <a:spcPct val="105000"/>
              </a:lnSpc>
              <a:defRPr sz="830">
                <a:solidFill>
                  <a:srgbClr val="18273E"/>
                </a:solidFill>
              </a:defRPr>
            </a:pPr>
            <a:r>
              <a:rPr>
                <a:latin typeface="Calibri"/>
              </a:rPr>
              <a:t>Experiment pipeline: retrieved context used</a:t>
            </a:r>
          </a:p>
        </p:txBody>
      </p:sp>
      <p:sp>
        <p:nvSpPr>
          <p:cNvPr id="12" name="Rectangle 11"/>
          <p:cNvSpPr/>
          <p:nvPr/>
        </p:nvSpPr>
        <p:spPr>
          <a:xfrm>
            <a:off x="502920" y="3657600"/>
            <a:ext cx="7909560" cy="9601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rPr>
                <a:latin typeface="Calibri"/>
              </a:rPr>
              <a:t>Presentation interpretation</a:t>
            </a:r>
          </a:p>
          <a:p>
            <a:pPr>
              <a:lnSpc>
                <a:spcPct val="105000"/>
              </a:lnSpc>
              <a:defRPr sz="860">
                <a:solidFill>
                  <a:srgbClr val="18273E"/>
                </a:solidFill>
              </a:defRPr>
            </a:pPr>
            <a:r>
              <a:rPr>
                <a:latin typeface="Calibri"/>
              </a:rPr>
              <a:t>Retrieval changed this selected backup example from Non-Leishmaniasis to MCL in the official Gemma 4 experiment-pipeline comparison.</a:t>
            </a:r>
          </a:p>
          <a:p>
            <a:pPr>
              <a:lnSpc>
                <a:spcPct val="105000"/>
              </a:lnSpc>
              <a:defRPr sz="860">
                <a:solidFill>
                  <a:srgbClr val="18273E"/>
                </a:solidFill>
              </a:defRPr>
            </a:pPr>
            <a:r>
              <a:rPr>
                <a:latin typeface="Calibri"/>
              </a:rPr>
              <a:t>Selected case-level backup only; aggregate thesis metrics remain the benchmark.</a:t>
            </a:r>
          </a:p>
          <a:p>
            <a:pPr>
              <a:lnSpc>
                <a:spcPct val="105000"/>
              </a:lnSpc>
              <a:defRPr sz="860">
                <a:solidFill>
                  <a:srgbClr val="18273E"/>
                </a:solidFill>
              </a:defRPr>
            </a:pPr>
            <a:r>
              <a:rPr>
                <a:latin typeface="Calibri"/>
              </a:rPr>
              <a:t>Not clinical validation and not diagnosis from image alone.</a:t>
            </a:r>
          </a:p>
        </p:txBody>
      </p:sp>
      <p:sp>
        <p:nvSpPr>
          <p:cNvPr id="13" name="TextBox 12"/>
          <p:cNvSpPr txBox="1"/>
          <p:nvPr/>
        </p:nvSpPr>
        <p:spPr>
          <a:xfrm>
            <a:off x="502920" y="4828032"/>
            <a:ext cx="612648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Q&amp;A appendix only - official Gemma 4 experiment-pipeline comparison</a:t>
            </a:r>
          </a:p>
        </p:txBody>
      </p:sp>
      <p:sp>
        <p:nvSpPr>
          <p:cNvPr id="14" name="Page badge 23"/>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Page badge 23"/>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23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APPENDIX EXPERIMENT-PIPELINE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Gemma 4 RAG/No-RAG Backup: PMC7456484_01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783080" cy="45720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CASE ID</a:t>
            </a:r>
          </a:p>
          <a:p>
            <a:pPr>
              <a:defRPr sz="1100" b="1">
                <a:solidFill>
                  <a:srgbClr val="18273E"/>
                </a:solidFill>
              </a:defRPr>
            </a:pPr>
            <a:r>
              <a:rPr>
                <a:latin typeface="Calibri"/>
              </a:rPr>
              <a:t>PMC7456484_01</a:t>
            </a:r>
          </a:p>
        </p:txBody>
      </p:sp>
      <p:sp>
        <p:nvSpPr>
          <p:cNvPr id="6" name="Rectangle 5"/>
          <p:cNvSpPr/>
          <p:nvPr/>
        </p:nvSpPr>
        <p:spPr>
          <a:xfrm>
            <a:off x="2423160" y="1143000"/>
            <a:ext cx="1691640" cy="45720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SILVER REFERENCE</a:t>
            </a:r>
          </a:p>
          <a:p>
            <a:pPr>
              <a:defRPr sz="1100" b="1">
                <a:solidFill>
                  <a:srgbClr val="18273E"/>
                </a:solidFill>
              </a:defRPr>
            </a:pPr>
            <a:r>
              <a:rPr>
                <a:latin typeface="Calibri"/>
              </a:rPr>
              <a:t>PKDL</a:t>
            </a:r>
          </a:p>
        </p:txBody>
      </p:sp>
      <p:sp>
        <p:nvSpPr>
          <p:cNvPr id="7" name="Rectangle 6"/>
          <p:cNvSpPr/>
          <p:nvPr/>
        </p:nvSpPr>
        <p:spPr>
          <a:xfrm>
            <a:off x="4251960" y="1143000"/>
            <a:ext cx="1920240" cy="457200"/>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USE</a:t>
            </a:r>
          </a:p>
          <a:p>
            <a:pPr>
              <a:defRPr sz="1100" b="1">
                <a:solidFill>
                  <a:srgbClr val="18273E"/>
                </a:solidFill>
              </a:defRPr>
            </a:pPr>
            <a:r>
              <a:rPr>
                <a:latin typeface="Calibri"/>
              </a:rPr>
              <a:t>Q&amp;A backup only</a:t>
            </a:r>
          </a:p>
        </p:txBody>
      </p:sp>
      <p:sp>
        <p:nvSpPr>
          <p:cNvPr id="8" name="Rectangle 7"/>
          <p:cNvSpPr/>
          <p:nvPr/>
        </p:nvSpPr>
        <p:spPr>
          <a:xfrm>
            <a:off x="6309360" y="1143000"/>
            <a:ext cx="2103120" cy="45720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SOURCE</a:t>
            </a:r>
          </a:p>
          <a:p>
            <a:pPr>
              <a:defRPr sz="1100" b="1">
                <a:solidFill>
                  <a:srgbClr val="18273E"/>
                </a:solidFill>
              </a:defRPr>
            </a:pPr>
            <a:r>
              <a:rPr>
                <a:latin typeface="Calibri"/>
              </a:rPr>
              <a:t>Gemma 4 pipeline</a:t>
            </a:r>
          </a:p>
        </p:txBody>
      </p:sp>
      <p:sp>
        <p:nvSpPr>
          <p:cNvPr id="9" name="TextBox 8"/>
          <p:cNvSpPr txBox="1"/>
          <p:nvPr/>
        </p:nvSpPr>
        <p:spPr>
          <a:xfrm>
            <a:off x="502920" y="1700784"/>
            <a:ext cx="7909560" cy="219456"/>
          </a:xfrm>
          <a:prstGeom prst="rect">
            <a:avLst/>
          </a:prstGeom>
          <a:noFill/>
        </p:spPr>
        <p:txBody>
          <a:bodyPr wrap="square" lIns="73152" rIns="73152" tIns="36576" bIns="36576">
            <a:noAutofit/>
          </a:bodyPr>
          <a:lstStyle/>
          <a:p>
            <a:pPr>
              <a:lnSpc>
                <a:spcPct val="108000"/>
              </a:lnSpc>
              <a:defRPr sz="850" b="0">
                <a:solidFill>
                  <a:srgbClr val="536071"/>
                </a:solidFill>
              </a:defRPr>
            </a:pPr>
            <a:r>
              <a:rPr>
                <a:latin typeface="Calibri"/>
              </a:rPr>
              <a:t>Source: official Gemma 4 experiment-pipeline comparison; same held-out case ID, Q1/Q3 multimodal query type.</a:t>
            </a:r>
          </a:p>
        </p:txBody>
      </p:sp>
      <p:sp>
        <p:nvSpPr>
          <p:cNvPr id="10" name="Rectangle 9"/>
          <p:cNvSpPr/>
          <p:nvPr/>
        </p:nvSpPr>
        <p:spPr>
          <a:xfrm>
            <a:off x="502920" y="2029968"/>
            <a:ext cx="3840480" cy="1417320"/>
          </a:xfrm>
          <a:prstGeom prst="rect">
            <a:avLst/>
          </a:prstGeom>
          <a:solidFill>
            <a:srgbClr val="FCECE9"/>
          </a:solidFill>
          <a:ln w="12700">
            <a:solidFill>
              <a:srgbClr val="B03932"/>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B03932"/>
                </a:solidFill>
              </a:defRPr>
            </a:pPr>
            <a:r>
              <a:rPr>
                <a:latin typeface="Calibri"/>
              </a:rPr>
              <a:t>NO-RAG condition</a:t>
            </a:r>
          </a:p>
          <a:p>
            <a:pPr>
              <a:lnSpc>
                <a:spcPct val="105000"/>
              </a:lnSpc>
              <a:defRPr sz="830">
                <a:solidFill>
                  <a:srgbClr val="18273E"/>
                </a:solidFill>
              </a:defRPr>
            </a:pPr>
            <a:r>
              <a:rPr>
                <a:latin typeface="Calibri"/>
              </a:rPr>
              <a:t>Rank 1 type: MCL</a:t>
            </a:r>
          </a:p>
          <a:p>
            <a:pPr>
              <a:lnSpc>
                <a:spcPct val="105000"/>
              </a:lnSpc>
              <a:defRPr sz="830">
                <a:solidFill>
                  <a:srgbClr val="18273E"/>
                </a:solidFill>
              </a:defRPr>
            </a:pPr>
            <a:r>
              <a:rPr>
                <a:latin typeface="Calibri"/>
              </a:rPr>
              <a:t>Rank 1: Mucocutaneous Leishmaniasis (MCL)</a:t>
            </a:r>
          </a:p>
          <a:p>
            <a:pPr>
              <a:lnSpc>
                <a:spcPct val="105000"/>
              </a:lnSpc>
              <a:defRPr sz="830">
                <a:solidFill>
                  <a:srgbClr val="18273E"/>
                </a:solidFill>
              </a:defRPr>
            </a:pPr>
            <a:r>
              <a:rPr>
                <a:latin typeface="Calibri"/>
              </a:rPr>
              <a:t>Confidence: High</a:t>
            </a:r>
          </a:p>
          <a:p>
            <a:pPr>
              <a:lnSpc>
                <a:spcPct val="105000"/>
              </a:lnSpc>
              <a:defRPr sz="830">
                <a:solidFill>
                  <a:srgbClr val="18273E"/>
                </a:solidFill>
              </a:defRPr>
            </a:pPr>
            <a:r>
              <a:rPr>
                <a:latin typeface="Calibri"/>
              </a:rPr>
              <a:t>Retrieved context chunks: 0</a:t>
            </a:r>
          </a:p>
          <a:p>
            <a:pPr>
              <a:lnSpc>
                <a:spcPct val="105000"/>
              </a:lnSpc>
              <a:defRPr sz="830">
                <a:solidFill>
                  <a:srgbClr val="18273E"/>
                </a:solidFill>
              </a:defRPr>
            </a:pPr>
            <a:r>
              <a:rPr>
                <a:latin typeface="Calibri"/>
              </a:rPr>
              <a:t>Experiment pipeline: no retrieved context</a:t>
            </a:r>
          </a:p>
        </p:txBody>
      </p:sp>
      <p:sp>
        <p:nvSpPr>
          <p:cNvPr id="11" name="Rectangle 10"/>
          <p:cNvSpPr/>
          <p:nvPr/>
        </p:nvSpPr>
        <p:spPr>
          <a:xfrm>
            <a:off x="4572000" y="2029968"/>
            <a:ext cx="3840480" cy="141732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1C804A"/>
                </a:solidFill>
              </a:defRPr>
            </a:pPr>
            <a:r>
              <a:rPr>
                <a:latin typeface="Calibri"/>
              </a:rPr>
              <a:t>RAG condition</a:t>
            </a:r>
          </a:p>
          <a:p>
            <a:pPr>
              <a:lnSpc>
                <a:spcPct val="105000"/>
              </a:lnSpc>
              <a:defRPr sz="830">
                <a:solidFill>
                  <a:srgbClr val="18273E"/>
                </a:solidFill>
              </a:defRPr>
            </a:pPr>
            <a:r>
              <a:rPr>
                <a:latin typeface="Calibri"/>
              </a:rPr>
              <a:t>Rank 1 type: MCL</a:t>
            </a:r>
          </a:p>
          <a:p>
            <a:pPr>
              <a:lnSpc>
                <a:spcPct val="105000"/>
              </a:lnSpc>
              <a:defRPr sz="830">
                <a:solidFill>
                  <a:srgbClr val="18273E"/>
                </a:solidFill>
              </a:defRPr>
            </a:pPr>
            <a:r>
              <a:rPr>
                <a:latin typeface="Calibri"/>
              </a:rPr>
              <a:t>Rank 1: Mucocutaneous Leishmaniasis (Mucocutaneous form)</a:t>
            </a:r>
          </a:p>
          <a:p>
            <a:pPr>
              <a:lnSpc>
                <a:spcPct val="105000"/>
              </a:lnSpc>
              <a:defRPr sz="830">
                <a:solidFill>
                  <a:srgbClr val="18273E"/>
                </a:solidFill>
              </a:defRPr>
            </a:pPr>
            <a:r>
              <a:rPr>
                <a:latin typeface="Calibri"/>
              </a:rPr>
              <a:t>Confidence: High</a:t>
            </a:r>
          </a:p>
          <a:p>
            <a:pPr>
              <a:lnSpc>
                <a:spcPct val="105000"/>
              </a:lnSpc>
              <a:defRPr sz="830">
                <a:solidFill>
                  <a:srgbClr val="18273E"/>
                </a:solidFill>
              </a:defRPr>
            </a:pPr>
            <a:r>
              <a:rPr>
                <a:latin typeface="Calibri"/>
              </a:rPr>
              <a:t>Retrieved context chunks: 1</a:t>
            </a:r>
          </a:p>
          <a:p>
            <a:pPr>
              <a:lnSpc>
                <a:spcPct val="105000"/>
              </a:lnSpc>
              <a:defRPr sz="830">
                <a:solidFill>
                  <a:srgbClr val="18273E"/>
                </a:solidFill>
              </a:defRPr>
            </a:pPr>
            <a:r>
              <a:rPr>
                <a:latin typeface="Calibri"/>
              </a:rPr>
              <a:t>Experiment pipeline: retrieved context used</a:t>
            </a:r>
          </a:p>
        </p:txBody>
      </p:sp>
      <p:sp>
        <p:nvSpPr>
          <p:cNvPr id="12" name="Rectangle 11"/>
          <p:cNvSpPr/>
          <p:nvPr/>
        </p:nvSpPr>
        <p:spPr>
          <a:xfrm>
            <a:off x="502920" y="3657600"/>
            <a:ext cx="7909560" cy="9601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rPr>
                <a:latin typeface="Calibri"/>
              </a:rPr>
              <a:t>Presentation interpretation</a:t>
            </a:r>
          </a:p>
          <a:p>
            <a:pPr>
              <a:lnSpc>
                <a:spcPct val="105000"/>
              </a:lnSpc>
              <a:defRPr sz="860">
                <a:solidFill>
                  <a:srgbClr val="18273E"/>
                </a:solidFill>
              </a:defRPr>
            </a:pPr>
            <a:r>
              <a:rPr>
                <a:latin typeface="Calibri"/>
              </a:rPr>
              <a:t>Both conditions remain inside the leishmaniasis family but miss the PKDL subtype, so this remains a subtype-resolution challenge.</a:t>
            </a:r>
          </a:p>
          <a:p>
            <a:pPr>
              <a:lnSpc>
                <a:spcPct val="105000"/>
              </a:lnSpc>
              <a:defRPr sz="860">
                <a:solidFill>
                  <a:srgbClr val="18273E"/>
                </a:solidFill>
              </a:defRPr>
            </a:pPr>
            <a:r>
              <a:rPr>
                <a:latin typeface="Calibri"/>
              </a:rPr>
              <a:t>Selected case-level backup only; aggregate thesis metrics remain the benchmark.</a:t>
            </a:r>
          </a:p>
          <a:p>
            <a:pPr>
              <a:lnSpc>
                <a:spcPct val="105000"/>
              </a:lnSpc>
              <a:defRPr sz="860">
                <a:solidFill>
                  <a:srgbClr val="18273E"/>
                </a:solidFill>
              </a:defRPr>
            </a:pPr>
            <a:r>
              <a:rPr>
                <a:latin typeface="Calibri"/>
              </a:rPr>
              <a:t>Not clinical validation and not diagnosis from image alone.</a:t>
            </a:r>
          </a:p>
        </p:txBody>
      </p:sp>
      <p:sp>
        <p:nvSpPr>
          <p:cNvPr id="13" name="TextBox 12"/>
          <p:cNvSpPr txBox="1"/>
          <p:nvPr/>
        </p:nvSpPr>
        <p:spPr>
          <a:xfrm>
            <a:off x="502920" y="4828032"/>
            <a:ext cx="612648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Q&amp;A appendix only - official Gemma 4 experiment-pipeline comparison</a:t>
            </a:r>
          </a:p>
        </p:txBody>
      </p:sp>
      <p:sp>
        <p:nvSpPr>
          <p:cNvPr id="14" name="Page badge 24"/>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Page badge 24"/>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24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APPENDIX EXPERIMENT-PIPELINE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Gemma 4 RAG/No-RAG Backup: PMC10026180_04</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783080" cy="457200"/>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CASE ID</a:t>
            </a:r>
          </a:p>
          <a:p>
            <a:pPr>
              <a:defRPr sz="1100" b="1">
                <a:solidFill>
                  <a:srgbClr val="18273E"/>
                </a:solidFill>
              </a:defRPr>
            </a:pPr>
            <a:r>
              <a:rPr>
                <a:latin typeface="Calibri"/>
              </a:rPr>
              <a:t>PMC10026180_04</a:t>
            </a:r>
          </a:p>
        </p:txBody>
      </p:sp>
      <p:sp>
        <p:nvSpPr>
          <p:cNvPr id="6" name="Rectangle 5"/>
          <p:cNvSpPr/>
          <p:nvPr/>
        </p:nvSpPr>
        <p:spPr>
          <a:xfrm>
            <a:off x="2423160" y="1143000"/>
            <a:ext cx="1691640" cy="45720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SILVER REFERENCE</a:t>
            </a:r>
          </a:p>
          <a:p>
            <a:pPr>
              <a:defRPr sz="1100" b="1">
                <a:solidFill>
                  <a:srgbClr val="18273E"/>
                </a:solidFill>
              </a:defRPr>
            </a:pPr>
            <a:r>
              <a:rPr>
                <a:latin typeface="Calibri"/>
              </a:rPr>
              <a:t>verified Non-Leish / pseudolabel CL</a:t>
            </a:r>
          </a:p>
        </p:txBody>
      </p:sp>
      <p:sp>
        <p:nvSpPr>
          <p:cNvPr id="7" name="Rectangle 6"/>
          <p:cNvSpPr/>
          <p:nvPr/>
        </p:nvSpPr>
        <p:spPr>
          <a:xfrm>
            <a:off x="4251960" y="1143000"/>
            <a:ext cx="1920240" cy="457200"/>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USE</a:t>
            </a:r>
          </a:p>
          <a:p>
            <a:pPr>
              <a:defRPr sz="1100" b="1">
                <a:solidFill>
                  <a:srgbClr val="18273E"/>
                </a:solidFill>
              </a:defRPr>
            </a:pPr>
            <a:r>
              <a:rPr>
                <a:latin typeface="Calibri"/>
              </a:rPr>
              <a:t>Q&amp;A backup only</a:t>
            </a:r>
          </a:p>
        </p:txBody>
      </p:sp>
      <p:sp>
        <p:nvSpPr>
          <p:cNvPr id="8" name="Rectangle 7"/>
          <p:cNvSpPr/>
          <p:nvPr/>
        </p:nvSpPr>
        <p:spPr>
          <a:xfrm>
            <a:off x="6309360" y="1143000"/>
            <a:ext cx="2103120" cy="45720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SOURCE</a:t>
            </a:r>
          </a:p>
          <a:p>
            <a:pPr>
              <a:defRPr sz="1100" b="1">
                <a:solidFill>
                  <a:srgbClr val="18273E"/>
                </a:solidFill>
              </a:defRPr>
            </a:pPr>
            <a:r>
              <a:rPr>
                <a:latin typeface="Calibri"/>
              </a:rPr>
              <a:t>Gemma 4 pipeline</a:t>
            </a:r>
          </a:p>
        </p:txBody>
      </p:sp>
      <p:sp>
        <p:nvSpPr>
          <p:cNvPr id="9" name="TextBox 8"/>
          <p:cNvSpPr txBox="1"/>
          <p:nvPr/>
        </p:nvSpPr>
        <p:spPr>
          <a:xfrm>
            <a:off x="502920" y="1700784"/>
            <a:ext cx="7909560" cy="219456"/>
          </a:xfrm>
          <a:prstGeom prst="rect">
            <a:avLst/>
          </a:prstGeom>
          <a:noFill/>
        </p:spPr>
        <p:txBody>
          <a:bodyPr wrap="square" lIns="73152" rIns="73152" tIns="36576" bIns="36576">
            <a:noAutofit/>
          </a:bodyPr>
          <a:lstStyle/>
          <a:p>
            <a:pPr>
              <a:lnSpc>
                <a:spcPct val="108000"/>
              </a:lnSpc>
              <a:defRPr sz="850" b="0">
                <a:solidFill>
                  <a:srgbClr val="536071"/>
                </a:solidFill>
              </a:defRPr>
            </a:pPr>
            <a:r>
              <a:rPr>
                <a:latin typeface="Calibri"/>
              </a:rPr>
              <a:t>Source: official Gemma 4 experiment-pipeline comparison; same held-out case ID, Q1/Q3 multimodal query type.</a:t>
            </a:r>
          </a:p>
        </p:txBody>
      </p:sp>
      <p:sp>
        <p:nvSpPr>
          <p:cNvPr id="10" name="Rectangle 9"/>
          <p:cNvSpPr/>
          <p:nvPr/>
        </p:nvSpPr>
        <p:spPr>
          <a:xfrm>
            <a:off x="502920" y="2029968"/>
            <a:ext cx="3840480" cy="1417320"/>
          </a:xfrm>
          <a:prstGeom prst="rect">
            <a:avLst/>
          </a:prstGeom>
          <a:solidFill>
            <a:srgbClr val="FCECE9"/>
          </a:solidFill>
          <a:ln w="12700">
            <a:solidFill>
              <a:srgbClr val="B03932"/>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B03932"/>
                </a:solidFill>
              </a:defRPr>
            </a:pPr>
            <a:r>
              <a:rPr>
                <a:latin typeface="Calibri"/>
              </a:rPr>
              <a:t>NO-RAG condition</a:t>
            </a:r>
          </a:p>
          <a:p>
            <a:pPr>
              <a:lnSpc>
                <a:spcPct val="105000"/>
              </a:lnSpc>
              <a:defRPr sz="830">
                <a:solidFill>
                  <a:srgbClr val="18273E"/>
                </a:solidFill>
              </a:defRPr>
            </a:pPr>
            <a:r>
              <a:rPr>
                <a:latin typeface="Calibri"/>
              </a:rPr>
              <a:t>Rank 1 type: Non-Leishmaniasis</a:t>
            </a:r>
          </a:p>
          <a:p>
            <a:pPr>
              <a:lnSpc>
                <a:spcPct val="105000"/>
              </a:lnSpc>
              <a:defRPr sz="830">
                <a:solidFill>
                  <a:srgbClr val="18273E"/>
                </a:solidFill>
              </a:defRPr>
            </a:pPr>
            <a:r>
              <a:rPr>
                <a:latin typeface="Calibri"/>
              </a:rPr>
              <a:t>Rank 1: Mucocutaneous infection/Inflammatory dermatosis secondary to underlying i...</a:t>
            </a:r>
          </a:p>
          <a:p>
            <a:pPr>
              <a:lnSpc>
                <a:spcPct val="105000"/>
              </a:lnSpc>
              <a:defRPr sz="830">
                <a:solidFill>
                  <a:srgbClr val="18273E"/>
                </a:solidFill>
              </a:defRPr>
            </a:pPr>
            <a:r>
              <a:rPr>
                <a:latin typeface="Calibri"/>
              </a:rPr>
              <a:t>Confidence: High</a:t>
            </a:r>
          </a:p>
          <a:p>
            <a:pPr>
              <a:lnSpc>
                <a:spcPct val="105000"/>
              </a:lnSpc>
              <a:defRPr sz="830">
                <a:solidFill>
                  <a:srgbClr val="18273E"/>
                </a:solidFill>
              </a:defRPr>
            </a:pPr>
            <a:r>
              <a:rPr>
                <a:latin typeface="Calibri"/>
              </a:rPr>
              <a:t>Retrieved context chunks: 0</a:t>
            </a:r>
          </a:p>
          <a:p>
            <a:pPr>
              <a:lnSpc>
                <a:spcPct val="105000"/>
              </a:lnSpc>
              <a:defRPr sz="830">
                <a:solidFill>
                  <a:srgbClr val="18273E"/>
                </a:solidFill>
              </a:defRPr>
            </a:pPr>
            <a:r>
              <a:rPr>
                <a:latin typeface="Calibri"/>
              </a:rPr>
              <a:t>Experiment pipeline: no retrieved context</a:t>
            </a:r>
          </a:p>
        </p:txBody>
      </p:sp>
      <p:sp>
        <p:nvSpPr>
          <p:cNvPr id="11" name="Rectangle 10"/>
          <p:cNvSpPr/>
          <p:nvPr/>
        </p:nvSpPr>
        <p:spPr>
          <a:xfrm>
            <a:off x="4572000" y="2029968"/>
            <a:ext cx="3840480" cy="1417320"/>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1C804A"/>
                </a:solidFill>
              </a:defRPr>
            </a:pPr>
            <a:r>
              <a:rPr>
                <a:latin typeface="Calibri"/>
              </a:rPr>
              <a:t>RAG condition</a:t>
            </a:r>
          </a:p>
          <a:p>
            <a:pPr>
              <a:lnSpc>
                <a:spcPct val="105000"/>
              </a:lnSpc>
              <a:defRPr sz="830">
                <a:solidFill>
                  <a:srgbClr val="18273E"/>
                </a:solidFill>
              </a:defRPr>
            </a:pPr>
            <a:r>
              <a:rPr>
                <a:latin typeface="Calibri"/>
              </a:rPr>
              <a:t>Rank 1 type: Non-Leishmaniasis</a:t>
            </a:r>
          </a:p>
          <a:p>
            <a:pPr>
              <a:lnSpc>
                <a:spcPct val="105000"/>
              </a:lnSpc>
              <a:defRPr sz="830">
                <a:solidFill>
                  <a:srgbClr val="18273E"/>
                </a:solidFill>
              </a:defRPr>
            </a:pPr>
            <a:r>
              <a:rPr>
                <a:latin typeface="Calibri"/>
              </a:rPr>
              <a:t>Rank 1: Mucocutaneous infection/Inflammatory dermatosis secondary to underlying i...</a:t>
            </a:r>
          </a:p>
          <a:p>
            <a:pPr>
              <a:lnSpc>
                <a:spcPct val="105000"/>
              </a:lnSpc>
              <a:defRPr sz="830">
                <a:solidFill>
                  <a:srgbClr val="18273E"/>
                </a:solidFill>
              </a:defRPr>
            </a:pPr>
            <a:r>
              <a:rPr>
                <a:latin typeface="Calibri"/>
              </a:rPr>
              <a:t>Confidence: High</a:t>
            </a:r>
          </a:p>
          <a:p>
            <a:pPr>
              <a:lnSpc>
                <a:spcPct val="105000"/>
              </a:lnSpc>
              <a:defRPr sz="830">
                <a:solidFill>
                  <a:srgbClr val="18273E"/>
                </a:solidFill>
              </a:defRPr>
            </a:pPr>
            <a:r>
              <a:rPr>
                <a:latin typeface="Calibri"/>
              </a:rPr>
              <a:t>Retrieved context chunks: 0</a:t>
            </a:r>
          </a:p>
          <a:p>
            <a:pPr>
              <a:lnSpc>
                <a:spcPct val="105000"/>
              </a:lnSpc>
              <a:defRPr sz="830">
                <a:solidFill>
                  <a:srgbClr val="18273E"/>
                </a:solidFill>
              </a:defRPr>
            </a:pPr>
            <a:r>
              <a:rPr>
                <a:latin typeface="Calibri"/>
              </a:rPr>
              <a:t>Experiment pipeline: retrieved context used</a:t>
            </a:r>
          </a:p>
        </p:txBody>
      </p:sp>
      <p:sp>
        <p:nvSpPr>
          <p:cNvPr id="12" name="Rectangle 11"/>
          <p:cNvSpPr/>
          <p:nvPr/>
        </p:nvSpPr>
        <p:spPr>
          <a:xfrm>
            <a:off x="502920" y="3657600"/>
            <a:ext cx="7909560" cy="9601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285B9D"/>
                </a:solidFill>
              </a:defRPr>
            </a:pPr>
            <a:r>
              <a:rPr>
                <a:latin typeface="Calibri"/>
              </a:rPr>
              <a:t>Presentation interpretation</a:t>
            </a:r>
          </a:p>
          <a:p>
            <a:pPr>
              <a:lnSpc>
                <a:spcPct val="105000"/>
              </a:lnSpc>
              <a:defRPr sz="860">
                <a:solidFill>
                  <a:srgbClr val="18273E"/>
                </a:solidFill>
              </a:defRPr>
            </a:pPr>
            <a:r>
              <a:rPr>
                <a:latin typeface="Calibri"/>
              </a:rPr>
              <a:t>The official comparison returns Non-Leishmaniasis in both conditions, but the full-text live demo and LLM council reviews make this a label-conflict/evidence-attribution stress test, not specificity proof.</a:t>
            </a:r>
          </a:p>
          <a:p>
            <a:pPr>
              <a:lnSpc>
                <a:spcPct val="105000"/>
              </a:lnSpc>
              <a:defRPr sz="860">
                <a:solidFill>
                  <a:srgbClr val="18273E"/>
                </a:solidFill>
              </a:defRPr>
            </a:pPr>
            <a:r>
              <a:rPr>
                <a:latin typeface="Calibri"/>
              </a:rPr>
              <a:t>Selected case-level backup only; aggregate thesis metrics remain the benchmark.</a:t>
            </a:r>
          </a:p>
          <a:p>
            <a:pPr>
              <a:lnSpc>
                <a:spcPct val="105000"/>
              </a:lnSpc>
              <a:defRPr sz="860">
                <a:solidFill>
                  <a:srgbClr val="18273E"/>
                </a:solidFill>
              </a:defRPr>
            </a:pPr>
            <a:r>
              <a:rPr>
                <a:latin typeface="Calibri"/>
              </a:rPr>
              <a:t>Not clinical validation and not diagnosis from image alone.</a:t>
            </a:r>
          </a:p>
        </p:txBody>
      </p:sp>
      <p:sp>
        <p:nvSpPr>
          <p:cNvPr id="13" name="TextBox 12"/>
          <p:cNvSpPr txBox="1"/>
          <p:nvPr/>
        </p:nvSpPr>
        <p:spPr>
          <a:xfrm>
            <a:off x="502920" y="4828032"/>
            <a:ext cx="612648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Q&amp;A appendix only - official Gemma 4 experiment-pipeline comparison</a:t>
            </a:r>
          </a:p>
        </p:txBody>
      </p:sp>
      <p:sp>
        <p:nvSpPr>
          <p:cNvPr id="14" name="Page badge 25"/>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Page badge 25"/>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25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APPENDIX RETRIEVER/RERANKER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Official RAG Trace: PMC7516301_01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50876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CASE ID</a:t>
            </a:r>
          </a:p>
          <a:p>
            <a:pPr>
              <a:defRPr sz="1100" b="1">
                <a:solidFill>
                  <a:srgbClr val="18273E"/>
                </a:solidFill>
              </a:defRPr>
            </a:pPr>
            <a:r>
              <a:rPr>
                <a:latin typeface="Calibri"/>
              </a:rPr>
              <a:t>PMC7516301_01</a:t>
            </a:r>
          </a:p>
        </p:txBody>
      </p:sp>
      <p:sp>
        <p:nvSpPr>
          <p:cNvPr id="6" name="Rectangle 5"/>
          <p:cNvSpPr/>
          <p:nvPr/>
        </p:nvSpPr>
        <p:spPr>
          <a:xfrm>
            <a:off x="2148840" y="1143000"/>
            <a:ext cx="141732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RETRIEVER</a:t>
            </a:r>
          </a:p>
          <a:p>
            <a:pPr>
              <a:defRPr sz="1100" b="1">
                <a:solidFill>
                  <a:srgbClr val="18273E"/>
                </a:solidFill>
              </a:defRPr>
            </a:pPr>
            <a:r>
              <a:rPr>
                <a:latin typeface="Calibri"/>
              </a:rPr>
              <a:t>hybrid</a:t>
            </a:r>
          </a:p>
        </p:txBody>
      </p:sp>
      <p:sp>
        <p:nvSpPr>
          <p:cNvPr id="7" name="Rectangle 6"/>
          <p:cNvSpPr/>
          <p:nvPr/>
        </p:nvSpPr>
        <p:spPr>
          <a:xfrm>
            <a:off x="3703320" y="1143000"/>
            <a:ext cx="1234440"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RERANK</a:t>
            </a:r>
          </a:p>
          <a:p>
            <a:pPr>
              <a:defRPr sz="1100" b="1">
                <a:solidFill>
                  <a:srgbClr val="18273E"/>
                </a:solidFill>
              </a:defRPr>
            </a:pPr>
            <a:r>
              <a:rPr>
                <a:latin typeface="Calibri"/>
              </a:rPr>
              <a:t>True</a:t>
            </a:r>
          </a:p>
        </p:txBody>
      </p:sp>
      <p:sp>
        <p:nvSpPr>
          <p:cNvPr id="8" name="Rectangle 7"/>
          <p:cNvSpPr/>
          <p:nvPr/>
        </p:nvSpPr>
        <p:spPr>
          <a:xfrm>
            <a:off x="5074920" y="1143000"/>
            <a:ext cx="12344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TOP K</a:t>
            </a:r>
          </a:p>
          <a:p>
            <a:pPr>
              <a:defRPr sz="1100" b="1">
                <a:solidFill>
                  <a:srgbClr val="18273E"/>
                </a:solidFill>
              </a:defRPr>
            </a:pPr>
            <a:r>
              <a:rPr>
                <a:latin typeface="Calibri"/>
              </a:rPr>
              <a:t>20</a:t>
            </a:r>
          </a:p>
        </p:txBody>
      </p:sp>
      <p:sp>
        <p:nvSpPr>
          <p:cNvPr id="9" name="Rectangle 8"/>
          <p:cNvSpPr/>
          <p:nvPr/>
        </p:nvSpPr>
        <p:spPr>
          <a:xfrm>
            <a:off x="6446520" y="1143000"/>
            <a:ext cx="196596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USE</a:t>
            </a:r>
          </a:p>
          <a:p>
            <a:pPr>
              <a:defRPr sz="1100" b="1">
                <a:solidFill>
                  <a:srgbClr val="18273E"/>
                </a:solidFill>
              </a:defRPr>
            </a:pPr>
            <a:r>
              <a:rPr>
                <a:latin typeface="Calibri"/>
              </a:rPr>
              <a:t>Q&amp;A trace only</a:t>
            </a:r>
          </a:p>
        </p:txBody>
      </p:sp>
      <p:sp>
        <p:nvSpPr>
          <p:cNvPr id="10" name="TextBox 9"/>
          <p:cNvSpPr txBox="1"/>
          <p:nvPr/>
        </p:nvSpPr>
        <p:spPr>
          <a:xfrm>
            <a:off x="502920" y="1673352"/>
            <a:ext cx="7909560" cy="201168"/>
          </a:xfrm>
          <a:prstGeom prst="rect">
            <a:avLst/>
          </a:prstGeom>
          <a:noFill/>
        </p:spPr>
        <p:txBody>
          <a:bodyPr wrap="square" lIns="73152" rIns="73152" tIns="36576" bIns="36576">
            <a:noAutofit/>
          </a:bodyPr>
          <a:lstStyle/>
          <a:p>
            <a:pPr>
              <a:lnSpc>
                <a:spcPct val="108000"/>
              </a:lnSpc>
              <a:defRPr sz="780" b="0">
                <a:solidFill>
                  <a:srgbClr val="536071"/>
                </a:solidFill>
              </a:defRPr>
            </a:pPr>
            <a:r>
              <a:rPr>
                <a:latin typeface="Calibri"/>
              </a:rPr>
              <a:t>qid: PMC7516301_01::Q1_Q3_multimodal_diagnosis | source: official Gemma 4 experiment-pipeline trace</a:t>
            </a:r>
          </a:p>
        </p:txBody>
      </p:sp>
      <p:sp>
        <p:nvSpPr>
          <p:cNvPr id="11" name="TextBox 10"/>
          <p:cNvSpPr txBox="1"/>
          <p:nvPr/>
        </p:nvSpPr>
        <p:spPr>
          <a:xfrm>
            <a:off x="502920" y="1901952"/>
            <a:ext cx="7909560" cy="182880"/>
          </a:xfrm>
          <a:prstGeom prst="rect">
            <a:avLst/>
          </a:prstGeom>
          <a:noFill/>
        </p:spPr>
        <p:txBody>
          <a:bodyPr wrap="square" lIns="73152" rIns="73152" tIns="36576" bIns="36576">
            <a:noAutofit/>
          </a:bodyPr>
          <a:lstStyle/>
          <a:p>
            <a:pPr>
              <a:lnSpc>
                <a:spcPct val="108000"/>
              </a:lnSpc>
              <a:defRPr sz="730" b="0">
                <a:solidFill>
                  <a:srgbClr val="536071"/>
                </a:solidFill>
              </a:defRPr>
            </a:pPr>
            <a:r>
              <a:rPr>
                <a:latin typeface="Calibri"/>
              </a:rPr>
              <a:t>Visible contexts are the rerank-enabled final context list used for generation; no separate pre-rerank list is claimed.</a:t>
            </a:r>
          </a:p>
        </p:txBody>
      </p:sp>
      <p:sp>
        <p:nvSpPr>
          <p:cNvPr id="12" name="Rectangle 11"/>
          <p:cNvSpPr/>
          <p:nvPr/>
        </p:nvSpPr>
        <p:spPr>
          <a:xfrm>
            <a:off x="502920"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rPr>
                <a:latin typeface="Calibri"/>
              </a:rPr>
              <a:t>Context rank 1</a:t>
            </a:r>
          </a:p>
          <a:p>
            <a:pPr>
              <a:lnSpc>
                <a:spcPct val="100000"/>
              </a:lnSpc>
              <a:spcAft>
                <a:spcPts val="0"/>
              </a:spcAft>
              <a:defRPr sz="580">
                <a:solidFill>
                  <a:srgbClr val="18273E"/>
                </a:solidFill>
              </a:defRPr>
            </a:pPr>
            <a:r>
              <a:rPr>
                <a:latin typeface="Calibri"/>
              </a:rPr>
              <a:t>doc_id: PMC7528117_01</a:t>
            </a:r>
          </a:p>
          <a:p>
            <a:pPr>
              <a:lnSpc>
                <a:spcPct val="100000"/>
              </a:lnSpc>
              <a:spcAft>
                <a:spcPts val="0"/>
              </a:spcAft>
              <a:defRPr sz="580">
                <a:solidFill>
                  <a:srgbClr val="18273E"/>
                </a:solidFill>
              </a:defRPr>
            </a:pPr>
            <a:r>
              <a:rPr>
                <a:latin typeface="Calibri"/>
              </a:rPr>
              <a:t>score: 0.03301807008521583</a:t>
            </a:r>
          </a:p>
          <a:p>
            <a:pPr>
              <a:lnSpc>
                <a:spcPct val="100000"/>
              </a:lnSpc>
              <a:spcAft>
                <a:spcPts val="0"/>
              </a:spcAft>
              <a:defRPr sz="580">
                <a:solidFill>
                  <a:srgbClr val="18273E"/>
                </a:solidFill>
              </a:defRPr>
            </a:pPr>
            <a:r>
              <a:rPr>
                <a:latin typeface="Calibri"/>
              </a:rPr>
              <a:t>diagnosis_type: MCL | label_source: train_verified</a:t>
            </a:r>
          </a:p>
          <a:p>
            <a:pPr>
              <a:lnSpc>
                <a:spcPct val="100000"/>
              </a:lnSpc>
              <a:spcAft>
                <a:spcPts val="0"/>
              </a:spcAft>
              <a:defRPr sz="580">
                <a:solidFill>
                  <a:srgbClr val="18273E"/>
                </a:solidFill>
              </a:defRPr>
            </a:pPr>
            <a:r>
              <a:rPr>
                <a:latin typeface="Calibri"/>
              </a:rPr>
              <a:t>text_prefix: A 52‑year‑old woman who works in sugarcane fields in a rural area was referred to Oral Medicine for evaluation of a granulomatous lesion on the palate and for hoarseness that she thought followed a flu 3 months earlier. According</a:t>
            </a:r>
          </a:p>
        </p:txBody>
      </p:sp>
      <p:sp>
        <p:nvSpPr>
          <p:cNvPr id="13" name="Rectangle 12"/>
          <p:cNvSpPr/>
          <p:nvPr/>
        </p:nvSpPr>
        <p:spPr>
          <a:xfrm>
            <a:off x="3172968"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rPr>
                <a:latin typeface="Calibri"/>
              </a:rPr>
              <a:t>Context rank 2</a:t>
            </a:r>
          </a:p>
          <a:p>
            <a:pPr>
              <a:lnSpc>
                <a:spcPct val="100000"/>
              </a:lnSpc>
              <a:spcAft>
                <a:spcPts val="0"/>
              </a:spcAft>
              <a:defRPr sz="580">
                <a:solidFill>
                  <a:srgbClr val="18273E"/>
                </a:solidFill>
              </a:defRPr>
            </a:pPr>
            <a:r>
              <a:rPr>
                <a:latin typeface="Calibri"/>
              </a:rPr>
              <a:t>doc_id: PMC7527865_05</a:t>
            </a:r>
          </a:p>
          <a:p>
            <a:pPr>
              <a:lnSpc>
                <a:spcPct val="100000"/>
              </a:lnSpc>
              <a:spcAft>
                <a:spcPts val="0"/>
              </a:spcAft>
              <a:defRPr sz="580">
                <a:solidFill>
                  <a:srgbClr val="18273E"/>
                </a:solidFill>
              </a:defRPr>
            </a:pPr>
            <a:r>
              <a:rPr>
                <a:latin typeface="Calibri"/>
              </a:rPr>
              <a:t>score: 0.01497737556561086</a:t>
            </a:r>
          </a:p>
          <a:p>
            <a:pPr>
              <a:lnSpc>
                <a:spcPct val="100000"/>
              </a:lnSpc>
              <a:spcAft>
                <a:spcPts val="0"/>
              </a:spcAft>
              <a:defRPr sz="580">
                <a:solidFill>
                  <a:srgbClr val="18273E"/>
                </a:solidFill>
              </a:defRPr>
            </a:pPr>
            <a:r>
              <a:rPr>
                <a:latin typeface="Calibri"/>
              </a:rPr>
              <a:t>diagnosis_type: MCL | label_source: train_verified</a:t>
            </a:r>
          </a:p>
          <a:p>
            <a:pPr>
              <a:lnSpc>
                <a:spcPct val="100000"/>
              </a:lnSpc>
              <a:spcAft>
                <a:spcPts val="0"/>
              </a:spcAft>
              <a:defRPr sz="580">
                <a:solidFill>
                  <a:srgbClr val="18273E"/>
                </a:solidFill>
              </a:defRPr>
            </a:pPr>
            <a:r>
              <a:rPr>
                <a:latin typeface="Calibri"/>
              </a:rPr>
              <a:t>text_prefix: A 30-year-old Caucasian man, unemployed, HIV-negative and with no other concomitant infections, presented in 2014 with a papule on the inferior eyelid of the right eye. His past history included, in 2008, an isolated nodulation in</a:t>
            </a:r>
          </a:p>
        </p:txBody>
      </p:sp>
      <p:sp>
        <p:nvSpPr>
          <p:cNvPr id="14" name="Rectangle 13"/>
          <p:cNvSpPr/>
          <p:nvPr/>
        </p:nvSpPr>
        <p:spPr>
          <a:xfrm>
            <a:off x="5833872"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rPr>
                <a:latin typeface="Calibri"/>
              </a:rPr>
              <a:t>Context rank 3</a:t>
            </a:r>
          </a:p>
          <a:p>
            <a:pPr>
              <a:lnSpc>
                <a:spcPct val="100000"/>
              </a:lnSpc>
              <a:spcAft>
                <a:spcPts val="0"/>
              </a:spcAft>
              <a:defRPr sz="580">
                <a:solidFill>
                  <a:srgbClr val="18273E"/>
                </a:solidFill>
              </a:defRPr>
            </a:pPr>
            <a:r>
              <a:rPr>
                <a:latin typeface="Calibri"/>
              </a:rPr>
              <a:t>doc_id: PMC7585787_01</a:t>
            </a:r>
          </a:p>
          <a:p>
            <a:pPr>
              <a:lnSpc>
                <a:spcPct val="100000"/>
              </a:lnSpc>
              <a:spcAft>
                <a:spcPts val="0"/>
              </a:spcAft>
              <a:defRPr sz="580">
                <a:solidFill>
                  <a:srgbClr val="18273E"/>
                </a:solidFill>
              </a:defRPr>
            </a:pPr>
            <a:r>
              <a:rPr>
                <a:latin typeface="Calibri"/>
              </a:rPr>
              <a:t>score: 0.014164989939637825</a:t>
            </a:r>
          </a:p>
          <a:p>
            <a:pPr>
              <a:lnSpc>
                <a:spcPct val="100000"/>
              </a:lnSpc>
              <a:spcAft>
                <a:spcPts val="0"/>
              </a:spcAft>
              <a:defRPr sz="580">
                <a:solidFill>
                  <a:srgbClr val="18273E"/>
                </a:solidFill>
              </a:defRPr>
            </a:pPr>
            <a:r>
              <a:rPr>
                <a:latin typeface="Calibri"/>
              </a:rPr>
              <a:t>diagnosis_type: MCL | label_source: train_verified</a:t>
            </a:r>
          </a:p>
          <a:p>
            <a:pPr>
              <a:lnSpc>
                <a:spcPct val="100000"/>
              </a:lnSpc>
              <a:spcAft>
                <a:spcPts val="0"/>
              </a:spcAft>
              <a:defRPr sz="580">
                <a:solidFill>
                  <a:srgbClr val="18273E"/>
                </a:solidFill>
              </a:defRPr>
            </a:pPr>
            <a:r>
              <a:rPr>
                <a:latin typeface="Calibri"/>
              </a:rPr>
              <a:t>text_prefix: A 38‑year‑old man from Yayu district, western Ethiopia, presented to the outpatient clinic with multiple skin lesions on his face and hands and mutilation of the nose; his upper lip was injured and swollen. Eight years earlier he</a:t>
            </a:r>
          </a:p>
        </p:txBody>
      </p:sp>
      <p:sp>
        <p:nvSpPr>
          <p:cNvPr id="15" name="TextBox 14"/>
          <p:cNvSpPr txBox="1"/>
          <p:nvPr/>
        </p:nvSpPr>
        <p:spPr>
          <a:xfrm>
            <a:off x="502920" y="4828032"/>
            <a:ext cx="713232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Q&amp;A appendix only - exact RAG trace and fresh real-GPU audit evidence</a:t>
            </a:r>
          </a:p>
        </p:txBody>
      </p:sp>
      <p:sp>
        <p:nvSpPr>
          <p:cNvPr id="16" name="Page badge 26"/>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Page badge 26"/>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APPENDIX EXACT BACKEND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Fresh Real-GPU Output Audit: PMC7516301_01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64592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CASE ID</a:t>
            </a:r>
          </a:p>
          <a:p>
            <a:pPr>
              <a:defRPr sz="1100" b="1">
                <a:solidFill>
                  <a:srgbClr val="18273E"/>
                </a:solidFill>
              </a:defRPr>
            </a:pPr>
            <a:r>
              <a:rPr>
                <a:latin typeface="Calibri"/>
              </a:rPr>
              <a:t>PMC7516301_01</a:t>
            </a:r>
          </a:p>
        </p:txBody>
      </p:sp>
      <p:sp>
        <p:nvSpPr>
          <p:cNvPr id="6" name="Rectangle 5"/>
          <p:cNvSpPr/>
          <p:nvPr/>
        </p:nvSpPr>
        <p:spPr>
          <a:xfrm>
            <a:off x="2286000" y="1143000"/>
            <a:ext cx="1874519"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PROVIDER</a:t>
            </a:r>
          </a:p>
          <a:p>
            <a:pPr>
              <a:defRPr sz="1100" b="1">
                <a:solidFill>
                  <a:srgbClr val="18273E"/>
                </a:solidFill>
              </a:defRPr>
            </a:pPr>
            <a:r>
              <a:rPr>
                <a:latin typeface="Calibri"/>
              </a:rPr>
              <a:t>real_gpu_gemma4</a:t>
            </a:r>
          </a:p>
        </p:txBody>
      </p:sp>
      <p:sp>
        <p:nvSpPr>
          <p:cNvPr id="7" name="Rectangle 6"/>
          <p:cNvSpPr/>
          <p:nvPr/>
        </p:nvSpPr>
        <p:spPr>
          <a:xfrm>
            <a:off x="4297680" y="1143000"/>
            <a:ext cx="21488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MODEL</a:t>
            </a:r>
          </a:p>
          <a:p>
            <a:pPr>
              <a:defRPr sz="1100" b="1">
                <a:solidFill>
                  <a:srgbClr val="18273E"/>
                </a:solidFill>
              </a:defRPr>
            </a:pPr>
            <a:r>
              <a:rPr>
                <a:latin typeface="Calibri"/>
              </a:rPr>
              <a:t>google/gemma-4-E4B-it</a:t>
            </a:r>
          </a:p>
        </p:txBody>
      </p:sp>
      <p:sp>
        <p:nvSpPr>
          <p:cNvPr id="8" name="Rectangle 7"/>
          <p:cNvSpPr/>
          <p:nvPr/>
        </p:nvSpPr>
        <p:spPr>
          <a:xfrm>
            <a:off x="6583680" y="1143000"/>
            <a:ext cx="182880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USE</a:t>
            </a:r>
          </a:p>
          <a:p>
            <a:pPr>
              <a:defRPr sz="1100" b="1">
                <a:solidFill>
                  <a:srgbClr val="18273E"/>
                </a:solidFill>
              </a:defRPr>
            </a:pPr>
            <a:r>
              <a:rPr>
                <a:latin typeface="Calibri"/>
              </a:rPr>
              <a:t>Fresh audit only</a:t>
            </a:r>
          </a:p>
        </p:txBody>
      </p:sp>
      <p:sp>
        <p:nvSpPr>
          <p:cNvPr id="9" name="TextBox 8"/>
          <p:cNvSpPr txBox="1"/>
          <p:nvPr/>
        </p:nvSpPr>
        <p:spPr>
          <a:xfrm>
            <a:off x="502920" y="1691640"/>
            <a:ext cx="7909560" cy="210312"/>
          </a:xfrm>
          <a:prstGeom prst="rect">
            <a:avLst/>
          </a:prstGeom>
          <a:noFill/>
        </p:spPr>
        <p:txBody>
          <a:bodyPr wrap="square" lIns="73152" rIns="73152" tIns="36576" bIns="36576">
            <a:noAutofit/>
          </a:bodyPr>
          <a:lstStyle/>
          <a:p>
            <a:pPr>
              <a:lnSpc>
                <a:spcPct val="108000"/>
              </a:lnSpc>
              <a:defRPr sz="700" b="0">
                <a:solidFill>
                  <a:srgbClr val="536071"/>
                </a:solidFill>
              </a:defRPr>
            </a:pPr>
            <a:r>
              <a:rPr>
                <a:latin typeface="Calibri"/>
              </a:rPr>
              <a:t>request_id: v12d_recapture_live_gpu_PMC7516301_01_20260617_165636 | source: /home/ngocnt/Leishmaniasis_v3/rag/instructions/process/14/demo/presentation/v12d/re-capture/20260617_165636/PMC7516301_01_live_gpu_result.json</a:t>
            </a:r>
          </a:p>
        </p:txBody>
      </p:sp>
      <p:sp>
        <p:nvSpPr>
          <p:cNvPr id="10" name="Rectangle 9"/>
          <p:cNvSpPr/>
          <p:nvPr/>
        </p:nvSpPr>
        <p:spPr>
          <a:xfrm>
            <a:off x="502920" y="1993392"/>
            <a:ext cx="7909560" cy="932688"/>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1C804A"/>
                </a:solidFill>
              </a:defRPr>
            </a:pPr>
            <a:r>
              <a:rPr>
                <a:latin typeface="Calibri"/>
              </a:rPr>
              <a:t>Exact model-output fields from fresh backend response</a:t>
            </a:r>
          </a:p>
          <a:p>
            <a:pPr>
              <a:lnSpc>
                <a:spcPct val="105000"/>
              </a:lnSpc>
              <a:defRPr sz="720">
                <a:solidFill>
                  <a:srgbClr val="18273E"/>
                </a:solidFill>
              </a:defRPr>
            </a:pPr>
            <a:r>
              <a:rPr>
                <a:latin typeface="Calibri"/>
              </a:rPr>
              <a:t>Rank 1 supportive consideration: Mucocutaneous Leishmaniasis (Mucosal involvement)</a:t>
            </a:r>
          </a:p>
          <a:p>
            <a:pPr>
              <a:lnSpc>
                <a:spcPct val="105000"/>
              </a:lnSpc>
              <a:defRPr sz="720">
                <a:solidFill>
                  <a:srgbClr val="18273E"/>
                </a:solidFill>
              </a:defRPr>
            </a:pPr>
            <a:r>
              <a:rPr>
                <a:latin typeface="Calibri"/>
              </a:rPr>
              <a:t>Rank 1 Diagnosis Type: MCL</a:t>
            </a:r>
          </a:p>
          <a:p>
            <a:pPr>
              <a:lnSpc>
                <a:spcPct val="105000"/>
              </a:lnSpc>
              <a:defRPr sz="720">
                <a:solidFill>
                  <a:srgbClr val="18273E"/>
                </a:solidFill>
              </a:defRPr>
            </a:pPr>
            <a:r>
              <a:rPr>
                <a:latin typeface="Calibri"/>
              </a:rPr>
              <a:t>Rank 1 Confidence: Medium</a:t>
            </a:r>
          </a:p>
          <a:p>
            <a:pPr>
              <a:lnSpc>
                <a:spcPct val="105000"/>
              </a:lnSpc>
              <a:defRPr sz="720">
                <a:solidFill>
                  <a:srgbClr val="18273E"/>
                </a:solidFill>
              </a:defRPr>
            </a:pPr>
            <a:r>
              <a:rPr>
                <a:latin typeface="Calibri"/>
              </a:rPr>
              <a:t>safety_state: generated_support | elapsed_seconds: 78.336 | query_image_tensor_count: 1</a:t>
            </a:r>
          </a:p>
        </p:txBody>
      </p:sp>
      <p:sp>
        <p:nvSpPr>
          <p:cNvPr id="11" name="TextBox 10"/>
          <p:cNvSpPr txBox="1"/>
          <p:nvPr/>
        </p:nvSpPr>
        <p:spPr>
          <a:xfrm>
            <a:off x="502920" y="3054096"/>
            <a:ext cx="7909560" cy="182880"/>
          </a:xfrm>
          <a:prstGeom prst="rect">
            <a:avLst/>
          </a:prstGeom>
          <a:noFill/>
        </p:spPr>
        <p:txBody>
          <a:bodyPr wrap="square" lIns="73152" rIns="73152" tIns="36576" bIns="36576">
            <a:noAutofit/>
          </a:bodyPr>
          <a:lstStyle/>
          <a:p>
            <a:pPr algn="ctr">
              <a:lnSpc>
                <a:spcPct val="108000"/>
              </a:lnSpc>
              <a:defRPr sz="900" b="1">
                <a:solidFill>
                  <a:srgbClr val="285B9D"/>
                </a:solidFill>
              </a:defRPr>
            </a:pPr>
            <a:r>
              <a:rPr>
                <a:latin typeface="Calibri"/>
              </a:rPr>
              <a:t>Exact returned evidence chunks from raw backend response</a:t>
            </a:r>
          </a:p>
        </p:txBody>
      </p:sp>
      <p:sp>
        <p:nvSpPr>
          <p:cNvPr id="12" name="Rectangle 11"/>
          <p:cNvSpPr/>
          <p:nvPr/>
        </p:nvSpPr>
        <p:spPr>
          <a:xfrm>
            <a:off x="502920"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rPr>
                <a:latin typeface="Calibri"/>
              </a:rPr>
              <a:t>Evidence rank 1</a:t>
            </a:r>
          </a:p>
          <a:p>
            <a:pPr>
              <a:lnSpc>
                <a:spcPct val="100000"/>
              </a:lnSpc>
              <a:spcAft>
                <a:spcPts val="0"/>
              </a:spcAft>
              <a:defRPr sz="555">
                <a:solidFill>
                  <a:srgbClr val="18273E"/>
                </a:solidFill>
              </a:defRPr>
            </a:pPr>
            <a:r>
              <a:rPr>
                <a:latin typeface="Calibri"/>
              </a:rPr>
              <a:t>chunk_id: mcl-002 | score: 0.3617</a:t>
            </a:r>
          </a:p>
          <a:p>
            <a:pPr>
              <a:lnSpc>
                <a:spcPct val="100000"/>
              </a:lnSpc>
              <a:spcAft>
                <a:spcPts val="0"/>
              </a:spcAft>
              <a:defRPr sz="555">
                <a:solidFill>
                  <a:srgbClr val="18273E"/>
                </a:solidFill>
              </a:defRPr>
            </a:pPr>
            <a:r>
              <a:rPr>
                <a:latin typeface="Calibri"/>
              </a:rPr>
              <a:t>title: Palatal and nasal mucosal disease in leishmaniasis</a:t>
            </a:r>
          </a:p>
          <a:p>
            <a:pPr>
              <a:lnSpc>
                <a:spcPct val="100000"/>
              </a:lnSpc>
              <a:spcAft>
                <a:spcPts val="0"/>
              </a:spcAft>
              <a:defRPr sz="555">
                <a:solidFill>
                  <a:srgbClr val="18273E"/>
                </a:solidFill>
              </a:defRPr>
            </a:pPr>
            <a:r>
              <a:rPr>
                <a:latin typeface="Calibri"/>
              </a:rPr>
              <a:t>diagnosis_label: Mucocutaneous leishmaniasis | confirmatory: True</a:t>
            </a:r>
          </a:p>
          <a:p>
            <a:pPr>
              <a:lnSpc>
                <a:spcPct val="100000"/>
              </a:lnSpc>
              <a:spcAft>
                <a:spcPts val="0"/>
              </a:spcAft>
              <a:defRPr sz="555">
                <a:solidFill>
                  <a:srgbClr val="18273E"/>
                </a:solidFill>
              </a:defRPr>
            </a:pPr>
            <a:r>
              <a:rPr>
                <a:latin typeface="Calibri"/>
              </a:rPr>
              <a:t>excerpt: Palatal or nasal mucosal lesions with compatible epidemiology should raise concern for mucocutaneous leishmaniasis and prompt tissue confirmation.</a:t>
            </a:r>
          </a:p>
        </p:txBody>
      </p:sp>
      <p:sp>
        <p:nvSpPr>
          <p:cNvPr id="13" name="Rectangle 12"/>
          <p:cNvSpPr/>
          <p:nvPr/>
        </p:nvSpPr>
        <p:spPr>
          <a:xfrm>
            <a:off x="3172968"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rPr>
                <a:latin typeface="Calibri"/>
              </a:rPr>
              <a:t>Evidence rank 2</a:t>
            </a:r>
          </a:p>
          <a:p>
            <a:pPr>
              <a:lnSpc>
                <a:spcPct val="100000"/>
              </a:lnSpc>
              <a:spcAft>
                <a:spcPts val="0"/>
              </a:spcAft>
              <a:defRPr sz="555">
                <a:solidFill>
                  <a:srgbClr val="18273E"/>
                </a:solidFill>
              </a:defRPr>
            </a:pPr>
            <a:r>
              <a:rPr>
                <a:latin typeface="Calibri"/>
              </a:rPr>
              <a:t>chunk_id: cl-001 | score: 0.3038</a:t>
            </a:r>
          </a:p>
          <a:p>
            <a:pPr>
              <a:lnSpc>
                <a:spcPct val="100000"/>
              </a:lnSpc>
              <a:spcAft>
                <a:spcPts val="0"/>
              </a:spcAft>
              <a:defRPr sz="555">
                <a:solidFill>
                  <a:srgbClr val="18273E"/>
                </a:solidFill>
              </a:defRPr>
            </a:pPr>
            <a:r>
              <a:rPr>
                <a:latin typeface="Calibri"/>
              </a:rPr>
              <a:t>title: Cutaneous leishmaniasis with ulcer and smear-confirmed amastigotes</a:t>
            </a:r>
          </a:p>
          <a:p>
            <a:pPr>
              <a:lnSpc>
                <a:spcPct val="100000"/>
              </a:lnSpc>
              <a:spcAft>
                <a:spcPts val="0"/>
              </a:spcAft>
              <a:defRPr sz="555">
                <a:solidFill>
                  <a:srgbClr val="18273E"/>
                </a:solidFill>
              </a:defRPr>
            </a:pPr>
            <a:r>
              <a:rPr>
                <a:latin typeface="Calibri"/>
              </a:rPr>
              <a:t>diagnosis_label: Cutaneous leishmaniasis | confirmatory: True</a:t>
            </a:r>
          </a:p>
          <a:p>
            <a:pPr>
              <a:lnSpc>
                <a:spcPct val="100000"/>
              </a:lnSpc>
              <a:spcAft>
                <a:spcPts val="0"/>
              </a:spcAft>
              <a:defRPr sz="555">
                <a:solidFill>
                  <a:srgbClr val="18273E"/>
                </a:solidFill>
              </a:defRPr>
            </a:pPr>
            <a:r>
              <a:rPr>
                <a:latin typeface="Calibri"/>
              </a:rPr>
              <a:t>excerpt: A patient with an ulcerated plaque on the forearm after sandfly exposure had a lesion smear showing amastigotes. The presentation was consistent with localized cutaneous leishmaniasis.</a:t>
            </a:r>
          </a:p>
        </p:txBody>
      </p:sp>
      <p:sp>
        <p:nvSpPr>
          <p:cNvPr id="14" name="Rectangle 13"/>
          <p:cNvSpPr/>
          <p:nvPr/>
        </p:nvSpPr>
        <p:spPr>
          <a:xfrm>
            <a:off x="5833872"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rPr>
                <a:latin typeface="Calibri"/>
              </a:rPr>
              <a:t>Evidence rank 3</a:t>
            </a:r>
          </a:p>
          <a:p>
            <a:pPr>
              <a:lnSpc>
                <a:spcPct val="100000"/>
              </a:lnSpc>
              <a:spcAft>
                <a:spcPts val="0"/>
              </a:spcAft>
              <a:defRPr sz="555">
                <a:solidFill>
                  <a:srgbClr val="18273E"/>
                </a:solidFill>
              </a:defRPr>
            </a:pPr>
            <a:r>
              <a:rPr>
                <a:latin typeface="Calibri"/>
              </a:rPr>
              <a:t>chunk_id: vl-001 | score: 0.2457</a:t>
            </a:r>
          </a:p>
          <a:p>
            <a:pPr>
              <a:lnSpc>
                <a:spcPct val="100000"/>
              </a:lnSpc>
              <a:spcAft>
                <a:spcPts val="0"/>
              </a:spcAft>
              <a:defRPr sz="555">
                <a:solidFill>
                  <a:srgbClr val="18273E"/>
                </a:solidFill>
              </a:defRPr>
            </a:pPr>
            <a:r>
              <a:rPr>
                <a:latin typeface="Calibri"/>
              </a:rPr>
              <a:t>title: Visceral leishmaniasis with prolonged fever and splenomegaly</a:t>
            </a:r>
          </a:p>
          <a:p>
            <a:pPr>
              <a:lnSpc>
                <a:spcPct val="100000"/>
              </a:lnSpc>
              <a:spcAft>
                <a:spcPts val="0"/>
              </a:spcAft>
              <a:defRPr sz="555">
                <a:solidFill>
                  <a:srgbClr val="18273E"/>
                </a:solidFill>
              </a:defRPr>
            </a:pPr>
            <a:r>
              <a:rPr>
                <a:latin typeface="Calibri"/>
              </a:rPr>
              <a:t>diagnosis_label: Visceral leishmaniasis | confirmatory: True</a:t>
            </a:r>
          </a:p>
          <a:p>
            <a:pPr>
              <a:lnSpc>
                <a:spcPct val="100000"/>
              </a:lnSpc>
              <a:spcAft>
                <a:spcPts val="0"/>
              </a:spcAft>
              <a:defRPr sz="555">
                <a:solidFill>
                  <a:srgbClr val="18273E"/>
                </a:solidFill>
              </a:defRPr>
            </a:pPr>
            <a:r>
              <a:rPr>
                <a:latin typeface="Calibri"/>
              </a:rPr>
              <a:t>excerpt: Prolonged fever, weight loss, pancytopenia, and splenomegaly are classic features of visceral leishmaniasis. Bone marrow or tissue confirmation is typically required.</a:t>
            </a:r>
          </a:p>
        </p:txBody>
      </p:sp>
      <p:sp>
        <p:nvSpPr>
          <p:cNvPr id="15" name="TextBox 14"/>
          <p:cNvSpPr txBox="1"/>
          <p:nvPr/>
        </p:nvSpPr>
        <p:spPr>
          <a:xfrm>
            <a:off x="502920" y="4828032"/>
            <a:ext cx="713232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Q&amp;A appendix only - exact RAG trace and fresh real-GPU audit evidence</a:t>
            </a:r>
          </a:p>
        </p:txBody>
      </p:sp>
      <p:sp>
        <p:nvSpPr>
          <p:cNvPr id="16" name="Page badge 27"/>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Page badge 27"/>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27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APPENDIX RETRIEVER/RERANKER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Official RAG Trace: PMC7456484_01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50876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CASE ID</a:t>
            </a:r>
          </a:p>
          <a:p>
            <a:pPr>
              <a:defRPr sz="1100" b="1">
                <a:solidFill>
                  <a:srgbClr val="18273E"/>
                </a:solidFill>
              </a:defRPr>
            </a:pPr>
            <a:r>
              <a:rPr>
                <a:latin typeface="Calibri"/>
              </a:rPr>
              <a:t>PMC7456484_01</a:t>
            </a:r>
          </a:p>
        </p:txBody>
      </p:sp>
      <p:sp>
        <p:nvSpPr>
          <p:cNvPr id="6" name="Rectangle 5"/>
          <p:cNvSpPr/>
          <p:nvPr/>
        </p:nvSpPr>
        <p:spPr>
          <a:xfrm>
            <a:off x="2148840" y="1143000"/>
            <a:ext cx="141732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RETRIEVER</a:t>
            </a:r>
          </a:p>
          <a:p>
            <a:pPr>
              <a:defRPr sz="1100" b="1">
                <a:solidFill>
                  <a:srgbClr val="18273E"/>
                </a:solidFill>
              </a:defRPr>
            </a:pPr>
            <a:r>
              <a:rPr>
                <a:latin typeface="Calibri"/>
              </a:rPr>
              <a:t>hybrid</a:t>
            </a:r>
          </a:p>
        </p:txBody>
      </p:sp>
      <p:sp>
        <p:nvSpPr>
          <p:cNvPr id="7" name="Rectangle 6"/>
          <p:cNvSpPr/>
          <p:nvPr/>
        </p:nvSpPr>
        <p:spPr>
          <a:xfrm>
            <a:off x="3703320" y="1143000"/>
            <a:ext cx="1234440"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RERANK</a:t>
            </a:r>
          </a:p>
          <a:p>
            <a:pPr>
              <a:defRPr sz="1100" b="1">
                <a:solidFill>
                  <a:srgbClr val="18273E"/>
                </a:solidFill>
              </a:defRPr>
            </a:pPr>
            <a:r>
              <a:rPr>
                <a:latin typeface="Calibri"/>
              </a:rPr>
              <a:t>True</a:t>
            </a:r>
          </a:p>
        </p:txBody>
      </p:sp>
      <p:sp>
        <p:nvSpPr>
          <p:cNvPr id="8" name="Rectangle 7"/>
          <p:cNvSpPr/>
          <p:nvPr/>
        </p:nvSpPr>
        <p:spPr>
          <a:xfrm>
            <a:off x="5074920" y="1143000"/>
            <a:ext cx="12344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TOP K</a:t>
            </a:r>
          </a:p>
          <a:p>
            <a:pPr>
              <a:defRPr sz="1100" b="1">
                <a:solidFill>
                  <a:srgbClr val="18273E"/>
                </a:solidFill>
              </a:defRPr>
            </a:pPr>
            <a:r>
              <a:rPr>
                <a:latin typeface="Calibri"/>
              </a:rPr>
              <a:t>20</a:t>
            </a:r>
          </a:p>
        </p:txBody>
      </p:sp>
      <p:sp>
        <p:nvSpPr>
          <p:cNvPr id="9" name="Rectangle 8"/>
          <p:cNvSpPr/>
          <p:nvPr/>
        </p:nvSpPr>
        <p:spPr>
          <a:xfrm>
            <a:off x="6446520" y="1143000"/>
            <a:ext cx="196596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USE</a:t>
            </a:r>
          </a:p>
          <a:p>
            <a:pPr>
              <a:defRPr sz="1100" b="1">
                <a:solidFill>
                  <a:srgbClr val="18273E"/>
                </a:solidFill>
              </a:defRPr>
            </a:pPr>
            <a:r>
              <a:rPr>
                <a:latin typeface="Calibri"/>
              </a:rPr>
              <a:t>Q&amp;A trace only</a:t>
            </a:r>
          </a:p>
        </p:txBody>
      </p:sp>
      <p:sp>
        <p:nvSpPr>
          <p:cNvPr id="10" name="TextBox 9"/>
          <p:cNvSpPr txBox="1"/>
          <p:nvPr/>
        </p:nvSpPr>
        <p:spPr>
          <a:xfrm>
            <a:off x="502920" y="1673352"/>
            <a:ext cx="7909560" cy="201168"/>
          </a:xfrm>
          <a:prstGeom prst="rect">
            <a:avLst/>
          </a:prstGeom>
          <a:noFill/>
        </p:spPr>
        <p:txBody>
          <a:bodyPr wrap="square" lIns="73152" rIns="73152" tIns="36576" bIns="36576">
            <a:noAutofit/>
          </a:bodyPr>
          <a:lstStyle/>
          <a:p>
            <a:pPr>
              <a:lnSpc>
                <a:spcPct val="108000"/>
              </a:lnSpc>
              <a:defRPr sz="780" b="0">
                <a:solidFill>
                  <a:srgbClr val="536071"/>
                </a:solidFill>
              </a:defRPr>
            </a:pPr>
            <a:r>
              <a:rPr>
                <a:latin typeface="Calibri"/>
              </a:rPr>
              <a:t>qid: PMC7456484_01::Q1_Q3_multimodal_diagnosis | source: official Gemma 4 experiment-pipeline trace</a:t>
            </a:r>
          </a:p>
        </p:txBody>
      </p:sp>
      <p:sp>
        <p:nvSpPr>
          <p:cNvPr id="11" name="TextBox 10"/>
          <p:cNvSpPr txBox="1"/>
          <p:nvPr/>
        </p:nvSpPr>
        <p:spPr>
          <a:xfrm>
            <a:off x="502920" y="1901952"/>
            <a:ext cx="7909560" cy="182880"/>
          </a:xfrm>
          <a:prstGeom prst="rect">
            <a:avLst/>
          </a:prstGeom>
          <a:noFill/>
        </p:spPr>
        <p:txBody>
          <a:bodyPr wrap="square" lIns="73152" rIns="73152" tIns="36576" bIns="36576">
            <a:noAutofit/>
          </a:bodyPr>
          <a:lstStyle/>
          <a:p>
            <a:pPr>
              <a:lnSpc>
                <a:spcPct val="108000"/>
              </a:lnSpc>
              <a:defRPr sz="730" b="0">
                <a:solidFill>
                  <a:srgbClr val="536071"/>
                </a:solidFill>
              </a:defRPr>
            </a:pPr>
            <a:r>
              <a:rPr>
                <a:latin typeface="Calibri"/>
              </a:rPr>
              <a:t>Visible contexts are the rerank-enabled final context list used for generation; no separate pre-rerank list is claimed.</a:t>
            </a:r>
          </a:p>
        </p:txBody>
      </p:sp>
      <p:sp>
        <p:nvSpPr>
          <p:cNvPr id="12" name="Rectangle 11"/>
          <p:cNvSpPr/>
          <p:nvPr/>
        </p:nvSpPr>
        <p:spPr>
          <a:xfrm>
            <a:off x="502920"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rPr>
                <a:latin typeface="Calibri"/>
              </a:rPr>
              <a:t>Context rank 1</a:t>
            </a:r>
          </a:p>
          <a:p>
            <a:pPr>
              <a:lnSpc>
                <a:spcPct val="100000"/>
              </a:lnSpc>
              <a:spcAft>
                <a:spcPts val="0"/>
              </a:spcAft>
              <a:defRPr sz="580">
                <a:solidFill>
                  <a:srgbClr val="18273E"/>
                </a:solidFill>
              </a:defRPr>
            </a:pPr>
            <a:r>
              <a:rPr>
                <a:latin typeface="Calibri"/>
              </a:rPr>
              <a:t>doc_id: PMC7585787_01</a:t>
            </a:r>
          </a:p>
          <a:p>
            <a:pPr>
              <a:lnSpc>
                <a:spcPct val="100000"/>
              </a:lnSpc>
              <a:spcAft>
                <a:spcPts val="0"/>
              </a:spcAft>
              <a:defRPr sz="580">
                <a:solidFill>
                  <a:srgbClr val="18273E"/>
                </a:solidFill>
              </a:defRPr>
            </a:pPr>
            <a:r>
              <a:rPr>
                <a:latin typeface="Calibri"/>
              </a:rPr>
              <a:t>score: 0.01971861471861472</a:t>
            </a:r>
          </a:p>
          <a:p>
            <a:pPr>
              <a:lnSpc>
                <a:spcPct val="100000"/>
              </a:lnSpc>
              <a:spcAft>
                <a:spcPts val="0"/>
              </a:spcAft>
              <a:defRPr sz="580">
                <a:solidFill>
                  <a:srgbClr val="18273E"/>
                </a:solidFill>
              </a:defRPr>
            </a:pPr>
            <a:r>
              <a:rPr>
                <a:latin typeface="Calibri"/>
              </a:rPr>
              <a:t>diagnosis_type: MCL | label_source: train_verified</a:t>
            </a:r>
          </a:p>
          <a:p>
            <a:pPr>
              <a:lnSpc>
                <a:spcPct val="100000"/>
              </a:lnSpc>
              <a:spcAft>
                <a:spcPts val="0"/>
              </a:spcAft>
              <a:defRPr sz="580">
                <a:solidFill>
                  <a:srgbClr val="18273E"/>
                </a:solidFill>
              </a:defRPr>
            </a:pPr>
            <a:r>
              <a:rPr>
                <a:latin typeface="Calibri"/>
              </a:rPr>
              <a:t>text_prefix: A 38‑year‑old man from Yayu district, western Ethiopia, presented to the outpatient clinic with multiple skin lesions on his face and hands and mutilation of the nose; his upper lip was injured and swollen. Eight years earlier he</a:t>
            </a:r>
          </a:p>
        </p:txBody>
      </p:sp>
      <p:sp>
        <p:nvSpPr>
          <p:cNvPr id="13" name="Rectangle 12"/>
          <p:cNvSpPr/>
          <p:nvPr/>
        </p:nvSpPr>
        <p:spPr>
          <a:xfrm>
            <a:off x="3172968"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rPr>
                <a:latin typeface="Calibri"/>
              </a:rPr>
              <a:t>Context rank 2</a:t>
            </a:r>
          </a:p>
          <a:p>
            <a:pPr>
              <a:lnSpc>
                <a:spcPct val="100000"/>
              </a:lnSpc>
              <a:spcAft>
                <a:spcPts val="0"/>
              </a:spcAft>
              <a:defRPr sz="580">
                <a:solidFill>
                  <a:srgbClr val="18273E"/>
                </a:solidFill>
              </a:defRPr>
            </a:pPr>
            <a:r>
              <a:rPr>
                <a:latin typeface="Calibri"/>
              </a:rPr>
              <a:t>doc_id: PMC6019596_01</a:t>
            </a:r>
          </a:p>
          <a:p>
            <a:pPr>
              <a:lnSpc>
                <a:spcPct val="100000"/>
              </a:lnSpc>
              <a:spcAft>
                <a:spcPts val="0"/>
              </a:spcAft>
              <a:defRPr sz="580">
                <a:solidFill>
                  <a:srgbClr val="18273E"/>
                </a:solidFill>
              </a:defRPr>
            </a:pPr>
            <a:r>
              <a:rPr>
                <a:latin typeface="Calibri"/>
              </a:rPr>
              <a:t>score: 0.019506936428773658</a:t>
            </a:r>
          </a:p>
          <a:p>
            <a:pPr>
              <a:lnSpc>
                <a:spcPct val="100000"/>
              </a:lnSpc>
              <a:spcAft>
                <a:spcPts val="0"/>
              </a:spcAft>
              <a:defRPr sz="580">
                <a:solidFill>
                  <a:srgbClr val="18273E"/>
                </a:solidFill>
              </a:defRPr>
            </a:pPr>
            <a:r>
              <a:rPr>
                <a:latin typeface="Calibri"/>
              </a:rPr>
              <a:t>diagnosis_type: MCL | label_source: train_verified</a:t>
            </a:r>
          </a:p>
          <a:p>
            <a:pPr>
              <a:lnSpc>
                <a:spcPct val="100000"/>
              </a:lnSpc>
              <a:spcAft>
                <a:spcPts val="0"/>
              </a:spcAft>
              <a:defRPr sz="580">
                <a:solidFill>
                  <a:srgbClr val="18273E"/>
                </a:solidFill>
              </a:defRPr>
            </a:pPr>
            <a:r>
              <a:rPr>
                <a:latin typeface="Calibri"/>
              </a:rPr>
              <a:t>text_prefix: A 78-year-old man from a rural area in western Iran was referred for multiple ulcerative, exudative lesions involving the mid-face (upper lip and anterior nasal fossa), above the eyebrows, dorsal aspects of both hands, and posteri</a:t>
            </a:r>
          </a:p>
        </p:txBody>
      </p:sp>
      <p:sp>
        <p:nvSpPr>
          <p:cNvPr id="14" name="Rectangle 13"/>
          <p:cNvSpPr/>
          <p:nvPr/>
        </p:nvSpPr>
        <p:spPr>
          <a:xfrm>
            <a:off x="5833872"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rPr>
                <a:latin typeface="Calibri"/>
              </a:rPr>
              <a:t>Context rank 3</a:t>
            </a:r>
          </a:p>
          <a:p>
            <a:pPr>
              <a:lnSpc>
                <a:spcPct val="100000"/>
              </a:lnSpc>
              <a:spcAft>
                <a:spcPts val="0"/>
              </a:spcAft>
              <a:defRPr sz="580">
                <a:solidFill>
                  <a:srgbClr val="18273E"/>
                </a:solidFill>
              </a:defRPr>
            </a:pPr>
            <a:r>
              <a:rPr>
                <a:latin typeface="Calibri"/>
              </a:rPr>
              <a:t>doc_id: PMC4934146_02</a:t>
            </a:r>
          </a:p>
          <a:p>
            <a:pPr>
              <a:lnSpc>
                <a:spcPct val="100000"/>
              </a:lnSpc>
              <a:spcAft>
                <a:spcPts val="0"/>
              </a:spcAft>
              <a:defRPr sz="580">
                <a:solidFill>
                  <a:srgbClr val="18273E"/>
                </a:solidFill>
              </a:defRPr>
            </a:pPr>
            <a:r>
              <a:rPr>
                <a:latin typeface="Calibri"/>
              </a:rPr>
              <a:t>score: 0.0151288056206089</a:t>
            </a:r>
          </a:p>
          <a:p>
            <a:pPr>
              <a:lnSpc>
                <a:spcPct val="100000"/>
              </a:lnSpc>
              <a:spcAft>
                <a:spcPts val="0"/>
              </a:spcAft>
              <a:defRPr sz="580">
                <a:solidFill>
                  <a:srgbClr val="18273E"/>
                </a:solidFill>
              </a:defRPr>
            </a:pPr>
            <a:r>
              <a:rPr>
                <a:latin typeface="Calibri"/>
              </a:rPr>
              <a:t>diagnosis_type: DsCL | label_source: train_verified</a:t>
            </a:r>
          </a:p>
          <a:p>
            <a:pPr>
              <a:lnSpc>
                <a:spcPct val="100000"/>
              </a:lnSpc>
              <a:spcAft>
                <a:spcPts val="0"/>
              </a:spcAft>
              <a:defRPr sz="580">
                <a:solidFill>
                  <a:srgbClr val="18273E"/>
                </a:solidFill>
              </a:defRPr>
            </a:pPr>
            <a:r>
              <a:rPr>
                <a:latin typeface="Calibri"/>
              </a:rPr>
              <a:t>text_prefix: A 40‑year‑old woman from Balao Chico (Guayas province, Ecuador) presented in August 1979 with a progressive widespread skin eruption. The illness began with a lesion on the lumbar region; papular lesions developed and became pustu</a:t>
            </a:r>
          </a:p>
        </p:txBody>
      </p:sp>
      <p:sp>
        <p:nvSpPr>
          <p:cNvPr id="15" name="TextBox 14"/>
          <p:cNvSpPr txBox="1"/>
          <p:nvPr/>
        </p:nvSpPr>
        <p:spPr>
          <a:xfrm>
            <a:off x="502920" y="4828032"/>
            <a:ext cx="713232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Q&amp;A appendix only - exact RAG trace and fresh real-GPU audit evidence</a:t>
            </a:r>
          </a:p>
        </p:txBody>
      </p:sp>
      <p:sp>
        <p:nvSpPr>
          <p:cNvPr id="16" name="Page badge 28"/>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Page badge 28"/>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28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APPENDIX EXACT BACKEND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Fresh Real-GPU Output Audit: PMC7456484_01</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64592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CASE ID</a:t>
            </a:r>
          </a:p>
          <a:p>
            <a:pPr>
              <a:defRPr sz="1100" b="1">
                <a:solidFill>
                  <a:srgbClr val="18273E"/>
                </a:solidFill>
              </a:defRPr>
            </a:pPr>
            <a:r>
              <a:rPr>
                <a:latin typeface="Calibri"/>
              </a:rPr>
              <a:t>PMC7456484_01</a:t>
            </a:r>
          </a:p>
        </p:txBody>
      </p:sp>
      <p:sp>
        <p:nvSpPr>
          <p:cNvPr id="6" name="Rectangle 5"/>
          <p:cNvSpPr/>
          <p:nvPr/>
        </p:nvSpPr>
        <p:spPr>
          <a:xfrm>
            <a:off x="2286000" y="1143000"/>
            <a:ext cx="1874519"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PROVIDER</a:t>
            </a:r>
          </a:p>
          <a:p>
            <a:pPr>
              <a:defRPr sz="1100" b="1">
                <a:solidFill>
                  <a:srgbClr val="18273E"/>
                </a:solidFill>
              </a:defRPr>
            </a:pPr>
            <a:r>
              <a:rPr>
                <a:latin typeface="Calibri"/>
              </a:rPr>
              <a:t>real_gpu_gemma4</a:t>
            </a:r>
          </a:p>
        </p:txBody>
      </p:sp>
      <p:sp>
        <p:nvSpPr>
          <p:cNvPr id="7" name="Rectangle 6"/>
          <p:cNvSpPr/>
          <p:nvPr/>
        </p:nvSpPr>
        <p:spPr>
          <a:xfrm>
            <a:off x="4297680" y="1143000"/>
            <a:ext cx="21488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MODEL</a:t>
            </a:r>
          </a:p>
          <a:p>
            <a:pPr>
              <a:defRPr sz="1100" b="1">
                <a:solidFill>
                  <a:srgbClr val="18273E"/>
                </a:solidFill>
              </a:defRPr>
            </a:pPr>
            <a:r>
              <a:rPr>
                <a:latin typeface="Calibri"/>
              </a:rPr>
              <a:t>google/gemma-4-E4B-it</a:t>
            </a:r>
          </a:p>
        </p:txBody>
      </p:sp>
      <p:sp>
        <p:nvSpPr>
          <p:cNvPr id="8" name="Rectangle 7"/>
          <p:cNvSpPr/>
          <p:nvPr/>
        </p:nvSpPr>
        <p:spPr>
          <a:xfrm>
            <a:off x="6583680" y="1143000"/>
            <a:ext cx="182880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USE</a:t>
            </a:r>
          </a:p>
          <a:p>
            <a:pPr>
              <a:defRPr sz="1100" b="1">
                <a:solidFill>
                  <a:srgbClr val="18273E"/>
                </a:solidFill>
              </a:defRPr>
            </a:pPr>
            <a:r>
              <a:rPr>
                <a:latin typeface="Calibri"/>
              </a:rPr>
              <a:t>Fresh audit only</a:t>
            </a:r>
          </a:p>
        </p:txBody>
      </p:sp>
      <p:sp>
        <p:nvSpPr>
          <p:cNvPr id="9" name="TextBox 8"/>
          <p:cNvSpPr txBox="1"/>
          <p:nvPr/>
        </p:nvSpPr>
        <p:spPr>
          <a:xfrm>
            <a:off x="502920" y="1691640"/>
            <a:ext cx="7909560" cy="210312"/>
          </a:xfrm>
          <a:prstGeom prst="rect">
            <a:avLst/>
          </a:prstGeom>
          <a:noFill/>
        </p:spPr>
        <p:txBody>
          <a:bodyPr wrap="square" lIns="73152" rIns="73152" tIns="36576" bIns="36576">
            <a:noAutofit/>
          </a:bodyPr>
          <a:lstStyle/>
          <a:p>
            <a:pPr>
              <a:lnSpc>
                <a:spcPct val="108000"/>
              </a:lnSpc>
              <a:defRPr sz="700" b="0">
                <a:solidFill>
                  <a:srgbClr val="536071"/>
                </a:solidFill>
              </a:defRPr>
            </a:pPr>
            <a:r>
              <a:rPr>
                <a:latin typeface="Calibri"/>
              </a:rPr>
              <a:t>request_id: v12d_recapture_live_gpu_PMC7456484_01_20260617_165636 | source: /home/ngocnt/Leishmaniasis_v3/rag/instructions/process/14/demo/presentation/v12d/re-capture/20260617_165636/PMC7456484_01_live_gpu_result.json</a:t>
            </a:r>
          </a:p>
        </p:txBody>
      </p:sp>
      <p:sp>
        <p:nvSpPr>
          <p:cNvPr id="10" name="Rectangle 9"/>
          <p:cNvSpPr/>
          <p:nvPr/>
        </p:nvSpPr>
        <p:spPr>
          <a:xfrm>
            <a:off x="502920" y="1993392"/>
            <a:ext cx="7909560" cy="932688"/>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1C804A"/>
                </a:solidFill>
              </a:defRPr>
            </a:pPr>
            <a:r>
              <a:rPr>
                <a:latin typeface="Calibri"/>
              </a:rPr>
              <a:t>Exact model-output fields from fresh backend response</a:t>
            </a:r>
          </a:p>
          <a:p>
            <a:pPr>
              <a:lnSpc>
                <a:spcPct val="105000"/>
              </a:lnSpc>
              <a:defRPr sz="720">
                <a:solidFill>
                  <a:srgbClr val="18273E"/>
                </a:solidFill>
              </a:defRPr>
            </a:pPr>
            <a:r>
              <a:rPr>
                <a:latin typeface="Calibri"/>
              </a:rPr>
              <a:t>Rank 1 supportive consideration: Chronic Mucocutaneous Leishmaniasis (Mucocutaneous Leishmaniasis)</a:t>
            </a:r>
          </a:p>
          <a:p>
            <a:pPr>
              <a:lnSpc>
                <a:spcPct val="105000"/>
              </a:lnSpc>
              <a:defRPr sz="720">
                <a:solidFill>
                  <a:srgbClr val="18273E"/>
                </a:solidFill>
              </a:defRPr>
            </a:pPr>
            <a:r>
              <a:rPr>
                <a:latin typeface="Calibri"/>
              </a:rPr>
              <a:t>Rank 1 Diagnosis Type: MCL</a:t>
            </a:r>
          </a:p>
          <a:p>
            <a:pPr>
              <a:lnSpc>
                <a:spcPct val="105000"/>
              </a:lnSpc>
              <a:defRPr sz="720">
                <a:solidFill>
                  <a:srgbClr val="18273E"/>
                </a:solidFill>
              </a:defRPr>
            </a:pPr>
            <a:r>
              <a:rPr>
                <a:latin typeface="Calibri"/>
              </a:rPr>
              <a:t>Rank 1 Confidence: Medium</a:t>
            </a:r>
          </a:p>
          <a:p>
            <a:pPr>
              <a:lnSpc>
                <a:spcPct val="105000"/>
              </a:lnSpc>
              <a:defRPr sz="720">
                <a:solidFill>
                  <a:srgbClr val="18273E"/>
                </a:solidFill>
              </a:defRPr>
            </a:pPr>
            <a:r>
              <a:rPr>
                <a:latin typeface="Calibri"/>
              </a:rPr>
              <a:t>safety_state: generated_support | elapsed_seconds: 73.986 | query_image_tensor_count: 1</a:t>
            </a:r>
          </a:p>
        </p:txBody>
      </p:sp>
      <p:sp>
        <p:nvSpPr>
          <p:cNvPr id="11" name="TextBox 10"/>
          <p:cNvSpPr txBox="1"/>
          <p:nvPr/>
        </p:nvSpPr>
        <p:spPr>
          <a:xfrm>
            <a:off x="502920" y="3054096"/>
            <a:ext cx="7909560" cy="182880"/>
          </a:xfrm>
          <a:prstGeom prst="rect">
            <a:avLst/>
          </a:prstGeom>
          <a:noFill/>
        </p:spPr>
        <p:txBody>
          <a:bodyPr wrap="square" lIns="73152" rIns="73152" tIns="36576" bIns="36576">
            <a:noAutofit/>
          </a:bodyPr>
          <a:lstStyle/>
          <a:p>
            <a:pPr algn="ctr">
              <a:lnSpc>
                <a:spcPct val="108000"/>
              </a:lnSpc>
              <a:defRPr sz="900" b="1">
                <a:solidFill>
                  <a:srgbClr val="285B9D"/>
                </a:solidFill>
              </a:defRPr>
            </a:pPr>
            <a:r>
              <a:rPr>
                <a:latin typeface="Calibri"/>
              </a:rPr>
              <a:t>Exact returned evidence chunks from raw backend response</a:t>
            </a:r>
          </a:p>
        </p:txBody>
      </p:sp>
      <p:sp>
        <p:nvSpPr>
          <p:cNvPr id="12" name="Rectangle 11"/>
          <p:cNvSpPr/>
          <p:nvPr/>
        </p:nvSpPr>
        <p:spPr>
          <a:xfrm>
            <a:off x="502920"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rPr>
                <a:latin typeface="Calibri"/>
              </a:rPr>
              <a:t>Evidence rank 1</a:t>
            </a:r>
          </a:p>
          <a:p>
            <a:pPr>
              <a:lnSpc>
                <a:spcPct val="100000"/>
              </a:lnSpc>
              <a:spcAft>
                <a:spcPts val="0"/>
              </a:spcAft>
              <a:defRPr sz="555">
                <a:solidFill>
                  <a:srgbClr val="18273E"/>
                </a:solidFill>
              </a:defRPr>
            </a:pPr>
            <a:r>
              <a:rPr>
                <a:latin typeface="Calibri"/>
              </a:rPr>
              <a:t>chunk_id: vl-002 | score: 0.5146</a:t>
            </a:r>
          </a:p>
          <a:p>
            <a:pPr>
              <a:lnSpc>
                <a:spcPct val="100000"/>
              </a:lnSpc>
              <a:spcAft>
                <a:spcPts val="0"/>
              </a:spcAft>
              <a:defRPr sz="555">
                <a:solidFill>
                  <a:srgbClr val="18273E"/>
                </a:solidFill>
              </a:defRPr>
            </a:pPr>
            <a:r>
              <a:rPr>
                <a:latin typeface="Calibri"/>
              </a:rPr>
              <a:t>title: Kala-azar pattern with hepatosplenomegaly</a:t>
            </a:r>
          </a:p>
          <a:p>
            <a:pPr>
              <a:lnSpc>
                <a:spcPct val="100000"/>
              </a:lnSpc>
              <a:spcAft>
                <a:spcPts val="0"/>
              </a:spcAft>
              <a:defRPr sz="555">
                <a:solidFill>
                  <a:srgbClr val="18273E"/>
                </a:solidFill>
              </a:defRPr>
            </a:pPr>
            <a:r>
              <a:rPr>
                <a:latin typeface="Calibri"/>
              </a:rPr>
              <a:t>diagnosis_label: Visceral leishmaniasis | confirmatory: False</a:t>
            </a:r>
          </a:p>
          <a:p>
            <a:pPr>
              <a:lnSpc>
                <a:spcPct val="100000"/>
              </a:lnSpc>
              <a:spcAft>
                <a:spcPts val="0"/>
              </a:spcAft>
              <a:defRPr sz="555">
                <a:solidFill>
                  <a:srgbClr val="18273E"/>
                </a:solidFill>
              </a:defRPr>
            </a:pPr>
            <a:r>
              <a:rPr>
                <a:latin typeface="Calibri"/>
              </a:rPr>
              <a:t>excerpt: Kala-azar often presents with hepatosplenomegaly, chronic fever, anemia, and systemic illness rather than an isolated skin ulcer.</a:t>
            </a:r>
          </a:p>
        </p:txBody>
      </p:sp>
      <p:sp>
        <p:nvSpPr>
          <p:cNvPr id="13" name="Rectangle 12"/>
          <p:cNvSpPr/>
          <p:nvPr/>
        </p:nvSpPr>
        <p:spPr>
          <a:xfrm>
            <a:off x="3172968"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rPr>
                <a:latin typeface="Calibri"/>
              </a:rPr>
              <a:t>Evidence rank 2</a:t>
            </a:r>
          </a:p>
          <a:p>
            <a:pPr>
              <a:lnSpc>
                <a:spcPct val="100000"/>
              </a:lnSpc>
              <a:spcAft>
                <a:spcPts val="0"/>
              </a:spcAft>
              <a:defRPr sz="555">
                <a:solidFill>
                  <a:srgbClr val="18273E"/>
                </a:solidFill>
              </a:defRPr>
            </a:pPr>
            <a:r>
              <a:rPr>
                <a:latin typeface="Calibri"/>
              </a:rPr>
              <a:t>chunk_id: mcl-001 | score: 0.3856</a:t>
            </a:r>
          </a:p>
          <a:p>
            <a:pPr>
              <a:lnSpc>
                <a:spcPct val="100000"/>
              </a:lnSpc>
              <a:spcAft>
                <a:spcPts val="0"/>
              </a:spcAft>
              <a:defRPr sz="555">
                <a:solidFill>
                  <a:srgbClr val="18273E"/>
                </a:solidFill>
              </a:defRPr>
            </a:pPr>
            <a:r>
              <a:rPr>
                <a:latin typeface="Calibri"/>
              </a:rPr>
              <a:t>title: Mucocutaneous leishmaniasis with nasal and oral involvement</a:t>
            </a:r>
          </a:p>
          <a:p>
            <a:pPr>
              <a:lnSpc>
                <a:spcPct val="100000"/>
              </a:lnSpc>
              <a:spcAft>
                <a:spcPts val="0"/>
              </a:spcAft>
              <a:defRPr sz="555">
                <a:solidFill>
                  <a:srgbClr val="18273E"/>
                </a:solidFill>
              </a:defRPr>
            </a:pPr>
            <a:r>
              <a:rPr>
                <a:latin typeface="Calibri"/>
              </a:rPr>
              <a:t>diagnosis_label: Mucocutaneous leishmaniasis | confirmatory: False</a:t>
            </a:r>
          </a:p>
          <a:p>
            <a:pPr>
              <a:lnSpc>
                <a:spcPct val="100000"/>
              </a:lnSpc>
              <a:spcAft>
                <a:spcPts val="0"/>
              </a:spcAft>
              <a:defRPr sz="555">
                <a:solidFill>
                  <a:srgbClr val="18273E"/>
                </a:solidFill>
              </a:defRPr>
            </a:pPr>
            <a:r>
              <a:rPr>
                <a:latin typeface="Calibri"/>
              </a:rPr>
              <a:t>excerpt: Nasal septal destruction, oral ulceration, and mucosal inflammation after prior cutaneous disease support mucocutaneous leishmaniasis.</a:t>
            </a:r>
          </a:p>
        </p:txBody>
      </p:sp>
      <p:sp>
        <p:nvSpPr>
          <p:cNvPr id="14" name="Rectangle 13"/>
          <p:cNvSpPr/>
          <p:nvPr/>
        </p:nvSpPr>
        <p:spPr>
          <a:xfrm>
            <a:off x="5833872"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rPr>
                <a:latin typeface="Calibri"/>
              </a:rPr>
              <a:t>Evidence rank 3</a:t>
            </a:r>
          </a:p>
          <a:p>
            <a:pPr>
              <a:lnSpc>
                <a:spcPct val="100000"/>
              </a:lnSpc>
              <a:spcAft>
                <a:spcPts val="0"/>
              </a:spcAft>
              <a:defRPr sz="555">
                <a:solidFill>
                  <a:srgbClr val="18273E"/>
                </a:solidFill>
              </a:defRPr>
            </a:pPr>
            <a:r>
              <a:rPr>
                <a:latin typeface="Calibri"/>
              </a:rPr>
              <a:t>chunk_id: cl-002 | score: 0.3795</a:t>
            </a:r>
          </a:p>
          <a:p>
            <a:pPr>
              <a:lnSpc>
                <a:spcPct val="100000"/>
              </a:lnSpc>
              <a:spcAft>
                <a:spcPts val="0"/>
              </a:spcAft>
              <a:defRPr sz="555">
                <a:solidFill>
                  <a:srgbClr val="18273E"/>
                </a:solidFill>
              </a:defRPr>
            </a:pPr>
            <a:r>
              <a:rPr>
                <a:latin typeface="Calibri"/>
              </a:rPr>
              <a:t>title: Papulonodular skin lesion in endemic travel history</a:t>
            </a:r>
          </a:p>
          <a:p>
            <a:pPr>
              <a:lnSpc>
                <a:spcPct val="100000"/>
              </a:lnSpc>
              <a:spcAft>
                <a:spcPts val="0"/>
              </a:spcAft>
              <a:defRPr sz="555">
                <a:solidFill>
                  <a:srgbClr val="18273E"/>
                </a:solidFill>
              </a:defRPr>
            </a:pPr>
            <a:r>
              <a:rPr>
                <a:latin typeface="Calibri"/>
              </a:rPr>
              <a:t>diagnosis_label: Cutaneous leishmaniasis | confirmatory: True</a:t>
            </a:r>
          </a:p>
          <a:p>
            <a:pPr>
              <a:lnSpc>
                <a:spcPct val="100000"/>
              </a:lnSpc>
              <a:spcAft>
                <a:spcPts val="0"/>
              </a:spcAft>
              <a:defRPr sz="555">
                <a:solidFill>
                  <a:srgbClr val="18273E"/>
                </a:solidFill>
              </a:defRPr>
            </a:pPr>
            <a:r>
              <a:rPr>
                <a:latin typeface="Calibri"/>
              </a:rPr>
              <a:t>excerpt: A chronic papule progressing to a nodular ulcer after endemic travel supported cutaneous leishmaniasis. Biopsy and PCR were used for confirmation.</a:t>
            </a:r>
          </a:p>
        </p:txBody>
      </p:sp>
      <p:sp>
        <p:nvSpPr>
          <p:cNvPr id="15" name="TextBox 14"/>
          <p:cNvSpPr txBox="1"/>
          <p:nvPr/>
        </p:nvSpPr>
        <p:spPr>
          <a:xfrm>
            <a:off x="502920" y="4828032"/>
            <a:ext cx="713232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Q&amp;A appendix only - exact RAG trace and fresh real-GPU audit evidence</a:t>
            </a:r>
          </a:p>
        </p:txBody>
      </p:sp>
      <p:sp>
        <p:nvSpPr>
          <p:cNvPr id="16" name="Page badge 29"/>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Page badge 29"/>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29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APPENDIX RETRIEVER/RERANKER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Official RAG Trace: PMC10026180_04</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50876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CASE ID</a:t>
            </a:r>
          </a:p>
          <a:p>
            <a:pPr>
              <a:defRPr sz="1100" b="1">
                <a:solidFill>
                  <a:srgbClr val="18273E"/>
                </a:solidFill>
              </a:defRPr>
            </a:pPr>
            <a:r>
              <a:rPr>
                <a:latin typeface="Calibri"/>
              </a:rPr>
              <a:t>PMC10026180_04</a:t>
            </a:r>
          </a:p>
        </p:txBody>
      </p:sp>
      <p:sp>
        <p:nvSpPr>
          <p:cNvPr id="6" name="Rectangle 5"/>
          <p:cNvSpPr/>
          <p:nvPr/>
        </p:nvSpPr>
        <p:spPr>
          <a:xfrm>
            <a:off x="2148840" y="1143000"/>
            <a:ext cx="141732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RETRIEVER</a:t>
            </a:r>
          </a:p>
          <a:p>
            <a:pPr>
              <a:defRPr sz="1100" b="1">
                <a:solidFill>
                  <a:srgbClr val="18273E"/>
                </a:solidFill>
              </a:defRPr>
            </a:pPr>
            <a:r>
              <a:rPr>
                <a:latin typeface="Calibri"/>
              </a:rPr>
              <a:t>hybrid</a:t>
            </a:r>
          </a:p>
        </p:txBody>
      </p:sp>
      <p:sp>
        <p:nvSpPr>
          <p:cNvPr id="7" name="Rectangle 6"/>
          <p:cNvSpPr/>
          <p:nvPr/>
        </p:nvSpPr>
        <p:spPr>
          <a:xfrm>
            <a:off x="3703320" y="1143000"/>
            <a:ext cx="1234440"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RERANK</a:t>
            </a:r>
          </a:p>
          <a:p>
            <a:pPr>
              <a:defRPr sz="1100" b="1">
                <a:solidFill>
                  <a:srgbClr val="18273E"/>
                </a:solidFill>
              </a:defRPr>
            </a:pPr>
            <a:r>
              <a:rPr>
                <a:latin typeface="Calibri"/>
              </a:rPr>
              <a:t>True</a:t>
            </a:r>
          </a:p>
        </p:txBody>
      </p:sp>
      <p:sp>
        <p:nvSpPr>
          <p:cNvPr id="8" name="Rectangle 7"/>
          <p:cNvSpPr/>
          <p:nvPr/>
        </p:nvSpPr>
        <p:spPr>
          <a:xfrm>
            <a:off x="5074920" y="1143000"/>
            <a:ext cx="12344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TOP K</a:t>
            </a:r>
          </a:p>
          <a:p>
            <a:pPr>
              <a:defRPr sz="1100" b="1">
                <a:solidFill>
                  <a:srgbClr val="18273E"/>
                </a:solidFill>
              </a:defRPr>
            </a:pPr>
            <a:r>
              <a:rPr>
                <a:latin typeface="Calibri"/>
              </a:rPr>
              <a:t>20</a:t>
            </a:r>
          </a:p>
        </p:txBody>
      </p:sp>
      <p:sp>
        <p:nvSpPr>
          <p:cNvPr id="9" name="Rectangle 8"/>
          <p:cNvSpPr/>
          <p:nvPr/>
        </p:nvSpPr>
        <p:spPr>
          <a:xfrm>
            <a:off x="6446520" y="1143000"/>
            <a:ext cx="196596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USE</a:t>
            </a:r>
          </a:p>
          <a:p>
            <a:pPr>
              <a:defRPr sz="1100" b="1">
                <a:solidFill>
                  <a:srgbClr val="18273E"/>
                </a:solidFill>
              </a:defRPr>
            </a:pPr>
            <a:r>
              <a:rPr>
                <a:latin typeface="Calibri"/>
              </a:rPr>
              <a:t>Q&amp;A trace only</a:t>
            </a:r>
          </a:p>
        </p:txBody>
      </p:sp>
      <p:sp>
        <p:nvSpPr>
          <p:cNvPr id="10" name="TextBox 9"/>
          <p:cNvSpPr txBox="1"/>
          <p:nvPr/>
        </p:nvSpPr>
        <p:spPr>
          <a:xfrm>
            <a:off x="502920" y="1673352"/>
            <a:ext cx="7909560" cy="201168"/>
          </a:xfrm>
          <a:prstGeom prst="rect">
            <a:avLst/>
          </a:prstGeom>
          <a:noFill/>
        </p:spPr>
        <p:txBody>
          <a:bodyPr wrap="square" lIns="73152" rIns="73152" tIns="36576" bIns="36576">
            <a:noAutofit/>
          </a:bodyPr>
          <a:lstStyle/>
          <a:p>
            <a:pPr>
              <a:lnSpc>
                <a:spcPct val="108000"/>
              </a:lnSpc>
              <a:defRPr sz="780" b="0">
                <a:solidFill>
                  <a:srgbClr val="536071"/>
                </a:solidFill>
              </a:defRPr>
            </a:pPr>
            <a:r>
              <a:rPr>
                <a:latin typeface="Calibri"/>
              </a:rPr>
              <a:t>qid: PMC10026180_04::Q1_Q3_multimodal_diagnosis | source: official Gemma 4 experiment-pipeline trace</a:t>
            </a:r>
          </a:p>
        </p:txBody>
      </p:sp>
      <p:sp>
        <p:nvSpPr>
          <p:cNvPr id="11" name="TextBox 10"/>
          <p:cNvSpPr txBox="1"/>
          <p:nvPr/>
        </p:nvSpPr>
        <p:spPr>
          <a:xfrm>
            <a:off x="502920" y="1901952"/>
            <a:ext cx="7909560" cy="182880"/>
          </a:xfrm>
          <a:prstGeom prst="rect">
            <a:avLst/>
          </a:prstGeom>
          <a:noFill/>
        </p:spPr>
        <p:txBody>
          <a:bodyPr wrap="square" lIns="73152" rIns="73152" tIns="36576" bIns="36576">
            <a:noAutofit/>
          </a:bodyPr>
          <a:lstStyle/>
          <a:p>
            <a:pPr>
              <a:lnSpc>
                <a:spcPct val="108000"/>
              </a:lnSpc>
              <a:defRPr sz="730" b="0">
                <a:solidFill>
                  <a:srgbClr val="536071"/>
                </a:solidFill>
              </a:defRPr>
            </a:pPr>
            <a:r>
              <a:rPr>
                <a:latin typeface="Calibri"/>
              </a:rPr>
              <a:t>Visible contexts are the rerank-enabled final context list used for generation; no separate pre-rerank list is claimed.</a:t>
            </a:r>
          </a:p>
        </p:txBody>
      </p:sp>
      <p:sp>
        <p:nvSpPr>
          <p:cNvPr id="12" name="Rectangle 11"/>
          <p:cNvSpPr/>
          <p:nvPr/>
        </p:nvSpPr>
        <p:spPr>
          <a:xfrm>
            <a:off x="502920"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rPr>
                <a:latin typeface="Calibri"/>
              </a:rPr>
              <a:t>Context rank 1</a:t>
            </a:r>
          </a:p>
          <a:p>
            <a:pPr>
              <a:lnSpc>
                <a:spcPct val="100000"/>
              </a:lnSpc>
              <a:spcAft>
                <a:spcPts val="0"/>
              </a:spcAft>
              <a:defRPr sz="580">
                <a:solidFill>
                  <a:srgbClr val="18273E"/>
                </a:solidFill>
              </a:defRPr>
            </a:pPr>
            <a:r>
              <a:rPr>
                <a:latin typeface="Calibri"/>
              </a:rPr>
              <a:t>doc_id: PMC5490479_01</a:t>
            </a:r>
          </a:p>
          <a:p>
            <a:pPr>
              <a:lnSpc>
                <a:spcPct val="100000"/>
              </a:lnSpc>
              <a:spcAft>
                <a:spcPts val="0"/>
              </a:spcAft>
              <a:defRPr sz="580">
                <a:solidFill>
                  <a:srgbClr val="18273E"/>
                </a:solidFill>
              </a:defRPr>
            </a:pPr>
            <a:r>
              <a:rPr>
                <a:latin typeface="Calibri"/>
              </a:rPr>
              <a:t>score: 0.021050130672368734</a:t>
            </a:r>
          </a:p>
          <a:p>
            <a:pPr>
              <a:lnSpc>
                <a:spcPct val="100000"/>
              </a:lnSpc>
              <a:spcAft>
                <a:spcPts val="0"/>
              </a:spcAft>
              <a:defRPr sz="580">
                <a:solidFill>
                  <a:srgbClr val="18273E"/>
                </a:solidFill>
              </a:defRPr>
            </a:pPr>
            <a:r>
              <a:rPr>
                <a:latin typeface="Calibri"/>
              </a:rPr>
              <a:t>diagnosis_type: LR | label_source: train_verified</a:t>
            </a:r>
          </a:p>
          <a:p>
            <a:pPr>
              <a:lnSpc>
                <a:spcPct val="100000"/>
              </a:lnSpc>
              <a:spcAft>
                <a:spcPts val="0"/>
              </a:spcAft>
              <a:defRPr sz="580">
                <a:solidFill>
                  <a:srgbClr val="18273E"/>
                </a:solidFill>
              </a:defRPr>
            </a:pPr>
            <a:r>
              <a:rPr>
                <a:latin typeface="Calibri"/>
              </a:rPr>
              <a:t>text_prefix: A 9-year-old boy presented with multiple papular lesions on the left cheek that had been present for three months and had gradually enlarged. His medical history was notable for an episode of cutaneous leishmaniasis located on the</a:t>
            </a:r>
          </a:p>
        </p:txBody>
      </p:sp>
      <p:sp>
        <p:nvSpPr>
          <p:cNvPr id="13" name="Rectangle 12"/>
          <p:cNvSpPr/>
          <p:nvPr/>
        </p:nvSpPr>
        <p:spPr>
          <a:xfrm>
            <a:off x="3172968"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rPr>
                <a:latin typeface="Calibri"/>
              </a:rPr>
              <a:t>Context rank 2</a:t>
            </a:r>
          </a:p>
          <a:p>
            <a:pPr>
              <a:lnSpc>
                <a:spcPct val="100000"/>
              </a:lnSpc>
              <a:spcAft>
                <a:spcPts val="0"/>
              </a:spcAft>
              <a:defRPr sz="580">
                <a:solidFill>
                  <a:srgbClr val="18273E"/>
                </a:solidFill>
              </a:defRPr>
            </a:pPr>
            <a:r>
              <a:rPr>
                <a:latin typeface="Calibri"/>
              </a:rPr>
              <a:t>doc_id: PMC3523429_01</a:t>
            </a:r>
          </a:p>
          <a:p>
            <a:pPr>
              <a:lnSpc>
                <a:spcPct val="100000"/>
              </a:lnSpc>
              <a:spcAft>
                <a:spcPts val="0"/>
              </a:spcAft>
              <a:defRPr sz="580">
                <a:solidFill>
                  <a:srgbClr val="18273E"/>
                </a:solidFill>
              </a:defRPr>
            </a:pPr>
            <a:r>
              <a:rPr>
                <a:latin typeface="Calibri"/>
              </a:rPr>
              <a:t>score: 0.015682382133995035</a:t>
            </a:r>
          </a:p>
          <a:p>
            <a:pPr>
              <a:lnSpc>
                <a:spcPct val="100000"/>
              </a:lnSpc>
              <a:spcAft>
                <a:spcPts val="0"/>
              </a:spcAft>
              <a:defRPr sz="580">
                <a:solidFill>
                  <a:srgbClr val="18273E"/>
                </a:solidFill>
              </a:defRPr>
            </a:pPr>
            <a:r>
              <a:rPr>
                <a:latin typeface="Calibri"/>
              </a:rPr>
              <a:t>diagnosis_type: CL | label_source: train_verified</a:t>
            </a:r>
          </a:p>
          <a:p>
            <a:pPr>
              <a:lnSpc>
                <a:spcPct val="100000"/>
              </a:lnSpc>
              <a:spcAft>
                <a:spcPts val="0"/>
              </a:spcAft>
              <a:defRPr sz="580">
                <a:solidFill>
                  <a:srgbClr val="18273E"/>
                </a:solidFill>
              </a:defRPr>
            </a:pPr>
            <a:r>
              <a:rPr>
                <a:latin typeface="Calibri"/>
              </a:rPr>
              <a:t>text_prefix: A 52-year-old woman presented with a single lesion on the tip of her nose that had existed for 14 months. It began as a papule and was slowly increasing in size, enlarging to a plaque. A smear of the lesion performed about 1 year</a:t>
            </a:r>
          </a:p>
        </p:txBody>
      </p:sp>
      <p:sp>
        <p:nvSpPr>
          <p:cNvPr id="14" name="Rectangle 13"/>
          <p:cNvSpPr/>
          <p:nvPr/>
        </p:nvSpPr>
        <p:spPr>
          <a:xfrm>
            <a:off x="5833872" y="2212848"/>
            <a:ext cx="2578608" cy="2331720"/>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285B9D"/>
                </a:solidFill>
              </a:defRPr>
            </a:pPr>
            <a:r>
              <a:rPr>
                <a:latin typeface="Calibri"/>
              </a:rPr>
              <a:t>Context rank 3</a:t>
            </a:r>
          </a:p>
          <a:p>
            <a:pPr>
              <a:lnSpc>
                <a:spcPct val="100000"/>
              </a:lnSpc>
              <a:spcAft>
                <a:spcPts val="0"/>
              </a:spcAft>
              <a:defRPr sz="580">
                <a:solidFill>
                  <a:srgbClr val="18273E"/>
                </a:solidFill>
              </a:defRPr>
            </a:pPr>
            <a:r>
              <a:rPr>
                <a:latin typeface="Calibri"/>
              </a:rPr>
              <a:t>doc_id: PMC7585787_01</a:t>
            </a:r>
          </a:p>
          <a:p>
            <a:pPr>
              <a:lnSpc>
                <a:spcPct val="100000"/>
              </a:lnSpc>
              <a:spcAft>
                <a:spcPts val="0"/>
              </a:spcAft>
              <a:defRPr sz="580">
                <a:solidFill>
                  <a:srgbClr val="18273E"/>
                </a:solidFill>
              </a:defRPr>
            </a:pPr>
            <a:r>
              <a:rPr>
                <a:latin typeface="Calibri"/>
              </a:rPr>
              <a:t>score: 0.014718614718614718</a:t>
            </a:r>
          </a:p>
          <a:p>
            <a:pPr>
              <a:lnSpc>
                <a:spcPct val="100000"/>
              </a:lnSpc>
              <a:spcAft>
                <a:spcPts val="0"/>
              </a:spcAft>
              <a:defRPr sz="580">
                <a:solidFill>
                  <a:srgbClr val="18273E"/>
                </a:solidFill>
              </a:defRPr>
            </a:pPr>
            <a:r>
              <a:rPr>
                <a:latin typeface="Calibri"/>
              </a:rPr>
              <a:t>diagnosis_type: MCL | label_source: train_verified</a:t>
            </a:r>
          </a:p>
          <a:p>
            <a:pPr>
              <a:lnSpc>
                <a:spcPct val="100000"/>
              </a:lnSpc>
              <a:spcAft>
                <a:spcPts val="0"/>
              </a:spcAft>
              <a:defRPr sz="580">
                <a:solidFill>
                  <a:srgbClr val="18273E"/>
                </a:solidFill>
              </a:defRPr>
            </a:pPr>
            <a:r>
              <a:rPr>
                <a:latin typeface="Calibri"/>
              </a:rPr>
              <a:t>text_prefix: A 38‑year‑old man from Yayu district, western Ethiopia, presented to the outpatient clinic with multiple skin lesions on his face and hands and mutilation of the nose; his upper lip was injured and swollen. Eight years earlier he</a:t>
            </a:r>
          </a:p>
        </p:txBody>
      </p:sp>
      <p:sp>
        <p:nvSpPr>
          <p:cNvPr id="15" name="TextBox 14"/>
          <p:cNvSpPr txBox="1"/>
          <p:nvPr/>
        </p:nvSpPr>
        <p:spPr>
          <a:xfrm>
            <a:off x="502920" y="4828032"/>
            <a:ext cx="713232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Q&amp;A appendix only - exact RAG trace and fresh real-GPU audit evidence</a:t>
            </a:r>
          </a:p>
        </p:txBody>
      </p:sp>
      <p:sp>
        <p:nvSpPr>
          <p:cNvPr id="16" name="Page badge 30"/>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Page badge 30"/>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30</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7909560" cy="219456"/>
          </a:xfrm>
          <a:prstGeom prst="rect">
            <a:avLst/>
          </a:prstGeom>
          <a:noFill/>
        </p:spPr>
        <p:txBody>
          <a:bodyPr wrap="square" lIns="73152" rIns="73152" tIns="36576" bIns="36576">
            <a:noAutofit/>
          </a:bodyPr>
          <a:lstStyle/>
          <a:p>
            <a:pPr>
              <a:lnSpc>
                <a:spcPct val="108000"/>
              </a:lnSpc>
              <a:defRPr sz="850" b="1">
                <a:solidFill>
                  <a:srgbClr val="0F766E"/>
                </a:solidFill>
              </a:defRPr>
            </a:pPr>
            <a:r>
              <a:rPr>
                <a:latin typeface="Calibri"/>
              </a:rPr>
              <a:t>APPENDIX EXACT BACKEND EVIDENCE</a:t>
            </a:r>
          </a:p>
        </p:txBody>
      </p:sp>
      <p:sp>
        <p:nvSpPr>
          <p:cNvPr id="3" name="TextBox 2"/>
          <p:cNvSpPr txBox="1"/>
          <p:nvPr/>
        </p:nvSpPr>
        <p:spPr>
          <a:xfrm>
            <a:off x="502920" y="530352"/>
            <a:ext cx="8138160" cy="384048"/>
          </a:xfrm>
          <a:prstGeom prst="rect">
            <a:avLst/>
          </a:prstGeom>
          <a:noFill/>
        </p:spPr>
        <p:txBody>
          <a:bodyPr wrap="square" lIns="73152" rIns="73152" tIns="36576" bIns="36576">
            <a:noAutofit/>
          </a:bodyPr>
          <a:lstStyle/>
          <a:p>
            <a:pPr>
              <a:lnSpc>
                <a:spcPct val="108000"/>
              </a:lnSpc>
              <a:defRPr sz="2300" b="1">
                <a:solidFill>
                  <a:srgbClr val="18273E"/>
                </a:solidFill>
              </a:defRPr>
            </a:pPr>
            <a:r>
              <a:rPr>
                <a:latin typeface="Calibri"/>
              </a:rPr>
              <a:t>Fresh Real-GPU Output Audit: PMC10026180_04</a:t>
            </a:r>
          </a:p>
        </p:txBody>
      </p:sp>
      <p:sp>
        <p:nvSpPr>
          <p:cNvPr id="4" name="Rectangle 3"/>
          <p:cNvSpPr/>
          <p:nvPr/>
        </p:nvSpPr>
        <p:spPr>
          <a:xfrm>
            <a:off x="502920" y="987552"/>
            <a:ext cx="8138160" cy="22860"/>
          </a:xfrm>
          <a:prstGeom prst="rect">
            <a:avLst/>
          </a:prstGeom>
          <a:solidFill>
            <a:srgbClr val="E8EF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1645920" cy="4389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0F766E"/>
                </a:solidFill>
              </a:defRPr>
            </a:pPr>
            <a:r>
              <a:rPr>
                <a:latin typeface="Calibri"/>
              </a:rPr>
              <a:t>CASE ID</a:t>
            </a:r>
          </a:p>
          <a:p>
            <a:pPr>
              <a:defRPr sz="1100" b="1">
                <a:solidFill>
                  <a:srgbClr val="18273E"/>
                </a:solidFill>
              </a:defRPr>
            </a:pPr>
            <a:r>
              <a:rPr>
                <a:latin typeface="Calibri"/>
              </a:rPr>
              <a:t>PMC10026180_04</a:t>
            </a:r>
          </a:p>
        </p:txBody>
      </p:sp>
      <p:sp>
        <p:nvSpPr>
          <p:cNvPr id="6" name="Rectangle 5"/>
          <p:cNvSpPr/>
          <p:nvPr/>
        </p:nvSpPr>
        <p:spPr>
          <a:xfrm>
            <a:off x="2286000" y="1143000"/>
            <a:ext cx="1874519" cy="438912"/>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1C804A"/>
                </a:solidFill>
              </a:defRPr>
            </a:pPr>
            <a:r>
              <a:rPr>
                <a:latin typeface="Calibri"/>
              </a:rPr>
              <a:t>PROVIDER</a:t>
            </a:r>
          </a:p>
          <a:p>
            <a:pPr>
              <a:defRPr sz="1100" b="1">
                <a:solidFill>
                  <a:srgbClr val="18273E"/>
                </a:solidFill>
              </a:defRPr>
            </a:pPr>
            <a:r>
              <a:rPr>
                <a:latin typeface="Calibri"/>
              </a:rPr>
              <a:t>real_gpu_gemma4</a:t>
            </a:r>
          </a:p>
        </p:txBody>
      </p:sp>
      <p:sp>
        <p:nvSpPr>
          <p:cNvPr id="7" name="Rectangle 6"/>
          <p:cNvSpPr/>
          <p:nvPr/>
        </p:nvSpPr>
        <p:spPr>
          <a:xfrm>
            <a:off x="4297680" y="1143000"/>
            <a:ext cx="2148840" cy="438912"/>
          </a:xfrm>
          <a:prstGeom prst="rect">
            <a:avLst/>
          </a:prstGeom>
          <a:solidFill>
            <a:srgbClr val="E8EFF9"/>
          </a:solidFill>
          <a:ln w="12700">
            <a:solidFill>
              <a:srgbClr val="285B9D"/>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285B9D"/>
                </a:solidFill>
              </a:defRPr>
            </a:pPr>
            <a:r>
              <a:rPr>
                <a:latin typeface="Calibri"/>
              </a:rPr>
              <a:t>MODEL</a:t>
            </a:r>
          </a:p>
          <a:p>
            <a:pPr>
              <a:defRPr sz="1100" b="1">
                <a:solidFill>
                  <a:srgbClr val="18273E"/>
                </a:solidFill>
              </a:defRPr>
            </a:pPr>
            <a:r>
              <a:rPr>
                <a:latin typeface="Calibri"/>
              </a:rPr>
              <a:t>google/gemma-4-E4B-it</a:t>
            </a:r>
          </a:p>
        </p:txBody>
      </p:sp>
      <p:sp>
        <p:nvSpPr>
          <p:cNvPr id="8" name="Rectangle 7"/>
          <p:cNvSpPr/>
          <p:nvPr/>
        </p:nvSpPr>
        <p:spPr>
          <a:xfrm>
            <a:off x="6583680" y="1143000"/>
            <a:ext cx="1828800" cy="438912"/>
          </a:xfrm>
          <a:prstGeom prst="rect">
            <a:avLst/>
          </a:prstGeom>
          <a:solidFill>
            <a:srgbClr val="FFEDD5"/>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lstStyle/>
          <a:p>
            <a:pPr algn="ctr">
              <a:defRPr sz="750" b="1">
                <a:solidFill>
                  <a:srgbClr val="EA580C"/>
                </a:solidFill>
              </a:defRPr>
            </a:pPr>
            <a:r>
              <a:rPr>
                <a:latin typeface="Calibri"/>
              </a:rPr>
              <a:t>USE</a:t>
            </a:r>
          </a:p>
          <a:p>
            <a:pPr>
              <a:defRPr sz="1100" b="1">
                <a:solidFill>
                  <a:srgbClr val="18273E"/>
                </a:solidFill>
              </a:defRPr>
            </a:pPr>
            <a:r>
              <a:rPr>
                <a:latin typeface="Calibri"/>
              </a:rPr>
              <a:t>Fresh audit only</a:t>
            </a:r>
          </a:p>
        </p:txBody>
      </p:sp>
      <p:sp>
        <p:nvSpPr>
          <p:cNvPr id="9" name="TextBox 8"/>
          <p:cNvSpPr txBox="1"/>
          <p:nvPr/>
        </p:nvSpPr>
        <p:spPr>
          <a:xfrm>
            <a:off x="502920" y="1691640"/>
            <a:ext cx="7909560" cy="210312"/>
          </a:xfrm>
          <a:prstGeom prst="rect">
            <a:avLst/>
          </a:prstGeom>
          <a:noFill/>
        </p:spPr>
        <p:txBody>
          <a:bodyPr wrap="square" lIns="73152" rIns="73152" tIns="36576" bIns="36576">
            <a:noAutofit/>
          </a:bodyPr>
          <a:lstStyle/>
          <a:p>
            <a:pPr>
              <a:lnSpc>
                <a:spcPct val="108000"/>
              </a:lnSpc>
              <a:defRPr sz="700" b="0">
                <a:solidFill>
                  <a:srgbClr val="536071"/>
                </a:solidFill>
              </a:defRPr>
            </a:pPr>
            <a:r>
              <a:rPr>
                <a:latin typeface="Calibri"/>
              </a:rPr>
              <a:t>request_id: v12d_recapture_live_gpu_PMC10026180_04_20260617_165636 | source: /home/ngocnt/Leishmaniasis_v3/rag/instructions/process/14/demo/presentation/v12d/re-capture/20260617_165636/PMC10026180_04_live_gpu_result.json</a:t>
            </a:r>
          </a:p>
        </p:txBody>
      </p:sp>
      <p:sp>
        <p:nvSpPr>
          <p:cNvPr id="10" name="Rectangle 9"/>
          <p:cNvSpPr/>
          <p:nvPr/>
        </p:nvSpPr>
        <p:spPr>
          <a:xfrm>
            <a:off x="502920" y="1993392"/>
            <a:ext cx="7909560" cy="932688"/>
          </a:xfrm>
          <a:prstGeom prst="rect">
            <a:avLst/>
          </a:prstGeom>
          <a:solidFill>
            <a:srgbClr val="E8F6ED"/>
          </a:solidFill>
          <a:ln w="12700">
            <a:solidFill>
              <a:srgbClr val="1C804A"/>
            </a:solidFill>
          </a:ln>
        </p:spPr>
        <p:style>
          <a:lnRef idx="1">
            <a:schemeClr val="accent1"/>
          </a:lnRef>
          <a:fillRef idx="3">
            <a:schemeClr val="accent1"/>
          </a:fillRef>
          <a:effectRef idx="2">
            <a:schemeClr val="accent1"/>
          </a:effectRef>
          <a:fontRef idx="minor">
            <a:schemeClr val="lt1"/>
          </a:fontRef>
        </p:style>
        <p:txBody>
          <a:bodyPr rtlCol="0" anchor="ctr" lIns="164592" rIns="128016" tIns="109728" bIns="91440" wrap="square"/>
          <a:lstStyle/>
          <a:p>
            <a:pPr algn="ctr">
              <a:defRPr sz="1200" b="1">
                <a:solidFill>
                  <a:srgbClr val="1C804A"/>
                </a:solidFill>
              </a:defRPr>
            </a:pPr>
            <a:r>
              <a:rPr>
                <a:latin typeface="Calibri"/>
              </a:rPr>
              <a:t>Exact model-output fields from fresh backend response</a:t>
            </a:r>
          </a:p>
          <a:p>
            <a:pPr>
              <a:lnSpc>
                <a:spcPct val="105000"/>
              </a:lnSpc>
              <a:defRPr sz="720">
                <a:solidFill>
                  <a:srgbClr val="18273E"/>
                </a:solidFill>
              </a:defRPr>
            </a:pPr>
            <a:r>
              <a:rPr>
                <a:latin typeface="Calibri"/>
              </a:rPr>
              <a:t>Rank 1 supportive consideration: Mucocutaneous Leishmaniasis (or other atypical infection)</a:t>
            </a:r>
          </a:p>
          <a:p>
            <a:pPr>
              <a:lnSpc>
                <a:spcPct val="105000"/>
              </a:lnSpc>
              <a:defRPr sz="720">
                <a:solidFill>
                  <a:srgbClr val="18273E"/>
                </a:solidFill>
              </a:defRPr>
            </a:pPr>
            <a:r>
              <a:rPr>
                <a:latin typeface="Calibri"/>
              </a:rPr>
              <a:t>Rank 1 Diagnosis Type: CL</a:t>
            </a:r>
          </a:p>
          <a:p>
            <a:pPr>
              <a:lnSpc>
                <a:spcPct val="105000"/>
              </a:lnSpc>
              <a:defRPr sz="720">
                <a:solidFill>
                  <a:srgbClr val="18273E"/>
                </a:solidFill>
              </a:defRPr>
            </a:pPr>
            <a:r>
              <a:rPr>
                <a:latin typeface="Calibri"/>
              </a:rPr>
              <a:t>Rank 1 Confidence: Medium</a:t>
            </a:r>
          </a:p>
          <a:p>
            <a:pPr>
              <a:lnSpc>
                <a:spcPct val="105000"/>
              </a:lnSpc>
              <a:defRPr sz="720">
                <a:solidFill>
                  <a:srgbClr val="18273E"/>
                </a:solidFill>
              </a:defRPr>
            </a:pPr>
            <a:r>
              <a:rPr>
                <a:latin typeface="Calibri"/>
              </a:rPr>
              <a:t>safety_state: generated_support | elapsed_seconds: 61.477 | query_image_tensor_count: 1</a:t>
            </a:r>
          </a:p>
        </p:txBody>
      </p:sp>
      <p:sp>
        <p:nvSpPr>
          <p:cNvPr id="11" name="TextBox 10"/>
          <p:cNvSpPr txBox="1"/>
          <p:nvPr/>
        </p:nvSpPr>
        <p:spPr>
          <a:xfrm>
            <a:off x="502920" y="3054096"/>
            <a:ext cx="7909560" cy="182880"/>
          </a:xfrm>
          <a:prstGeom prst="rect">
            <a:avLst/>
          </a:prstGeom>
          <a:noFill/>
        </p:spPr>
        <p:txBody>
          <a:bodyPr wrap="square" lIns="73152" rIns="73152" tIns="36576" bIns="36576">
            <a:noAutofit/>
          </a:bodyPr>
          <a:lstStyle/>
          <a:p>
            <a:pPr algn="ctr">
              <a:lnSpc>
                <a:spcPct val="108000"/>
              </a:lnSpc>
              <a:defRPr sz="900" b="1">
                <a:solidFill>
                  <a:srgbClr val="285B9D"/>
                </a:solidFill>
              </a:defRPr>
            </a:pPr>
            <a:r>
              <a:rPr>
                <a:latin typeface="Calibri"/>
              </a:rPr>
              <a:t>Exact returned evidence chunks from raw backend response</a:t>
            </a:r>
          </a:p>
        </p:txBody>
      </p:sp>
      <p:sp>
        <p:nvSpPr>
          <p:cNvPr id="12" name="Rectangle 11"/>
          <p:cNvSpPr/>
          <p:nvPr/>
        </p:nvSpPr>
        <p:spPr>
          <a:xfrm>
            <a:off x="502920"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rPr>
                <a:latin typeface="Calibri"/>
              </a:rPr>
              <a:t>Evidence rank 1</a:t>
            </a:r>
          </a:p>
          <a:p>
            <a:pPr>
              <a:lnSpc>
                <a:spcPct val="100000"/>
              </a:lnSpc>
              <a:spcAft>
                <a:spcPts val="0"/>
              </a:spcAft>
              <a:defRPr sz="555">
                <a:solidFill>
                  <a:srgbClr val="18273E"/>
                </a:solidFill>
              </a:defRPr>
            </a:pPr>
            <a:r>
              <a:rPr>
                <a:latin typeface="Calibri"/>
              </a:rPr>
              <a:t>chunk_id: cl-002 | score: 0.3079</a:t>
            </a:r>
          </a:p>
          <a:p>
            <a:pPr>
              <a:lnSpc>
                <a:spcPct val="100000"/>
              </a:lnSpc>
              <a:spcAft>
                <a:spcPts val="0"/>
              </a:spcAft>
              <a:defRPr sz="555">
                <a:solidFill>
                  <a:srgbClr val="18273E"/>
                </a:solidFill>
              </a:defRPr>
            </a:pPr>
            <a:r>
              <a:rPr>
                <a:latin typeface="Calibri"/>
              </a:rPr>
              <a:t>title: Papulonodular skin lesion in endemic travel history</a:t>
            </a:r>
          </a:p>
          <a:p>
            <a:pPr>
              <a:lnSpc>
                <a:spcPct val="100000"/>
              </a:lnSpc>
              <a:spcAft>
                <a:spcPts val="0"/>
              </a:spcAft>
              <a:defRPr sz="555">
                <a:solidFill>
                  <a:srgbClr val="18273E"/>
                </a:solidFill>
              </a:defRPr>
            </a:pPr>
            <a:r>
              <a:rPr>
                <a:latin typeface="Calibri"/>
              </a:rPr>
              <a:t>diagnosis_label: Cutaneous leishmaniasis | confirmatory: True</a:t>
            </a:r>
          </a:p>
          <a:p>
            <a:pPr>
              <a:lnSpc>
                <a:spcPct val="100000"/>
              </a:lnSpc>
              <a:spcAft>
                <a:spcPts val="0"/>
              </a:spcAft>
              <a:defRPr sz="555">
                <a:solidFill>
                  <a:srgbClr val="18273E"/>
                </a:solidFill>
              </a:defRPr>
            </a:pPr>
            <a:r>
              <a:rPr>
                <a:latin typeface="Calibri"/>
              </a:rPr>
              <a:t>excerpt: A chronic papule progressing to a nodular ulcer after endemic travel supported cutaneous leishmaniasis. Biopsy and PCR were used for confirmation.</a:t>
            </a:r>
          </a:p>
        </p:txBody>
      </p:sp>
      <p:sp>
        <p:nvSpPr>
          <p:cNvPr id="13" name="Rectangle 12"/>
          <p:cNvSpPr/>
          <p:nvPr/>
        </p:nvSpPr>
        <p:spPr>
          <a:xfrm>
            <a:off x="3172968"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rPr>
                <a:latin typeface="Calibri"/>
              </a:rPr>
              <a:t>Evidence rank 2</a:t>
            </a:r>
          </a:p>
          <a:p>
            <a:pPr>
              <a:lnSpc>
                <a:spcPct val="100000"/>
              </a:lnSpc>
              <a:spcAft>
                <a:spcPts val="0"/>
              </a:spcAft>
              <a:defRPr sz="555">
                <a:solidFill>
                  <a:srgbClr val="18273E"/>
                </a:solidFill>
              </a:defRPr>
            </a:pPr>
            <a:r>
              <a:rPr>
                <a:latin typeface="Calibri"/>
              </a:rPr>
              <a:t>chunk_id: cl-001 | score: 0.2318</a:t>
            </a:r>
          </a:p>
          <a:p>
            <a:pPr>
              <a:lnSpc>
                <a:spcPct val="100000"/>
              </a:lnSpc>
              <a:spcAft>
                <a:spcPts val="0"/>
              </a:spcAft>
              <a:defRPr sz="555">
                <a:solidFill>
                  <a:srgbClr val="18273E"/>
                </a:solidFill>
              </a:defRPr>
            </a:pPr>
            <a:r>
              <a:rPr>
                <a:latin typeface="Calibri"/>
              </a:rPr>
              <a:t>title: Cutaneous leishmaniasis with ulcer and smear-confirmed amastigotes</a:t>
            </a:r>
          </a:p>
          <a:p>
            <a:pPr>
              <a:lnSpc>
                <a:spcPct val="100000"/>
              </a:lnSpc>
              <a:spcAft>
                <a:spcPts val="0"/>
              </a:spcAft>
              <a:defRPr sz="555">
                <a:solidFill>
                  <a:srgbClr val="18273E"/>
                </a:solidFill>
              </a:defRPr>
            </a:pPr>
            <a:r>
              <a:rPr>
                <a:latin typeface="Calibri"/>
              </a:rPr>
              <a:t>diagnosis_label: Cutaneous leishmaniasis | confirmatory: True</a:t>
            </a:r>
          </a:p>
          <a:p>
            <a:pPr>
              <a:lnSpc>
                <a:spcPct val="100000"/>
              </a:lnSpc>
              <a:spcAft>
                <a:spcPts val="0"/>
              </a:spcAft>
              <a:defRPr sz="555">
                <a:solidFill>
                  <a:srgbClr val="18273E"/>
                </a:solidFill>
              </a:defRPr>
            </a:pPr>
            <a:r>
              <a:rPr>
                <a:latin typeface="Calibri"/>
              </a:rPr>
              <a:t>excerpt: A patient with an ulcerated plaque on the forearm after sandfly exposure had a lesion smear showing amastigotes. The presentation was consistent with localized cutaneous leishmaniasis.</a:t>
            </a:r>
          </a:p>
        </p:txBody>
      </p:sp>
      <p:sp>
        <p:nvSpPr>
          <p:cNvPr id="14" name="Rectangle 13"/>
          <p:cNvSpPr/>
          <p:nvPr/>
        </p:nvSpPr>
        <p:spPr>
          <a:xfrm>
            <a:off x="5833872" y="3310128"/>
            <a:ext cx="2578608" cy="1353312"/>
          </a:xfrm>
          <a:prstGeom prst="rect">
            <a:avLst/>
          </a:prstGeom>
          <a:solidFill>
            <a:srgbClr val="E5F6F4"/>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lIns="164592" rIns="146304" tIns="109728" bIns="109728" wrap="square"/>
          <a:lstStyle/>
          <a:p>
            <a:pPr algn="ctr">
              <a:defRPr sz="1200" b="1">
                <a:solidFill>
                  <a:srgbClr val="0F766E"/>
                </a:solidFill>
              </a:defRPr>
            </a:pPr>
            <a:r>
              <a:rPr>
                <a:latin typeface="Calibri"/>
              </a:rPr>
              <a:t>Evidence rank 3</a:t>
            </a:r>
          </a:p>
          <a:p>
            <a:pPr>
              <a:lnSpc>
                <a:spcPct val="100000"/>
              </a:lnSpc>
              <a:spcAft>
                <a:spcPts val="0"/>
              </a:spcAft>
              <a:defRPr sz="555">
                <a:solidFill>
                  <a:srgbClr val="18273E"/>
                </a:solidFill>
              </a:defRPr>
            </a:pPr>
            <a:r>
              <a:rPr>
                <a:latin typeface="Calibri"/>
              </a:rPr>
              <a:t>chunk_id: vl-002 | score: 0.0262</a:t>
            </a:r>
          </a:p>
          <a:p>
            <a:pPr>
              <a:lnSpc>
                <a:spcPct val="100000"/>
              </a:lnSpc>
              <a:spcAft>
                <a:spcPts val="0"/>
              </a:spcAft>
              <a:defRPr sz="555">
                <a:solidFill>
                  <a:srgbClr val="18273E"/>
                </a:solidFill>
              </a:defRPr>
            </a:pPr>
            <a:r>
              <a:rPr>
                <a:latin typeface="Calibri"/>
              </a:rPr>
              <a:t>title: Kala-azar pattern with hepatosplenomegaly</a:t>
            </a:r>
          </a:p>
          <a:p>
            <a:pPr>
              <a:lnSpc>
                <a:spcPct val="100000"/>
              </a:lnSpc>
              <a:spcAft>
                <a:spcPts val="0"/>
              </a:spcAft>
              <a:defRPr sz="555">
                <a:solidFill>
                  <a:srgbClr val="18273E"/>
                </a:solidFill>
              </a:defRPr>
            </a:pPr>
            <a:r>
              <a:rPr>
                <a:latin typeface="Calibri"/>
              </a:rPr>
              <a:t>diagnosis_label: Visceral leishmaniasis | confirmatory: False</a:t>
            </a:r>
          </a:p>
          <a:p>
            <a:pPr>
              <a:lnSpc>
                <a:spcPct val="100000"/>
              </a:lnSpc>
              <a:spcAft>
                <a:spcPts val="0"/>
              </a:spcAft>
              <a:defRPr sz="555">
                <a:solidFill>
                  <a:srgbClr val="18273E"/>
                </a:solidFill>
              </a:defRPr>
            </a:pPr>
            <a:r>
              <a:rPr>
                <a:latin typeface="Calibri"/>
              </a:rPr>
              <a:t>excerpt: Kala-azar often presents with hepatosplenomegaly, chronic fever, anemia, and systemic illness rather than an isolated skin ulcer.</a:t>
            </a:r>
          </a:p>
        </p:txBody>
      </p:sp>
      <p:sp>
        <p:nvSpPr>
          <p:cNvPr id="15" name="TextBox 14"/>
          <p:cNvSpPr txBox="1"/>
          <p:nvPr/>
        </p:nvSpPr>
        <p:spPr>
          <a:xfrm>
            <a:off x="502920" y="4828032"/>
            <a:ext cx="7132320" cy="164592"/>
          </a:xfrm>
          <a:prstGeom prst="rect">
            <a:avLst/>
          </a:prstGeom>
          <a:noFill/>
        </p:spPr>
        <p:txBody>
          <a:bodyPr wrap="square" lIns="73152" rIns="73152" tIns="36576" bIns="36576">
            <a:noAutofit/>
          </a:bodyPr>
          <a:lstStyle/>
          <a:p>
            <a:pPr>
              <a:lnSpc>
                <a:spcPct val="108000"/>
              </a:lnSpc>
              <a:defRPr sz="750" b="0">
                <a:solidFill>
                  <a:srgbClr val="536071"/>
                </a:solidFill>
              </a:defRPr>
            </a:pPr>
            <a:r>
              <a:rPr>
                <a:latin typeface="Calibri"/>
              </a:rPr>
              <a:t>Q&amp;A appendix only - exact RAG trace and fresh real-GPU audit evidence</a:t>
            </a:r>
          </a:p>
        </p:txBody>
      </p:sp>
      <p:sp>
        <p:nvSpPr>
          <p:cNvPr id="16" name="Page badge 31"/>
          <p:cNvSpPr/>
          <p:nvPr/>
        </p:nvSpPr>
        <p:spPr>
          <a:xfrm>
            <a:off x="8595360" y="91440"/>
            <a:ext cx="365760" cy="274320"/>
          </a:xfrm>
          <a:prstGeom prst="rect">
            <a:avLst/>
          </a:prstGeom>
          <a:solidFill>
            <a:srgbClr val="028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Page badge 31"/>
          <p:cNvSpPr/>
          <p:nvPr/>
        </p:nvSpPr>
        <p:spPr>
          <a:xfrm>
            <a:off x="8595360" y="91440"/>
            <a:ext cx="36576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31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
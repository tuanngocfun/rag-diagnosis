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78" r:id="rId16"/>
    <p:sldId id="291" r:id="rId17"/>
    <p:sldId id="305" r:id="rId1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theme" Target="theme/theme1.xml" /><ns0:Relationship Id="rId2" Type="http://schemas.openxmlformats.org/officeDocument/2006/relationships/presProps" Target="presProps.xml" /><ns0:Relationship Id="rId3" Type="http://schemas.openxmlformats.org/officeDocument/2006/relationships/slideMaster" Target="slideMasters/slideMaster1.xml" /><ns0:Relationship Id="rId4" Type="http://schemas.openxmlformats.org/officeDocument/2006/relationships/notesMaster" Target="notesMasters/notesMaster1.xml" /><ns0:Relationship Id="rId5" Type="http://schemas.openxmlformats.org/officeDocument/2006/relationships/slide" Target="slides/slide1.xml" /><ns0:Relationship Id="rId6" Type="http://schemas.openxmlformats.org/officeDocument/2006/relationships/slide" Target="slides/slide2.xml" /><ns0:Relationship Id="rId7" Type="http://schemas.openxmlformats.org/officeDocument/2006/relationships/slide" Target="slides/slide3.xml" /><ns0:Relationship Id="rId8" Type="http://schemas.openxmlformats.org/officeDocument/2006/relationships/slide" Target="slides/slide4.xml" /><ns0:Relationship Id="rId9" Type="http://schemas.openxmlformats.org/officeDocument/2006/relationships/slide" Target="slides/slide5.xml" /><ns0:Relationship Id="rId10" Type="http://schemas.openxmlformats.org/officeDocument/2006/relationships/slide" Target="slides/slide6.xml" /><ns0:Relationship Id="rId11" Type="http://schemas.openxmlformats.org/officeDocument/2006/relationships/slide" Target="slides/slide7.xml" /><ns0:Relationship Id="rId12" Type="http://schemas.openxmlformats.org/officeDocument/2006/relationships/slide" Target="slides/slide8.xml" /><ns0:Relationship Id="rId13" Type="http://schemas.openxmlformats.org/officeDocument/2006/relationships/slide" Target="slides/slide9.xml" /><ns0:Relationship Id="rId14" Type="http://schemas.openxmlformats.org/officeDocument/2006/relationships/slide" Target="slides/slide10.xml" /><ns0:Relationship Id="rId15" Type="http://schemas.openxmlformats.org/officeDocument/2006/relationships/slide" Target="slides/slide11.xml" /><ns0:Relationship Id="rId16" Type="http://schemas.openxmlformats.org/officeDocument/2006/relationships/slide" Target="slides/slide12.xml" /><ns0:Relationship Id="rId17" Type="http://schemas.openxmlformats.org/officeDocument/2006/relationships/slide" Target="slides/slide13.xml" /><ns0:Relationship Id="rId18" Type="http://schemas.openxmlformats.org/officeDocument/2006/relationships/slide" Target="slides/slide14.xml" /></ns0: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365760" y="22860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D8D8"/>
              </a:buClr>
              <a:buSzPts val="900"/>
              <a:buFont typeface="Calibri"/>
              <a:buNone/>
              <a:defRPr>
                <a:solidFill>
                  <a:srgbClr val="556978"/>
                </a:solidFill>
              </a:defRPr>
            </a:pPr>
            <a:r>
              <a:rPr b="0" i="0" lang="en-US" sz="900" u="none" cap="none" strike="noStrike">
                <a:solidFill>
                  <a:srgbClr val="556978"/>
                </a:solidFill>
                <a:latin typeface="Calibri"/>
                <a:ea typeface="Calibri"/>
                <a:cs typeface="Calibri"/>
                <a:sym typeface="Calibri"/>
              </a:rPr>
              <a:t>MASTER THESIS · ITS 2024 · 21024003</a:t>
            </a:r>
          </a:p>
        </p:txBody>
      </p:sp>
      <p:sp>
        <p:nvSpPr>
          <p:cNvPr id="18" name="Google Shape;18;p3"/>
          <p:cNvSpPr/>
          <p:nvPr/>
        </p:nvSpPr>
        <p:spPr>
          <a:xfrm>
            <a:off x="365760" y="54864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D8D8"/>
              </a:buClr>
              <a:buSzPts val="1100"/>
              <a:buFont typeface="Calibri"/>
              <a:buNone/>
              <a:defRPr>
                <a:solidFill>
                  <a:srgbClr val="556978"/>
                </a:solidFill>
              </a:defRPr>
            </a:pPr>
            <a:r>
              <a:rPr b="0" i="0" lang="en-US" sz="1100" u="none" cap="none" strike="noStrike">
                <a:solidFill>
                  <a:srgbClr val="556978"/>
                </a:solidFill>
                <a:latin typeface="Calibri"/>
                <a:ea typeface="Calibri"/>
                <a:cs typeface="Calibri"/>
                <a:sym typeface="Calibri"/>
              </a:rPr>
              <a:t>Hochschule Darmstadt · Fachbereich Informatik</a:t>
            </a:r>
          </a:p>
        </p:txBody>
      </p:sp>
      <p:sp>
        <p:nvSpPr>
          <p:cNvPr id="19" name="Google Shape;19;p3"/>
          <p:cNvSpPr/>
          <p:nvPr/>
        </p:nvSpPr>
        <p:spPr>
          <a:xfrm>
            <a:off x="365760" y="1097280"/>
            <a:ext cx="841248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1">
                <a:solidFill>
                  <a:srgbClr val="12263A"/>
                </a:solidFill>
              </a:defRPr>
            </a:pPr>
            <a:r>
              <a:rPr b="1" i="0" lang="en-US" sz="36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Multimodal RAG for Leishmaniasis Diagnosis</a:t>
            </a:r>
          </a:p>
        </p:txBody>
      </p:sp>
      <p:sp>
        <p:nvSpPr>
          <p:cNvPr id="20" name="Google Shape;20;p3"/>
          <p:cNvSpPr/>
          <p:nvPr/>
        </p:nvSpPr>
        <p:spPr>
          <a:xfrm>
            <a:off x="365760" y="33375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D8D8"/>
              </a:buClr>
              <a:buSzPts val="1400"/>
              <a:buFont typeface="Calibri"/>
              <a:buNone/>
              <a:defRPr i="1">
                <a:solidFill>
                  <a:srgbClr val="556978"/>
                </a:solidFill>
              </a:defRPr>
            </a:pPr>
            <a:r>
              <a:rPr b="0" i="1" lang="en-US" sz="1400" u="none" cap="none" strike="noStrike">
                <a:solidFill>
                  <a:srgbClr val="556978"/>
                </a:solidFill>
                <a:latin typeface="Calibri"/>
                <a:ea typeface="Calibri"/>
                <a:cs typeface="Calibri"/>
                <a:sym typeface="Calibri"/>
              </a:rPr>
              <a:t>Traceable evidence, model-dependent retrieval, and safety-gated demonstration</a:t>
            </a:r>
          </a:p>
        </p:txBody>
      </p:sp>
      <p:sp>
        <p:nvSpPr>
          <p:cNvPr id="21" name="Google Shape;21;p3"/>
          <p:cNvSpPr/>
          <p:nvPr/>
        </p:nvSpPr>
        <p:spPr>
          <a:xfrm>
            <a:off x="365760" y="3977640"/>
            <a:ext cx="5029200" cy="2743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365760" y="406908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  <a:defRPr>
                <a:solidFill>
                  <a:srgbClr val="556978"/>
                </a:solidFill>
              </a:defRPr>
            </a:pPr>
            <a:r>
              <a:rPr b="1" i="0" lang="en-US" sz="1300" u="none" cap="none" strike="noStrike">
                <a:solidFill>
                  <a:srgbClr val="556978"/>
                </a:solidFill>
                <a:latin typeface="Calibri"/>
                <a:ea typeface="Calibri"/>
                <a:cs typeface="Calibri"/>
                <a:sym typeface="Calibri"/>
              </a:rPr>
              <a:t>Nguyen Tuan Ngoc · Supervisor: Prof. Dr. Andreas Müller · Co-Supervisor: Dr. Tran Duc Khanh ·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Leishmaniasis is not simple image classification</a:t>
            </a:r>
          </a:p>
        </p:txBody>
      </p:sp>
      <p:sp>
        <p:nvSpPr>
          <p:cNvPr id="31" name="Google Shape;31;p4"/>
          <p:cNvSpPr/>
          <p:nvPr/>
        </p:nvSpPr>
        <p:spPr>
          <a:xfrm>
            <a:off x="320040" y="777240"/>
            <a:ext cx="5029200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502920" y="91440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</a:p>
        </p:txBody>
      </p:sp>
      <p:sp>
        <p:nvSpPr>
          <p:cNvPr id="33" name="Google Shape;33;p4"/>
          <p:cNvSpPr/>
          <p:nvPr/>
        </p:nvSpPr>
        <p:spPr>
          <a:xfrm>
            <a:off x="502920" y="1280160"/>
            <a:ext cx="4663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200"/>
              <a:buFont typeface="Calibri"/>
              <a:buChar char="•"/>
            </a:pPr>
            <a:r>
              <a:rPr b="1" i="0" lang="en-US" sz="120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Overlapping CL, MCL, VL, PKDL, and non-leishmaniasis mimics; lab confirmation is often the decisive evidence.</a:t>
            </a:r>
          </a:p>
        </p:txBody>
      </p:sp>
      <p:sp>
        <p:nvSpPr>
          <p:cNvPr id="34" name="Google Shape;34;p4"/>
          <p:cNvSpPr/>
          <p:nvPr/>
        </p:nvSpPr>
        <p:spPr>
          <a:xfrm>
            <a:off x="502920" y="214884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Evidence Streams</a:t>
            </a:r>
          </a:p>
        </p:txBody>
      </p:sp>
      <p:sp>
        <p:nvSpPr>
          <p:cNvPr id="35" name="Google Shape;35;p4"/>
          <p:cNvSpPr/>
          <p:nvPr/>
        </p:nvSpPr>
        <p:spPr>
          <a:xfrm>
            <a:off x="502920" y="2514600"/>
            <a:ext cx="1463040" cy="457200"/>
          </a:xfrm>
          <a:prstGeom prst="roundRect">
            <a:avLst>
              <a:gd fmla="val 24000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502920" y="251460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Text</a:t>
            </a:r>
          </a:p>
        </p:txBody>
      </p:sp>
      <p:sp>
        <p:nvSpPr>
          <p:cNvPr id="37" name="Google Shape;37;p4"/>
          <p:cNvSpPr/>
          <p:nvPr/>
        </p:nvSpPr>
        <p:spPr>
          <a:xfrm>
            <a:off x="502920" y="2770632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Symptoms</a:t>
            </a:r>
          </a:p>
        </p:txBody>
      </p:sp>
      <p:sp>
        <p:nvSpPr>
          <p:cNvPr id="38" name="Google Shape;38;p4"/>
          <p:cNvSpPr/>
          <p:nvPr/>
        </p:nvSpPr>
        <p:spPr>
          <a:xfrm>
            <a:off x="2075688" y="2514600"/>
            <a:ext cx="1463040" cy="457200"/>
          </a:xfrm>
          <a:prstGeom prst="roundRect">
            <a:avLst>
              <a:gd fmla="val 24000" name="adj"/>
            </a:avLst>
          </a:prstGeom>
          <a:solidFill>
            <a:srgbClr val="0A5C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2075688" y="251460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Image</a:t>
            </a:r>
          </a:p>
        </p:txBody>
      </p:sp>
      <p:sp>
        <p:nvSpPr>
          <p:cNvPr id="40" name="Google Shape;40;p4"/>
          <p:cNvSpPr/>
          <p:nvPr/>
        </p:nvSpPr>
        <p:spPr>
          <a:xfrm>
            <a:off x="2075688" y="2770632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Context</a:t>
            </a:r>
          </a:p>
        </p:txBody>
      </p:sp>
      <p:sp>
        <p:nvSpPr>
          <p:cNvPr id="41" name="Google Shape;41;p4"/>
          <p:cNvSpPr/>
          <p:nvPr/>
        </p:nvSpPr>
        <p:spPr>
          <a:xfrm>
            <a:off x="3648456" y="2514600"/>
            <a:ext cx="1463040" cy="457200"/>
          </a:xfrm>
          <a:prstGeom prst="roundRect">
            <a:avLst>
              <a:gd fmla="val 24000" name="adj"/>
            </a:avLst>
          </a:prstGeom>
          <a:solidFill>
            <a:srgbClr val="E639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3648456" y="251460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Lab</a:t>
            </a:r>
          </a:p>
        </p:txBody>
      </p:sp>
      <p:sp>
        <p:nvSpPr>
          <p:cNvPr id="43" name="Google Shape;43;p4"/>
          <p:cNvSpPr/>
          <p:nvPr/>
        </p:nvSpPr>
        <p:spPr>
          <a:xfrm>
            <a:off x="3648456" y="2770632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Weak reference</a:t>
            </a:r>
          </a:p>
        </p:txBody>
      </p:sp>
      <p:sp>
        <p:nvSpPr>
          <p:cNvPr id="44" name="Google Shape;44;p4"/>
          <p:cNvSpPr/>
          <p:nvPr/>
        </p:nvSpPr>
        <p:spPr>
          <a:xfrm>
            <a:off x="502920" y="310896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Why It Is Hard</a:t>
            </a:r>
          </a:p>
        </p:txBody>
      </p:sp>
      <p:sp>
        <p:nvSpPr>
          <p:cNvPr id="45" name="Google Shape;45;p4"/>
          <p:cNvSpPr/>
          <p:nvPr/>
        </p:nvSpPr>
        <p:spPr>
          <a:xfrm>
            <a:off x="502920" y="3474720"/>
            <a:ext cx="46634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Case reports mix symptoms, captions, pathology, treatment, and author conclusions. Image appearance alone is insufficient.</a:t>
            </a:r>
          </a:p>
        </p:txBody>
      </p:sp>
      <p:sp>
        <p:nvSpPr>
          <p:cNvPr id="46" name="Google Shape;46;p4"/>
          <p:cNvSpPr/>
          <p:nvPr/>
        </p:nvSpPr>
        <p:spPr>
          <a:xfrm>
            <a:off x="5486400" y="777240"/>
            <a:ext cx="3429000" cy="4023360"/>
          </a:xfrm>
          <a:prstGeom prst="rect">
            <a:avLst/>
          </a:prstGeom>
          <a:solidFill>
            <a:srgbClr val="F8FCFC"/>
          </a:solidFill>
          <a:ln w="17780">
            <a:solidFill>
              <a:srgbClr val="A5D7DC"/>
            </a:solidFill>
          </a:ln>
          <a:effectLst/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5577840" y="896112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SUPPORT IMAGE</a:t>
            </a:r>
          </a:p>
        </p:txBody>
      </p:sp>
      <p:sp>
        <p:nvSpPr>
          <p:cNvPr id="48" name="Google Shape;48;p4"/>
          <p:cNvSpPr/>
          <p:nvPr/>
        </p:nvSpPr>
        <p:spPr>
          <a:xfrm>
            <a:off x="5577840" y="1170432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2D8D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PMC3140149 · PKDL/HIV case report</a:t>
            </a:r>
          </a:p>
        </p:txBody>
      </p:sp>
      <p:sp>
        <p:nvSpPr>
          <p:cNvPr id="49" name="Google Shape;49;p4"/>
          <p:cNvSpPr/>
          <p:nvPr/>
        </p:nvSpPr>
        <p:spPr>
          <a:xfrm>
            <a:off x="5715000" y="1508760"/>
            <a:ext cx="2971800" cy="169164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2809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5577840" y="3255264"/>
            <a:ext cx="3246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2D8D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Infiltrated plaques on nose, wrist, and finger — useful visual context, not standalone ground truth.</a:t>
            </a:r>
          </a:p>
        </p:txBody>
      </p:sp>
      <p:sp>
        <p:nvSpPr>
          <p:cNvPr id="52" name="Google Shape;52;p4"/>
          <p:cNvSpPr/>
          <p:nvPr/>
        </p:nvSpPr>
        <p:spPr>
          <a:xfrm>
            <a:off x="5577840" y="4434840"/>
            <a:ext cx="3246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8FA8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Source: open-access PMC case-report image</a:t>
            </a:r>
          </a:p>
        </p:txBody>
      </p:sp>
      <p:sp>
        <p:nvSpPr>
          <p:cNvPr id="53" name="Google Shape;53;p4"/>
          <p:cNvSpPr/>
          <p:nvPr/>
        </p:nvSpPr>
        <p:spPr>
          <a:xfrm>
            <a:off x="320040" y="4846320"/>
            <a:ext cx="8595360" cy="201168"/>
          </a:xfrm>
          <a:prstGeom prst="rect">
            <a:avLst/>
          </a:prstGeom>
          <a:solidFill>
            <a:srgbClr val="D6E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411480" y="4873752"/>
            <a:ext cx="8412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Use this as a retrieval-ambiguity example: a support image can explain evidence flow, but it is not a direct official test query or model-proven diagnosis.</a:t>
            </a:r>
          </a:p>
        </p:txBody>
      </p:sp>
      <p:pic>
        <p:nvPicPr>
          <p:cNvPr id="55" name="Google Shape;55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0902" y="1508750"/>
            <a:ext cx="1950673" cy="1691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Four questions, one thread: does evidence help safely?</a:t>
            </a:r>
          </a:p>
        </p:txBody>
      </p:sp>
      <p:sp>
        <p:nvSpPr>
          <p:cNvPr id="64" name="Google Shape;64;p5"/>
          <p:cNvSpPr/>
          <p:nvPr/>
        </p:nvSpPr>
        <p:spPr>
          <a:xfrm>
            <a:off x="365760" y="65836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Each RQ asks whether more evidence improves the pipeline without creating unsupported claims.</a:t>
            </a:r>
          </a:p>
        </p:txBody>
      </p:sp>
      <p:sp>
        <p:nvSpPr>
          <p:cNvPr id="65" name="Google Shape;65;p5"/>
          <p:cNvSpPr/>
          <p:nvPr/>
        </p:nvSpPr>
        <p:spPr>
          <a:xfrm>
            <a:off x="320040" y="1051560"/>
            <a:ext cx="416052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320040" y="1051560"/>
            <a:ext cx="109728" cy="1737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521208" y="1161288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RQ1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521208" y="148132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Weak-Reference Evaluation</a:t>
            </a:r>
          </a:p>
        </p:txBody>
      </p:sp>
      <p:sp>
        <p:nvSpPr>
          <p:cNvPr id="69" name="Google Shape;69;p5"/>
          <p:cNvSpPr/>
          <p:nvPr/>
        </p:nvSpPr>
        <p:spPr>
          <a:xfrm>
            <a:off x="521208" y="1828800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Can structured case reconstruction support scored diagnosis evaluation on held-out leishmaniasis cases?</a:t>
            </a:r>
          </a:p>
        </p:txBody>
      </p:sp>
      <p:sp>
        <p:nvSpPr>
          <p:cNvPr id="70" name="Google Shape;70;p5"/>
          <p:cNvSpPr/>
          <p:nvPr/>
        </p:nvSpPr>
        <p:spPr>
          <a:xfrm>
            <a:off x="4663440" y="1051560"/>
            <a:ext cx="416052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4663440" y="1051560"/>
            <a:ext cx="109728" cy="1737360"/>
          </a:xfrm>
          <a:prstGeom prst="rect">
            <a:avLst/>
          </a:prstGeom>
          <a:solidFill>
            <a:srgbClr val="0A5C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4864608" y="1161288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C7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A5C75"/>
                </a:solidFill>
                <a:latin typeface="Calibri"/>
                <a:ea typeface="Calibri"/>
                <a:cs typeface="Calibri"/>
                <a:sym typeface="Calibri"/>
              </a:rPr>
              <a:t>RQ2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4864608" y="148132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Small-Model Practicality</a:t>
            </a:r>
          </a:p>
        </p:txBody>
      </p:sp>
      <p:sp>
        <p:nvSpPr>
          <p:cNvPr id="74" name="Google Shape;74;p5"/>
          <p:cNvSpPr/>
          <p:nvPr/>
        </p:nvSpPr>
        <p:spPr>
          <a:xfrm>
            <a:off x="4864608" y="1828800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Can local open models run on a single GPU with enough latency and memory transparency for audit?</a:t>
            </a:r>
          </a:p>
        </p:txBody>
      </p:sp>
      <p:sp>
        <p:nvSpPr>
          <p:cNvPr id="75" name="Google Shape;75;p5"/>
          <p:cNvSpPr/>
          <p:nvPr/>
        </p:nvSpPr>
        <p:spPr>
          <a:xfrm>
            <a:off x="320040" y="3017520"/>
            <a:ext cx="416052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320040" y="3017520"/>
            <a:ext cx="109728" cy="173736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521208" y="3127248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RQ3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521208" y="344728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Multimodal Evidence</a:t>
            </a:r>
          </a:p>
        </p:txBody>
      </p:sp>
      <p:sp>
        <p:nvSpPr>
          <p:cNvPr id="79" name="Google Shape;79;p5"/>
          <p:cNvSpPr/>
          <p:nvPr/>
        </p:nvSpPr>
        <p:spPr>
          <a:xfrm>
            <a:off x="521208" y="3794760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Do images and image-linked context add useful signal, or mainly increase visual hallucination risk?</a:t>
            </a:r>
          </a:p>
        </p:txBody>
      </p:sp>
      <p:sp>
        <p:nvSpPr>
          <p:cNvPr id="80" name="Google Shape;80;p5"/>
          <p:cNvSpPr/>
          <p:nvPr/>
        </p:nvSpPr>
        <p:spPr>
          <a:xfrm>
            <a:off x="4663440" y="3017520"/>
            <a:ext cx="416052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4663440" y="3017520"/>
            <a:ext cx="109728" cy="1737360"/>
          </a:xfrm>
          <a:prstGeom prst="rect">
            <a:avLst/>
          </a:prstGeom>
          <a:solidFill>
            <a:srgbClr val="5A2D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4864608" y="3127248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2D8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A2D82"/>
                </a:solidFill>
                <a:latin typeface="Calibri"/>
                <a:ea typeface="Calibri"/>
                <a:cs typeface="Calibri"/>
                <a:sym typeface="Calibri"/>
              </a:rPr>
              <a:t>RQ4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4864608" y="344728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Retrieval-Augmented Reasoning</a:t>
            </a:r>
          </a:p>
        </p:txBody>
      </p:sp>
      <p:sp>
        <p:nvSpPr>
          <p:cNvPr id="84" name="Google Shape;84;p5"/>
          <p:cNvSpPr/>
          <p:nvPr/>
        </p:nvSpPr>
        <p:spPr>
          <a:xfrm>
            <a:off x="4864608" y="3794760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Does retrieving similar cases help generation compared with matched no-RAG conditions?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Box 89"/>
          <p:cNvSpPr txBox="1"/>
          <p:nvPr/>
        </p:nvSpPr>
        <p:spPr>
          <a:xfrm>
            <a:off x="438912" y="201168"/>
            <a:ext cx="74980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32A3A"/>
                </a:solidFill>
                <a:latin typeface="Aptos Display"/>
              </a:rPr>
              <a:t>Two-lane retrieval architecture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57200" y="576072"/>
            <a:ext cx="76809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i="1">
                <a:solidFill>
                  <a:srgbClr val="566570"/>
                </a:solidFill>
                <a:latin typeface="Aptos"/>
              </a:rPr>
              <a:t>Text retrieval and image-linked retrieval are fused, gated, and audited before presentation.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650224" y="173736"/>
            <a:ext cx="301752" cy="301752"/>
          </a:xfrm>
          <a:prstGeom prst="rect">
            <a:avLst/>
          </a:prstGeom>
          <a:solidFill>
            <a:srgbClr val="00B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0">
                <a:solidFill>
                  <a:srgbClr val="132A3A"/>
                </a:solidFill>
                <a:latin typeface="Aptos"/>
              </a:rPr>
              <a:t>04</a:t>
            </a:r>
          </a:p>
        </p:txBody>
      </p:sp>
      <p:pic>
        <p:nvPicPr>
          <p:cNvPr id="93" name="Picture 92" descr="multimodal_rag_pipeline_icons_refined_capture.png"/>
          <p:cNvPicPr>
            <a:picLocks noChangeAspect="1"/>
          </p:cNvPicPr>
          <p:nvPr/>
        </p:nvPicPr>
        <p:blipFill>
          <a:blip ns2:embed="rId3"/>
          <a:stretch>
            <a:fillRect/>
          </a:stretch>
        </p:blipFill>
        <p:spPr>
          <a:xfrm>
            <a:off x="1893892" y="868680"/>
            <a:ext cx="5356214" cy="4114800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457200" y="4956048"/>
            <a:ext cx="777240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50">
                <a:solidFill>
                  <a:srgbClr val="7D8991"/>
                </a:solidFill>
                <a:latin typeface="Aptos"/>
              </a:rPr>
              <a:t>Architecture figure reused from the thesis pipeline diagram; the demo exposes retrieval, generation, uncertainty gate, and final route.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Main result: RAG effect is model-dependent</a:t>
            </a:r>
          </a:p>
        </p:txBody>
      </p:sp>
      <p:sp>
        <p:nvSpPr>
          <p:cNvPr id="122" name="Google Shape;122;p7"/>
          <p:cNvSpPr/>
          <p:nvPr/>
        </p:nvSpPr>
        <p:spPr>
          <a:xfrm>
            <a:off x="365760" y="6583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Weak-reference, prompt-judged diagnosis accuracy on 56 held-out cases; x-axis = model family, y-axis = diagnosis accuracy (%).</a:t>
            </a:r>
          </a:p>
        </p:txBody>
      </p:sp>
      <p:pic>
        <p:nvPicPr>
          <p:cNvPr id="123" name="Google Shape;12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14400"/>
            <a:ext cx="5303520" cy="347472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7"/>
          <p:cNvSpPr/>
          <p:nvPr/>
        </p:nvSpPr>
        <p:spPr>
          <a:xfrm>
            <a:off x="5806440" y="914400"/>
            <a:ext cx="320040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5943600" y="100584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Key deltas</a:t>
            </a:r>
          </a:p>
        </p:txBody>
      </p:sp>
      <p:sp>
        <p:nvSpPr>
          <p:cNvPr id="126" name="Google Shape;126;p7"/>
          <p:cNvSpPr/>
          <p:nvPr/>
        </p:nvSpPr>
        <p:spPr>
          <a:xfrm>
            <a:off x="5943600" y="1444752"/>
            <a:ext cx="2834640" cy="59436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6053328" y="1490472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Gemini</a:t>
            </a:r>
          </a:p>
        </p:txBody>
      </p:sp>
      <p:sp>
        <p:nvSpPr>
          <p:cNvPr id="128" name="Google Shape;128;p7"/>
          <p:cNvSpPr/>
          <p:nvPr/>
        </p:nvSpPr>
        <p:spPr>
          <a:xfrm>
            <a:off x="7424928" y="1490472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−11.2 pp</a:t>
            </a:r>
          </a:p>
        </p:txBody>
      </p:sp>
      <p:sp>
        <p:nvSpPr>
          <p:cNvPr id="129" name="Google Shape;129;p7"/>
          <p:cNvSpPr/>
          <p:nvPr/>
        </p:nvSpPr>
        <p:spPr>
          <a:xfrm>
            <a:off x="6053328" y="1764792"/>
            <a:ext cx="2788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statistically supported degradation</a:t>
            </a:r>
          </a:p>
        </p:txBody>
      </p:sp>
      <p:sp>
        <p:nvSpPr>
          <p:cNvPr id="130" name="Google Shape;130;p7"/>
          <p:cNvSpPr/>
          <p:nvPr/>
        </p:nvSpPr>
        <p:spPr>
          <a:xfrm>
            <a:off x="5943600" y="2157984"/>
            <a:ext cx="2834640" cy="59436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6053328" y="2203704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MedGemma</a:t>
            </a:r>
          </a:p>
        </p:txBody>
      </p:sp>
      <p:sp>
        <p:nvSpPr>
          <p:cNvPr id="132" name="Google Shape;132;p7"/>
          <p:cNvSpPr/>
          <p:nvPr/>
        </p:nvSpPr>
        <p:spPr>
          <a:xfrm>
            <a:off x="7424928" y="2203704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−3.1 pp</a:t>
            </a:r>
          </a:p>
        </p:txBody>
      </p:sp>
      <p:sp>
        <p:nvSpPr>
          <p:cNvPr id="133" name="Google Shape;133;p7"/>
          <p:cNvSpPr/>
          <p:nvPr/>
        </p:nvSpPr>
        <p:spPr>
          <a:xfrm>
            <a:off x="6053328" y="2478024"/>
            <a:ext cx="2788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directional; not robust</a:t>
            </a:r>
          </a:p>
        </p:txBody>
      </p:sp>
      <p:sp>
        <p:nvSpPr>
          <p:cNvPr id="134" name="Google Shape;134;p7"/>
          <p:cNvSpPr/>
          <p:nvPr/>
        </p:nvSpPr>
        <p:spPr>
          <a:xfrm>
            <a:off x="5943600" y="2871216"/>
            <a:ext cx="2834640" cy="59436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6053328" y="2916936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Gemma 4</a:t>
            </a:r>
          </a:p>
        </p:txBody>
      </p:sp>
      <p:sp>
        <p:nvSpPr>
          <p:cNvPr id="136" name="Google Shape;136;p7"/>
          <p:cNvSpPr/>
          <p:nvPr/>
        </p:nvSpPr>
        <p:spPr>
          <a:xfrm>
            <a:off x="7424928" y="2916936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+6.7 pp</a:t>
            </a:r>
          </a:p>
        </p:txBody>
      </p:sp>
      <p:sp>
        <p:nvSpPr>
          <p:cNvPr id="137" name="Google Shape;137;p7"/>
          <p:cNvSpPr/>
          <p:nvPr/>
        </p:nvSpPr>
        <p:spPr>
          <a:xfrm>
            <a:off x="6053328" y="3191256"/>
            <a:ext cx="2788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directional; CI crosses 0</a:t>
            </a:r>
          </a:p>
        </p:txBody>
      </p:sp>
      <p:sp>
        <p:nvSpPr>
          <p:cNvPr id="138" name="Google Shape;138;p7"/>
          <p:cNvSpPr/>
          <p:nvPr/>
        </p:nvSpPr>
        <p:spPr>
          <a:xfrm>
            <a:off x="5943600" y="3584448"/>
            <a:ext cx="2834640" cy="59436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6053328" y="3630168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Gemma 4 + images</a:t>
            </a:r>
          </a:p>
        </p:txBody>
      </p:sp>
      <p:sp>
        <p:nvSpPr>
          <p:cNvPr id="140" name="Google Shape;140;p7"/>
          <p:cNvSpPr/>
          <p:nvPr/>
        </p:nvSpPr>
        <p:spPr>
          <a:xfrm>
            <a:off x="7424928" y="3630168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+1.8 pp</a:t>
            </a:r>
          </a:p>
        </p:txBody>
      </p:sp>
      <p:sp>
        <p:nvSpPr>
          <p:cNvPr id="141" name="Google Shape;141;p7"/>
          <p:cNvSpPr/>
          <p:nvPr/>
        </p:nvSpPr>
        <p:spPr>
          <a:xfrm>
            <a:off x="6053328" y="3904488"/>
            <a:ext cx="2788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exploratory; hallucination risk ↑</a:t>
            </a:r>
          </a:p>
        </p:txBody>
      </p:sp>
      <p:sp>
        <p:nvSpPr>
          <p:cNvPr id="142" name="Google Shape;142;p7"/>
          <p:cNvSpPr/>
          <p:nvPr/>
        </p:nvSpPr>
        <p:spPr>
          <a:xfrm>
            <a:off x="320040" y="4572000"/>
            <a:ext cx="8595360" cy="411480"/>
          </a:xfrm>
          <a:prstGeom prst="rect">
            <a:avLst/>
          </a:prstGeom>
          <a:solidFill>
            <a:srgbClr val="FFFBEB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502920" y="46177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Chart: grouped bars compare matched no-RAG vs adaptive RAG for each model family. Retrieval is not uniformly beneficial.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Corpus imbalance explains the specificity risk</a:t>
            </a:r>
          </a:p>
        </p:txBody>
      </p:sp>
      <p:sp>
        <p:nvSpPr>
          <p:cNvPr id="152" name="Google Shape;152;p8"/>
          <p:cNvSpPr/>
          <p:nvPr/>
        </p:nvSpPr>
        <p:spPr>
          <a:xfrm>
            <a:off x="365760" y="6583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Left chart: class mix by split. Right chart: leish-labelled share of retrieved support after clean-context audit.</a:t>
            </a:r>
          </a:p>
        </p:txBody>
      </p:sp>
      <p:sp>
        <p:nvSpPr>
          <p:cNvPr id="153" name="Google Shape;153;p8"/>
          <p:cNvSpPr/>
          <p:nvPr/>
        </p:nvSpPr>
        <p:spPr>
          <a:xfrm>
            <a:off x="365760" y="987552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Retrieval corpus</a:t>
            </a:r>
          </a:p>
        </p:txBody>
      </p:sp>
      <p:pic>
        <p:nvPicPr>
          <p:cNvPr id="154" name="Google Shape;15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1298448"/>
            <a:ext cx="4206240" cy="310896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8"/>
          <p:cNvSpPr/>
          <p:nvPr/>
        </p:nvSpPr>
        <p:spPr>
          <a:xfrm>
            <a:off x="4663440" y="987552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2D8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A2D82"/>
                </a:solidFill>
                <a:latin typeface="Calibri"/>
                <a:ea typeface="Calibri"/>
                <a:cs typeface="Calibri"/>
                <a:sym typeface="Calibri"/>
              </a:rPr>
              <a:t>Held-out / support audit</a:t>
            </a:r>
          </a:p>
        </p:txBody>
      </p:sp>
      <p:pic>
        <p:nvPicPr>
          <p:cNvPr id="156" name="Google Shape;15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7720" y="1298448"/>
            <a:ext cx="4206240" cy="310896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8"/>
          <p:cNvSpPr/>
          <p:nvPr/>
        </p:nvSpPr>
        <p:spPr>
          <a:xfrm>
            <a:off x="320040" y="4553712"/>
            <a:ext cx="8595360" cy="438912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1226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502920" y="46177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Key finding: the corpus is 106/121 leish cases while the held-out set is majority non-leish. Non-leish queries still receive mostly leish-labelled top-10 support, so RAG can over-support leishmaniasis mimics.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800"/>
              <a:buFont typeface="Calibri"/>
              <a:buNone/>
              <a:defRPr>
                <a:solidFill>
                  <a:srgbClr val="12263A"/>
                </a:solidFill>
              </a:defRPr>
            </a:pPr>
            <a:r>
              <a:rPr b="0" i="0" lang="en-US" sz="8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>
                <a:solidFill>
                  <a:srgbClr val="12263A"/>
                </a:solidFill>
              </a:defRPr>
            </a:pPr>
            <a:r>
              <a:rPr b="1" i="0" lang="en-US" sz="24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Retriever quality sets the ceiling</a:t>
            </a:r>
          </a:p>
        </p:txBody>
      </p:sp>
      <p:sp>
        <p:nvSpPr>
          <p:cNvPr id="167" name="Google Shape;167;p9"/>
          <p:cNvSpPr/>
          <p:nvPr/>
        </p:nvSpPr>
        <p:spPr>
          <a:xfrm>
            <a:off x="365760" y="6583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D8D8"/>
              </a:buClr>
              <a:buSzPts val="1100"/>
              <a:buFont typeface="Calibri"/>
              <a:buNone/>
              <a:defRPr>
                <a:solidFill>
                  <a:srgbClr val="556978"/>
                </a:solidFill>
              </a:defRPr>
            </a:pPr>
            <a:r>
              <a:rPr b="0" i="1" lang="en-US" sz="1100" u="none" cap="none" strike="noStrike">
                <a:solidFill>
                  <a:srgbClr val="556978"/>
                </a:solidFill>
                <a:latin typeface="Calibri"/>
                <a:ea typeface="Calibri"/>
                <a:cs typeface="Calibri"/>
                <a:sym typeface="Calibri"/>
              </a:rPr>
              <a:t>Classic retrieval metrics on 23 held-out queries with qrels; 121-case corpus with 104-doc qrels coverage.</a:t>
            </a:r>
          </a:p>
        </p:txBody>
      </p:sp>
      <p:sp>
        <p:nvSpPr>
          <p:cNvPr id="168" name="Google Shape;168;p9"/>
          <p:cNvSpPr/>
          <p:nvPr/>
        </p:nvSpPr>
        <p:spPr>
          <a:xfrm>
            <a:off x="320040" y="1097280"/>
            <a:ext cx="2743200" cy="1645920"/>
          </a:xfrm>
          <a:prstGeom prst="rect">
            <a:avLst/>
          </a:prstGeom>
          <a:solidFill>
            <a:srgbClr val="E5FAF7"/>
          </a:solidFill>
          <a:ln cap="flat" cmpd="sng" w="1905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"/>
          <p:cNvSpPr/>
          <p:nvPr/>
        </p:nvSpPr>
        <p:spPr>
          <a:xfrm>
            <a:off x="320040" y="1325880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4000"/>
              <a:buFont typeface="Calibri"/>
              <a:buNone/>
              <a:defRPr b="1">
                <a:solidFill>
                  <a:srgbClr val="028090"/>
                </a:solidFill>
              </a:defRPr>
            </a:pPr>
            <a:r>
              <a:rPr b="1" i="0" lang="en-US" sz="4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58.3%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320040" y="199339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  <a:defRPr b="1">
                <a:solidFill>
                  <a:srgbClr val="12263A"/>
                </a:solidFill>
              </a:defRPr>
            </a:pPr>
            <a:r>
              <a:rPr b="1" i="0" lang="en-US" sz="13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P@5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320040" y="23317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2D8D8"/>
              </a:buClr>
              <a:buSzPts val="900"/>
              <a:buFont typeface="Calibri"/>
              <a:buNone/>
              <a:defRPr>
                <a:solidFill>
                  <a:srgbClr val="556978"/>
                </a:solidFill>
              </a:defRPr>
            </a:pPr>
            <a:r>
              <a:rPr b="0" i="0" lang="en-US" sz="900" u="none" cap="none" strike="noStrike">
                <a:solidFill>
                  <a:srgbClr val="556978"/>
                </a:solidFill>
                <a:latin typeface="Calibri"/>
                <a:ea typeface="Calibri"/>
                <a:cs typeface="Calibri"/>
                <a:sym typeface="Calibri"/>
              </a:rPr>
              <a:t>Top-5 precision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3246120" y="1097280"/>
            <a:ext cx="2743200" cy="1645920"/>
          </a:xfrm>
          <a:prstGeom prst="rect">
            <a:avLst/>
          </a:prstGeom>
          <a:solidFill>
            <a:srgbClr val="E5FAF7"/>
          </a:solidFill>
          <a:ln cap="flat" cmpd="sng" w="1905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"/>
          <p:cNvSpPr/>
          <p:nvPr/>
        </p:nvSpPr>
        <p:spPr>
          <a:xfrm>
            <a:off x="3246120" y="1325880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4000"/>
              <a:buFont typeface="Calibri"/>
              <a:buNone/>
              <a:defRPr b="1">
                <a:solidFill>
                  <a:srgbClr val="028090"/>
                </a:solidFill>
              </a:defRPr>
            </a:pPr>
            <a:r>
              <a:rPr b="1" i="0" lang="en-US" sz="4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59.5%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3246120" y="199339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  <a:defRPr b="1">
                <a:solidFill>
                  <a:srgbClr val="12263A"/>
                </a:solidFill>
              </a:defRPr>
            </a:pPr>
            <a:r>
              <a:rPr b="1" i="0" lang="en-US" sz="13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nDCG@5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3246120" y="23317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2D8D8"/>
              </a:buClr>
              <a:buSzPts val="900"/>
              <a:buFont typeface="Calibri"/>
              <a:buNone/>
              <a:defRPr>
                <a:solidFill>
                  <a:srgbClr val="556978"/>
                </a:solidFill>
              </a:defRPr>
            </a:pPr>
            <a:r>
              <a:rPr b="0" i="0" lang="en-US" sz="900" u="none" cap="none" strike="noStrike">
                <a:solidFill>
                  <a:srgbClr val="556978"/>
                </a:solidFill>
                <a:latin typeface="Calibri"/>
                <a:ea typeface="Calibri"/>
                <a:cs typeface="Calibri"/>
                <a:sym typeface="Calibri"/>
              </a:rPr>
              <a:t>Ranking quality @5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6172200" y="1097280"/>
            <a:ext cx="2743200" cy="1645920"/>
          </a:xfrm>
          <a:prstGeom prst="rect">
            <a:avLst/>
          </a:prstGeom>
          <a:solidFill>
            <a:srgbClr val="E5FAF7"/>
          </a:solidFill>
          <a:ln cap="flat" cmpd="sng" w="1905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"/>
          <p:cNvSpPr/>
          <p:nvPr/>
        </p:nvSpPr>
        <p:spPr>
          <a:xfrm>
            <a:off x="6172200" y="1325880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4000"/>
              <a:buFont typeface="Calibri"/>
              <a:buNone/>
              <a:defRPr b="1">
                <a:solidFill>
                  <a:srgbClr val="028090"/>
                </a:solidFill>
              </a:defRPr>
            </a:pPr>
            <a:r>
              <a:rPr b="1" i="0" lang="en-US" sz="4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71.5%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6172200" y="199339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  <a:defRPr b="1">
                <a:solidFill>
                  <a:srgbClr val="12263A"/>
                </a:solidFill>
              </a:defRPr>
            </a:pPr>
            <a:r>
              <a:rPr b="1" i="0" lang="en-US" sz="13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MRR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6172200" y="23317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2D8D8"/>
              </a:buClr>
              <a:buSzPts val="900"/>
              <a:buFont typeface="Calibri"/>
              <a:buNone/>
              <a:defRPr>
                <a:solidFill>
                  <a:srgbClr val="556978"/>
                </a:solidFill>
              </a:defRPr>
            </a:pPr>
            <a:r>
              <a:rPr b="0" i="0" lang="en-US" sz="900" u="none" cap="none" strike="noStrike">
                <a:solidFill>
                  <a:srgbClr val="556978"/>
                </a:solidFill>
                <a:latin typeface="Calibri"/>
                <a:ea typeface="Calibri"/>
                <a:cs typeface="Calibri"/>
                <a:sym typeface="Calibri"/>
              </a:rPr>
              <a:t>First relevant hit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320040" y="2971800"/>
            <a:ext cx="2743200" cy="1645920"/>
          </a:xfrm>
          <a:prstGeom prst="rect">
            <a:avLst/>
          </a:prstGeom>
          <a:solidFill>
            <a:srgbClr val="FFF6ED"/>
          </a:solidFill>
          <a:ln cap="flat" cmpd="sng" w="1905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320040" y="3200400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4000"/>
              <a:buFont typeface="Calibri"/>
              <a:buNone/>
              <a:defRPr b="1">
                <a:solidFill>
                  <a:srgbClr val="F4A261"/>
                </a:solidFill>
              </a:defRPr>
            </a:pPr>
            <a:r>
              <a:rPr b="1" i="0" lang="en-US" sz="40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13.5%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320040" y="386791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  <a:defRPr b="1">
                <a:solidFill>
                  <a:srgbClr val="12263A"/>
                </a:solidFill>
              </a:defRPr>
            </a:pPr>
            <a:r>
              <a:rPr b="1" i="0" lang="en-US" sz="13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Recall@5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320040" y="42062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2D8D8"/>
              </a:buClr>
              <a:buSzPts val="900"/>
              <a:buFont typeface="Calibri"/>
              <a:buNone/>
              <a:defRPr>
                <a:solidFill>
                  <a:srgbClr val="556978"/>
                </a:solidFill>
              </a:defRPr>
            </a:pPr>
            <a:r>
              <a:rPr b="0" i="0" lang="en-US" sz="900" u="none" cap="none" strike="noStrike">
                <a:solidFill>
                  <a:srgbClr val="556978"/>
                </a:solidFill>
                <a:latin typeface="Calibri"/>
                <a:ea typeface="Calibri"/>
                <a:cs typeface="Calibri"/>
                <a:sym typeface="Calibri"/>
              </a:rPr>
              <a:t>Coverage in top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3246120" y="2971800"/>
            <a:ext cx="2743200" cy="1645920"/>
          </a:xfrm>
          <a:prstGeom prst="rect">
            <a:avLst/>
          </a:prstGeom>
          <a:solidFill>
            <a:srgbClr val="FFF6ED"/>
          </a:solidFill>
          <a:ln cap="flat" cmpd="sng" w="1905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3246120" y="3200400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4000"/>
              <a:buFont typeface="Calibri"/>
              <a:buNone/>
              <a:defRPr b="1">
                <a:solidFill>
                  <a:srgbClr val="F4A261"/>
                </a:solidFill>
              </a:defRPr>
            </a:pPr>
            <a:r>
              <a:rPr b="1" i="0" lang="en-US" sz="40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23.4%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3246120" y="386791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  <a:defRPr b="1">
                <a:solidFill>
                  <a:srgbClr val="12263A"/>
                </a:solidFill>
              </a:defRPr>
            </a:pPr>
            <a:r>
              <a:rPr b="1" i="0" lang="en-US" sz="13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Recall@10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3246120" y="42062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2D8D8"/>
              </a:buClr>
              <a:buSzPts val="900"/>
              <a:buFont typeface="Calibri"/>
              <a:buNone/>
              <a:defRPr>
                <a:solidFill>
                  <a:srgbClr val="556978"/>
                </a:solidFill>
              </a:defRPr>
            </a:pPr>
            <a:r>
              <a:rPr b="0" i="0" lang="en-US" sz="900" u="none" cap="none" strike="noStrike">
                <a:solidFill>
                  <a:srgbClr val="556978"/>
                </a:solidFill>
                <a:latin typeface="Calibri"/>
                <a:ea typeface="Calibri"/>
                <a:cs typeface="Calibri"/>
                <a:sym typeface="Calibri"/>
              </a:rPr>
              <a:t>Coverage in top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6172200" y="2971800"/>
            <a:ext cx="2743200" cy="1645920"/>
          </a:xfrm>
          <a:prstGeom prst="rect">
            <a:avLst/>
          </a:prstGeom>
          <a:solidFill>
            <a:srgbClr val="FFF6ED"/>
          </a:solidFill>
          <a:ln cap="flat" cmpd="sng" w="1905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6172200" y="3200400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4000"/>
              <a:buFont typeface="Calibri"/>
              <a:buNone/>
              <a:defRPr b="1">
                <a:solidFill>
                  <a:srgbClr val="F4A261"/>
                </a:solidFill>
              </a:defRPr>
            </a:pPr>
            <a:r>
              <a:rPr b="1" i="0" lang="en-US" sz="40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26.1%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6172200" y="386791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  <a:defRPr b="1">
                <a:solidFill>
                  <a:srgbClr val="12263A"/>
                </a:solidFill>
              </a:defRPr>
            </a:pPr>
            <a:r>
              <a:rPr b="1" i="0" lang="en-US" sz="13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MAP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6172200" y="42062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2D8D8"/>
              </a:buClr>
              <a:buSzPts val="900"/>
              <a:buFont typeface="Calibri"/>
              <a:buNone/>
              <a:defRPr>
                <a:solidFill>
                  <a:srgbClr val="556978"/>
                </a:solidFill>
              </a:defRPr>
            </a:pPr>
            <a:r>
              <a:rPr b="0" i="0" lang="en-US" sz="900" u="none" cap="none" strike="noStrike">
                <a:solidFill>
                  <a:srgbClr val="556978"/>
                </a:solidFill>
                <a:latin typeface="Calibri"/>
                <a:ea typeface="Calibri"/>
                <a:cs typeface="Calibri"/>
                <a:sym typeface="Calibri"/>
              </a:rPr>
              <a:t>Overall ranking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320040" y="4663440"/>
            <a:ext cx="8595360" cy="365760"/>
          </a:xfrm>
          <a:prstGeom prst="rect">
            <a:avLst/>
          </a:prstGeom>
          <a:solidFill>
            <a:srgbClr val="EBF8FC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502920" y="471830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D8D8"/>
              </a:buClr>
              <a:buSzPts val="900"/>
              <a:buFont typeface="Calibri"/>
              <a:buNone/>
              <a:defRPr>
                <a:solidFill>
                  <a:srgbClr val="2A3746"/>
                </a:solidFill>
              </a:defRPr>
            </a:pPr>
            <a:r>
              <a:rPr b="0" i="0" lang="en-US" sz="900" u="none" cap="none" strike="noStrike">
                <a:solidFill>
                  <a:srgbClr val="2A3746"/>
                </a:solidFill>
                <a:latin typeface="Calibri"/>
                <a:ea typeface="Calibri"/>
                <a:cs typeface="Calibri"/>
                <a:sym typeface="Calibri"/>
              </a:rPr>
              <a:t>Top-rank precision and first-hit quality support explanations, but low recall means relevant cases often fall outside the prompt context window.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Image evidence: useful but risky</a:t>
            </a:r>
          </a:p>
        </p:txBody>
      </p:sp>
      <p:sp>
        <p:nvSpPr>
          <p:cNvPr id="202" name="Google Shape;202;p10"/>
          <p:cNvSpPr/>
          <p:nvPr/>
        </p:nvSpPr>
        <p:spPr>
          <a:xfrm>
            <a:off x="365760" y="6583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Chart axes now show model family (x-axis) and unsupported visual claims as a percentage (y-axis).</a:t>
            </a:r>
          </a:p>
        </p:txBody>
      </p:sp>
      <p:pic>
        <p:nvPicPr>
          <p:cNvPr id="203" name="Google Shape;20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14400"/>
            <a:ext cx="5029200" cy="347472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0"/>
          <p:cNvSpPr/>
          <p:nvPr/>
        </p:nvSpPr>
        <p:spPr>
          <a:xfrm>
            <a:off x="5577840" y="914400"/>
            <a:ext cx="338328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5715000" y="100584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Image-evidence findings</a:t>
            </a:r>
          </a:p>
        </p:txBody>
      </p:sp>
      <p:sp>
        <p:nvSpPr>
          <p:cNvPr id="206" name="Google Shape;206;p10"/>
          <p:cNvSpPr/>
          <p:nvPr/>
        </p:nvSpPr>
        <p:spPr>
          <a:xfrm>
            <a:off x="5715000" y="1417320"/>
            <a:ext cx="3108960" cy="475488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"/>
          <p:cNvSpPr/>
          <p:nvPr/>
        </p:nvSpPr>
        <p:spPr>
          <a:xfrm>
            <a:off x="5779008" y="1463040"/>
            <a:ext cx="2560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6080760" y="1472184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Images are context, not ground truth: captions, article text, and lab evidence still carry the diagnosis.</a:t>
            </a:r>
          </a:p>
        </p:txBody>
      </p:sp>
      <p:sp>
        <p:nvSpPr>
          <p:cNvPr id="209" name="Google Shape;209;p10"/>
          <p:cNvSpPr/>
          <p:nvPr/>
        </p:nvSpPr>
        <p:spPr>
          <a:xfrm>
            <a:off x="5715000" y="1984248"/>
            <a:ext cx="3108960" cy="475488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"/>
          <p:cNvSpPr/>
          <p:nvPr/>
        </p:nvSpPr>
        <p:spPr>
          <a:xfrm>
            <a:off x="5779008" y="2029968"/>
            <a:ext cx="2560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6080760" y="2039112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PMC3140149 is a support/retrieval example, not a direct official test query.</a:t>
            </a:r>
          </a:p>
        </p:txBody>
      </p:sp>
      <p:sp>
        <p:nvSpPr>
          <p:cNvPr id="212" name="Google Shape;212;p10"/>
          <p:cNvSpPr/>
          <p:nvPr/>
        </p:nvSpPr>
        <p:spPr>
          <a:xfrm>
            <a:off x="5715000" y="2551176"/>
            <a:ext cx="3108960" cy="475488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"/>
          <p:cNvSpPr/>
          <p:nvPr/>
        </p:nvSpPr>
        <p:spPr>
          <a:xfrm>
            <a:off x="5779008" y="2596896"/>
            <a:ext cx="2560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6080760" y="260604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Gemma 4 support-image follow-up was directionally stronger than standard RAG, but the safety cost is visible in the red bar.</a:t>
            </a:r>
          </a:p>
        </p:txBody>
      </p:sp>
      <p:sp>
        <p:nvSpPr>
          <p:cNvPr id="215" name="Google Shape;215;p10"/>
          <p:cNvSpPr/>
          <p:nvPr/>
        </p:nvSpPr>
        <p:spPr>
          <a:xfrm>
            <a:off x="5715000" y="3118104"/>
            <a:ext cx="3108960" cy="475488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5779008" y="3163824"/>
            <a:ext cx="2560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6080760" y="3172968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Unsupported visual claims rose from 3.4% to 7.9% for the Gemma4 support-image follow-up.</a:t>
            </a:r>
          </a:p>
        </p:txBody>
      </p:sp>
      <p:sp>
        <p:nvSpPr>
          <p:cNvPr id="218" name="Google Shape;218;p10"/>
          <p:cNvSpPr/>
          <p:nvPr/>
        </p:nvSpPr>
        <p:spPr>
          <a:xfrm>
            <a:off x="5715000" y="3685032"/>
            <a:ext cx="3108960" cy="475488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"/>
          <p:cNvSpPr/>
          <p:nvPr/>
        </p:nvSpPr>
        <p:spPr>
          <a:xfrm>
            <a:off x="5779008" y="3730752"/>
            <a:ext cx="2560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6080760" y="3739896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Adding images does not automatically improve diagnosis across models.</a:t>
            </a:r>
          </a:p>
        </p:txBody>
      </p:sp>
      <p:sp>
        <p:nvSpPr>
          <p:cNvPr id="221" name="Google Shape;221;p10"/>
          <p:cNvSpPr/>
          <p:nvPr/>
        </p:nvSpPr>
        <p:spPr>
          <a:xfrm>
            <a:off x="320040" y="4572000"/>
            <a:ext cx="8595360" cy="411480"/>
          </a:xfrm>
          <a:prstGeom prst="rect">
            <a:avLst/>
          </a:prstGeom>
          <a:solidFill>
            <a:srgbClr val="FEF2F2"/>
          </a:solidFill>
          <a:ln cap="flat" cmpd="sng" w="9525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502920" y="4636008"/>
            <a:ext cx="8229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Visual hallucination = judge-detected unsupported visual/pathology claims. This is not expert adjudication, so the safe demo shows provenance and gate decisions.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1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1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Small-model practicality for a live defense</a:t>
            </a:r>
          </a:p>
        </p:txBody>
      </p:sp>
      <p:sp>
        <p:nvSpPr>
          <p:cNvPr id="231" name="Google Shape;231;p11"/>
          <p:cNvSpPr/>
          <p:nvPr/>
        </p:nvSpPr>
        <p:spPr>
          <a:xfrm>
            <a:off x="365760" y="6583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Single 24 GB GPU local models vs. Gemini API: latency, memory, auditability, and demo reliability.</a:t>
            </a:r>
          </a:p>
        </p:txBody>
      </p:sp>
      <p:sp>
        <p:nvSpPr>
          <p:cNvPr id="232" name="Google Shape;232;p11"/>
          <p:cNvSpPr/>
          <p:nvPr/>
        </p:nvSpPr>
        <p:spPr>
          <a:xfrm>
            <a:off x="320040" y="1005840"/>
            <a:ext cx="2834640" cy="3931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1"/>
          <p:cNvSpPr/>
          <p:nvPr/>
        </p:nvSpPr>
        <p:spPr>
          <a:xfrm>
            <a:off x="320040" y="1005840"/>
            <a:ext cx="2834640" cy="6400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"/>
          <p:cNvSpPr/>
          <p:nvPr/>
        </p:nvSpPr>
        <p:spPr>
          <a:xfrm>
            <a:off x="411480" y="1024128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Gemini 2.5 Flash Lite</a:t>
            </a:r>
          </a:p>
        </p:txBody>
      </p:sp>
      <p:sp>
        <p:nvSpPr>
          <p:cNvPr id="235" name="Google Shape;235;p11"/>
          <p:cNvSpPr/>
          <p:nvPr/>
        </p:nvSpPr>
        <p:spPr>
          <a:xfrm>
            <a:off x="411480" y="1371600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8F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0E8F0"/>
                </a:solidFill>
                <a:latin typeface="Calibri"/>
                <a:ea typeface="Calibri"/>
                <a:cs typeface="Calibri"/>
                <a:sym typeface="Calibri"/>
              </a:rPr>
              <a:t>API · external</a:t>
            </a:r>
          </a:p>
        </p:txBody>
      </p:sp>
      <p:sp>
        <p:nvSpPr>
          <p:cNvPr id="236" name="Google Shape;236;p11"/>
          <p:cNvSpPr/>
          <p:nvPr/>
        </p:nvSpPr>
        <p:spPr>
          <a:xfrm>
            <a:off x="411480" y="1783080"/>
            <a:ext cx="2651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Latency: 3–4 s/case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Memory: API/cloud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Best diag. acc.: 89.7%</a:t>
            </a:r>
          </a:p>
        </p:txBody>
      </p:sp>
      <p:sp>
        <p:nvSpPr>
          <p:cNvPr id="237" name="Google Shape;237;p11"/>
          <p:cNvSpPr/>
          <p:nvPr/>
        </p:nvSpPr>
        <p:spPr>
          <a:xfrm>
            <a:off x="411480" y="2633472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Strengths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411480" y="2907792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✓  Fastest inference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411480" y="3163824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✓  Highest no-RAG accuracy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411480" y="3419856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✓  Strong multimodal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411480" y="3694176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</a:p>
        </p:txBody>
      </p:sp>
      <p:sp>
        <p:nvSpPr>
          <p:cNvPr id="242" name="Google Shape;242;p11"/>
          <p:cNvSpPr/>
          <p:nvPr/>
        </p:nvSpPr>
        <p:spPr>
          <a:xfrm>
            <a:off x="411480" y="3968496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✗ RAG degraded under matched evaluation</a:t>
            </a:r>
          </a:p>
        </p:txBody>
      </p:sp>
      <p:sp>
        <p:nvSpPr>
          <p:cNvPr id="243" name="Google Shape;243;p11"/>
          <p:cNvSpPr/>
          <p:nvPr/>
        </p:nvSpPr>
        <p:spPr>
          <a:xfrm>
            <a:off x="411480" y="4206240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✗ No local GPU audit trail</a:t>
            </a:r>
          </a:p>
        </p:txBody>
      </p:sp>
      <p:sp>
        <p:nvSpPr>
          <p:cNvPr id="244" name="Google Shape;244;p11"/>
          <p:cNvSpPr/>
          <p:nvPr/>
        </p:nvSpPr>
        <p:spPr>
          <a:xfrm>
            <a:off x="411480" y="4443984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✗ External dependency</a:t>
            </a:r>
          </a:p>
        </p:txBody>
      </p:sp>
      <p:sp>
        <p:nvSpPr>
          <p:cNvPr id="245" name="Google Shape;245;p11"/>
          <p:cNvSpPr/>
          <p:nvPr/>
        </p:nvSpPr>
        <p:spPr>
          <a:xfrm>
            <a:off x="3264408" y="1005840"/>
            <a:ext cx="2834640" cy="3931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3264408" y="1005840"/>
            <a:ext cx="2834640" cy="640080"/>
          </a:xfrm>
          <a:prstGeom prst="rect">
            <a:avLst/>
          </a:prstGeom>
          <a:solidFill>
            <a:srgbClr val="0A5C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3355848" y="1024128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MedGemma 1.5 4B</a:t>
            </a:r>
          </a:p>
        </p:txBody>
      </p:sp>
      <p:sp>
        <p:nvSpPr>
          <p:cNvPr id="248" name="Google Shape;248;p11"/>
          <p:cNvSpPr/>
          <p:nvPr/>
        </p:nvSpPr>
        <p:spPr>
          <a:xfrm>
            <a:off x="3355848" y="1371600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8F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0E8F0"/>
                </a:solidFill>
                <a:latin typeface="Calibri"/>
                <a:ea typeface="Calibri"/>
                <a:cs typeface="Calibri"/>
                <a:sym typeface="Calibri"/>
              </a:rPr>
              <a:t>Local · medical-tuned</a:t>
            </a:r>
          </a:p>
        </p:txBody>
      </p:sp>
      <p:sp>
        <p:nvSpPr>
          <p:cNvPr id="249" name="Google Shape;249;p11"/>
          <p:cNvSpPr/>
          <p:nvPr/>
        </p:nvSpPr>
        <p:spPr>
          <a:xfrm>
            <a:off x="3355848" y="1783080"/>
            <a:ext cx="2651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Latency: 22–26 s/case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Memory: ~16 GB GPU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Best diag. acc.: 73.7%</a:t>
            </a:r>
          </a:p>
        </p:txBody>
      </p:sp>
      <p:sp>
        <p:nvSpPr>
          <p:cNvPr id="250" name="Google Shape;250;p11"/>
          <p:cNvSpPr/>
          <p:nvPr/>
        </p:nvSpPr>
        <p:spPr>
          <a:xfrm>
            <a:off x="3355848" y="2633472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Strengths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3355848" y="2907792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✓  Medical domain tuning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3355848" y="3163824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✓  Full auditability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3355848" y="3419856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✓  Privacy-safe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3355848" y="3694176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3355848" y="3968496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✗ High visual-hallucination rate</a:t>
            </a:r>
          </a:p>
        </p:txBody>
      </p:sp>
      <p:sp>
        <p:nvSpPr>
          <p:cNvPr id="256" name="Google Shape;256;p11"/>
          <p:cNvSpPr/>
          <p:nvPr/>
        </p:nvSpPr>
        <p:spPr>
          <a:xfrm>
            <a:off x="3355848" y="4206240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✗ RAG directionally worsened</a:t>
            </a:r>
          </a:p>
        </p:txBody>
      </p:sp>
      <p:sp>
        <p:nvSpPr>
          <p:cNvPr id="257" name="Google Shape;257;p11"/>
          <p:cNvSpPr/>
          <p:nvPr/>
        </p:nvSpPr>
        <p:spPr>
          <a:xfrm>
            <a:off x="3355848" y="4443984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✗ Weaker reasoning in this setting</a:t>
            </a:r>
          </a:p>
        </p:txBody>
      </p:sp>
      <p:sp>
        <p:nvSpPr>
          <p:cNvPr id="258" name="Google Shape;258;p11"/>
          <p:cNvSpPr/>
          <p:nvPr/>
        </p:nvSpPr>
        <p:spPr>
          <a:xfrm>
            <a:off x="6208776" y="1005840"/>
            <a:ext cx="2834640" cy="3931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1"/>
          <p:cNvSpPr/>
          <p:nvPr/>
        </p:nvSpPr>
        <p:spPr>
          <a:xfrm>
            <a:off x="6208776" y="1005840"/>
            <a:ext cx="2834640" cy="640080"/>
          </a:xfrm>
          <a:prstGeom prst="rect">
            <a:avLst/>
          </a:prstGeom>
          <a:solidFill>
            <a:srgbClr val="5A2D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1"/>
          <p:cNvSpPr/>
          <p:nvPr/>
        </p:nvSpPr>
        <p:spPr>
          <a:xfrm>
            <a:off x="6300216" y="1024128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Gemma 4 E4B</a:t>
            </a:r>
          </a:p>
        </p:txBody>
      </p:sp>
      <p:sp>
        <p:nvSpPr>
          <p:cNvPr id="261" name="Google Shape;261;p11"/>
          <p:cNvSpPr/>
          <p:nvPr/>
        </p:nvSpPr>
        <p:spPr>
          <a:xfrm>
            <a:off x="6300216" y="1371600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8F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0E8F0"/>
                </a:solidFill>
                <a:latin typeface="Calibri"/>
                <a:ea typeface="Calibri"/>
                <a:cs typeface="Calibri"/>
                <a:sym typeface="Calibri"/>
              </a:rPr>
              <a:t>Local · open</a:t>
            </a:r>
          </a:p>
        </p:txBody>
      </p:sp>
      <p:sp>
        <p:nvSpPr>
          <p:cNvPr id="262" name="Google Shape;262;p11"/>
          <p:cNvSpPr/>
          <p:nvPr/>
        </p:nvSpPr>
        <p:spPr>
          <a:xfrm>
            <a:off x="6300216" y="1783080"/>
            <a:ext cx="2651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Latency: 46–59 s/case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Memory: ~18–19 GB GPU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Best diag. acc.: 82.6% (RAG)</a:t>
            </a:r>
          </a:p>
        </p:txBody>
      </p:sp>
      <p:sp>
        <p:nvSpPr>
          <p:cNvPr id="263" name="Google Shape;263;p11"/>
          <p:cNvSpPr/>
          <p:nvPr/>
        </p:nvSpPr>
        <p:spPr>
          <a:xfrm>
            <a:off x="6300216" y="2633472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Strengths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6300216" y="2907792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✓ Best directional RAG delta (+6.7 pp)</a:t>
            </a:r>
          </a:p>
        </p:txBody>
      </p:sp>
      <p:sp>
        <p:nvSpPr>
          <p:cNvPr id="265" name="Google Shape;265;p11"/>
          <p:cNvSpPr/>
          <p:nvPr/>
        </p:nvSpPr>
        <p:spPr>
          <a:xfrm>
            <a:off x="6300216" y="3163824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✓ Real GPU sidecar demo available</a:t>
            </a:r>
          </a:p>
        </p:txBody>
      </p:sp>
      <p:sp>
        <p:nvSpPr>
          <p:cNvPr id="266" name="Google Shape;266;p11"/>
          <p:cNvSpPr/>
          <p:nvPr/>
        </p:nvSpPr>
        <p:spPr>
          <a:xfrm>
            <a:off x="6300216" y="3419856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✓  Auditable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6300216" y="3694176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6300216" y="3968496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✗ Slowest inference</a:t>
            </a:r>
          </a:p>
        </p:txBody>
      </p:sp>
      <p:sp>
        <p:nvSpPr>
          <p:cNvPr id="269" name="Google Shape;269;p11"/>
          <p:cNvSpPr/>
          <p:nvPr/>
        </p:nvSpPr>
        <p:spPr>
          <a:xfrm>
            <a:off x="6300216" y="4206240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✗ Directional, not conclusive</a:t>
            </a:r>
          </a:p>
        </p:txBody>
      </p:sp>
      <p:sp>
        <p:nvSpPr>
          <p:cNvPr id="270" name="Google Shape;270;p11"/>
          <p:cNvSpPr/>
          <p:nvPr/>
        </p:nvSpPr>
        <p:spPr>
          <a:xfrm>
            <a:off x="6300216" y="4443984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✗ Image evidence raises hallucination risk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2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2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Limitations are part of the contribution</a:t>
            </a:r>
          </a:p>
        </p:txBody>
      </p:sp>
      <p:sp>
        <p:nvSpPr>
          <p:cNvPr id="279" name="Google Shape;279;p12"/>
          <p:cNvSpPr/>
          <p:nvPr/>
        </p:nvSpPr>
        <p:spPr>
          <a:xfrm>
            <a:off x="365760" y="6583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 thesis claims are deliberately narrow: traceable research evaluation, not bedside-use evidence.</a:t>
            </a:r>
          </a:p>
        </p:txBody>
      </p:sp>
      <p:sp>
        <p:nvSpPr>
          <p:cNvPr id="280" name="Google Shape;280;p12"/>
          <p:cNvSpPr/>
          <p:nvPr/>
        </p:nvSpPr>
        <p:spPr>
          <a:xfrm>
            <a:off x="320040" y="1051560"/>
            <a:ext cx="416052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2"/>
          <p:cNvSpPr/>
          <p:nvPr/>
        </p:nvSpPr>
        <p:spPr>
          <a:xfrm>
            <a:off x="320040" y="1051560"/>
            <a:ext cx="109728" cy="1600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2"/>
          <p:cNvSpPr/>
          <p:nvPr/>
        </p:nvSpPr>
        <p:spPr>
          <a:xfrm>
            <a:off x="521208" y="114300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⚠ Weak-reference labels</a:t>
            </a:r>
          </a:p>
        </p:txBody>
      </p:sp>
      <p:sp>
        <p:nvSpPr>
          <p:cNvPr id="283" name="Google Shape;283;p12"/>
          <p:cNvSpPr/>
          <p:nvPr/>
        </p:nvSpPr>
        <p:spPr>
          <a:xfrm>
            <a:off x="521208" y="1527048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No clinician adjudication; prompt-judged diagnosis accuracy is useful for controlled comparison, not clinical validation.</a:t>
            </a:r>
          </a:p>
        </p:txBody>
      </p:sp>
      <p:sp>
        <p:nvSpPr>
          <p:cNvPr id="284" name="Google Shape;284;p12"/>
          <p:cNvSpPr/>
          <p:nvPr/>
        </p:nvSpPr>
        <p:spPr>
          <a:xfrm>
            <a:off x="4663440" y="1051560"/>
            <a:ext cx="416052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2"/>
          <p:cNvSpPr/>
          <p:nvPr/>
        </p:nvSpPr>
        <p:spPr>
          <a:xfrm>
            <a:off x="4663440" y="1051560"/>
            <a:ext cx="109728" cy="16002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2"/>
          <p:cNvSpPr/>
          <p:nvPr/>
        </p:nvSpPr>
        <p:spPr>
          <a:xfrm>
            <a:off x="4864608" y="114300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⚠ Corpus imbalance</a:t>
            </a:r>
          </a:p>
        </p:txBody>
      </p:sp>
      <p:sp>
        <p:nvSpPr>
          <p:cNvPr id="287" name="Google Shape;287;p12"/>
          <p:cNvSpPr/>
          <p:nvPr/>
        </p:nvSpPr>
        <p:spPr>
          <a:xfrm>
            <a:off x="4864608" y="1527048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The retrieval corpus is leishmaniasis-heavy, so non-leishmaniasis mimics remain a specificity stress test.</a:t>
            </a:r>
          </a:p>
        </p:txBody>
      </p:sp>
      <p:sp>
        <p:nvSpPr>
          <p:cNvPr id="288" name="Google Shape;288;p12"/>
          <p:cNvSpPr/>
          <p:nvPr/>
        </p:nvSpPr>
        <p:spPr>
          <a:xfrm>
            <a:off x="320040" y="2880360"/>
            <a:ext cx="416052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2"/>
          <p:cNvSpPr/>
          <p:nvPr/>
        </p:nvSpPr>
        <p:spPr>
          <a:xfrm>
            <a:off x="320040" y="2880360"/>
            <a:ext cx="109728" cy="1600200"/>
          </a:xfrm>
          <a:prstGeom prst="rect">
            <a:avLst/>
          </a:prstGeom>
          <a:solidFill>
            <a:srgbClr val="5A2D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2"/>
          <p:cNvSpPr/>
          <p:nvPr/>
        </p:nvSpPr>
        <p:spPr>
          <a:xfrm>
            <a:off x="521208" y="297180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⚠ Small held-out set</a:t>
            </a:r>
          </a:p>
        </p:txBody>
      </p:sp>
      <p:sp>
        <p:nvSpPr>
          <p:cNvPr id="291" name="Google Shape;291;p12"/>
          <p:cNvSpPr/>
          <p:nvPr/>
        </p:nvSpPr>
        <p:spPr>
          <a:xfrm>
            <a:off x="521208" y="3355848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Only Gemini's negative RAG delta is statistically supported; Gemma 4's +6.7 pp is directional only.</a:t>
            </a:r>
          </a:p>
        </p:txBody>
      </p:sp>
      <p:sp>
        <p:nvSpPr>
          <p:cNvPr id="292" name="Google Shape;292;p12"/>
          <p:cNvSpPr/>
          <p:nvPr/>
        </p:nvSpPr>
        <p:spPr>
          <a:xfrm>
            <a:off x="4663440" y="2880360"/>
            <a:ext cx="416052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2"/>
          <p:cNvSpPr/>
          <p:nvPr/>
        </p:nvSpPr>
        <p:spPr>
          <a:xfrm>
            <a:off x="4663440" y="2880360"/>
            <a:ext cx="109728" cy="1600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2"/>
          <p:cNvSpPr/>
          <p:nvPr/>
        </p:nvSpPr>
        <p:spPr>
          <a:xfrm>
            <a:off x="4864608" y="297180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⚠ Adaptive RAG is route-mixed</a:t>
            </a:r>
          </a:p>
        </p:txBody>
      </p:sp>
      <p:sp>
        <p:nvSpPr>
          <p:cNvPr id="295" name="Google Shape;295;p12"/>
          <p:cNvSpPr/>
          <p:nvPr/>
        </p:nvSpPr>
        <p:spPr>
          <a:xfrm>
            <a:off x="4864608" y="3355848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Some rows received retrieved context and others fell back. Route-level audit is needed before interpreting aggregate accuracy.</a:t>
            </a:r>
          </a:p>
        </p:txBody>
      </p:sp>
      <p:sp>
        <p:nvSpPr>
          <p:cNvPr id="296" name="Google Shape;296;p12"/>
          <p:cNvSpPr/>
          <p:nvPr/>
        </p:nvSpPr>
        <p:spPr>
          <a:xfrm>
            <a:off x="320040" y="4617720"/>
            <a:ext cx="8595360" cy="365760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1226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2"/>
          <p:cNvSpPr/>
          <p:nvPr/>
        </p:nvSpPr>
        <p:spPr>
          <a:xfrm>
            <a:off x="502920" y="4663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Future: clinician-reviewed labels · balanced mimic set · stronger recall · stricter visual-claim gating · deployment-grade validation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3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3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800"/>
              <a:buFont typeface="Calibri"/>
              <a:buNone/>
              <a:defRPr>
                <a:solidFill>
                  <a:srgbClr val="12263A"/>
                </a:solidFill>
              </a:defRPr>
            </a:pPr>
            <a:r>
              <a:rPr b="0" i="0" lang="en-US" sz="8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3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>
                <a:solidFill>
                  <a:srgbClr val="12263A"/>
                </a:solidFill>
              </a:defRPr>
            </a:pPr>
            <a:r>
              <a:rPr b="1" i="0" lang="en-US" sz="28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Conclusion: feasible, traceable, not deployment-ready</a:t>
            </a:r>
          </a:p>
        </p:txBody>
      </p:sp>
      <p:sp>
        <p:nvSpPr>
          <p:cNvPr id="307" name="Google Shape;307;p13"/>
          <p:cNvSpPr/>
          <p:nvPr/>
        </p:nvSpPr>
        <p:spPr>
          <a:xfrm>
            <a:off x="365760" y="868680"/>
            <a:ext cx="4069080" cy="1691640"/>
          </a:xfrm>
          <a:prstGeom prst="rect">
            <a:avLst/>
          </a:prstGeom>
          <a:solidFill>
            <a:srgbClr val="E5FAF7"/>
          </a:solidFill>
          <a:ln cap="flat" cmpd="sng" w="1905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3"/>
          <p:cNvSpPr/>
          <p:nvPr/>
        </p:nvSpPr>
        <p:spPr>
          <a:xfrm>
            <a:off x="502920" y="96012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  <a:defRPr b="1">
                <a:solidFill>
                  <a:srgbClr val="028090"/>
                </a:solidFill>
              </a:defRPr>
            </a:pPr>
            <a:r>
              <a:rPr b="1" i="0" lang="en-US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RQ1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3"/>
          <p:cNvSpPr/>
          <p:nvPr/>
        </p:nvSpPr>
        <p:spPr>
          <a:xfrm>
            <a:off x="1115568" y="960120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  <a:defRPr b="1">
                <a:solidFill>
                  <a:srgbClr val="12263A"/>
                </a:solidFill>
              </a:defRPr>
            </a:pPr>
            <a:r>
              <a:rPr b="1" i="0" lang="en-US" sz="13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Feasibility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3"/>
          <p:cNvSpPr/>
          <p:nvPr/>
        </p:nvSpPr>
        <p:spPr>
          <a:xfrm>
            <a:off x="1115568" y="130759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000"/>
              <a:buFont typeface="Calibri"/>
              <a:buNone/>
              <a:defRPr>
                <a:solidFill>
                  <a:srgbClr val="028090"/>
                </a:solidFill>
              </a:defRPr>
            </a:pPr>
            <a:r>
              <a:rPr b="0" i="1" lang="en-US" sz="1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Research pipeline works</a:t>
            </a:r>
          </a:p>
        </p:txBody>
      </p:sp>
      <p:sp>
        <p:nvSpPr>
          <p:cNvPr id="311" name="Google Shape;311;p13"/>
          <p:cNvSpPr/>
          <p:nvPr/>
        </p:nvSpPr>
        <p:spPr>
          <a:xfrm>
            <a:off x="502920" y="1618488"/>
            <a:ext cx="3794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D8D8"/>
              </a:buClr>
              <a:buSzPts val="1000"/>
              <a:buFont typeface="Calibri"/>
              <a:buNone/>
              <a:defRPr>
                <a:solidFill>
                  <a:srgbClr val="2A3746"/>
                </a:solidFill>
              </a:defRPr>
            </a:pPr>
            <a:r>
              <a:rPr b="0" i="0" lang="en-US" sz="1000" u="none" cap="none" strike="noStrike">
                <a:solidFill>
                  <a:srgbClr val="2A3746"/>
                </a:solidFill>
                <a:latin typeface="Calibri"/>
                <a:ea typeface="Calibri"/>
                <a:cs typeface="Calibri"/>
                <a:sym typeface="Calibri"/>
              </a:rPr>
              <a:t>Structured cases, retrieval, generation, gate audit, and live demo are reproducible and traceable.</a:t>
            </a:r>
          </a:p>
        </p:txBody>
      </p:sp>
      <p:sp>
        <p:nvSpPr>
          <p:cNvPr id="312" name="Google Shape;312;p13"/>
          <p:cNvSpPr/>
          <p:nvPr/>
        </p:nvSpPr>
        <p:spPr>
          <a:xfrm>
            <a:off x="4663440" y="868680"/>
            <a:ext cx="4069080" cy="1691640"/>
          </a:xfrm>
          <a:prstGeom prst="rect">
            <a:avLst/>
          </a:prstGeom>
          <a:solidFill>
            <a:srgbClr val="EBF8FC"/>
          </a:solidFill>
          <a:ln cap="flat" cmpd="sng" w="19050">
            <a:solidFill>
              <a:srgbClr val="3ABF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3"/>
          <p:cNvSpPr/>
          <p:nvPr/>
        </p:nvSpPr>
        <p:spPr>
          <a:xfrm>
            <a:off x="4800600" y="96012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BFE0"/>
              </a:buClr>
              <a:buSzPts val="1100"/>
              <a:buFont typeface="Calibri"/>
              <a:buNone/>
              <a:defRPr b="1">
                <a:solidFill>
                  <a:srgbClr val="3ABFE0"/>
                </a:solidFill>
              </a:defRPr>
            </a:pPr>
            <a:r>
              <a:rPr b="1" i="0" lang="en-US" sz="1100" u="none" cap="none" strike="noStrike">
                <a:solidFill>
                  <a:srgbClr val="3ABFE0"/>
                </a:solidFill>
                <a:latin typeface="Calibri"/>
                <a:ea typeface="Calibri"/>
                <a:cs typeface="Calibri"/>
                <a:sym typeface="Calibri"/>
              </a:rPr>
              <a:t>RQ2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3"/>
          <p:cNvSpPr/>
          <p:nvPr/>
        </p:nvSpPr>
        <p:spPr>
          <a:xfrm>
            <a:off x="5413248" y="960120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  <a:defRPr b="1">
                <a:solidFill>
                  <a:srgbClr val="12263A"/>
                </a:solidFill>
              </a:defRPr>
            </a:pPr>
            <a:r>
              <a:rPr b="1" i="0" lang="en-US" sz="13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Small Models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3"/>
          <p:cNvSpPr/>
          <p:nvPr/>
        </p:nvSpPr>
        <p:spPr>
          <a:xfrm>
            <a:off x="5413248" y="130759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BFE0"/>
              </a:buClr>
              <a:buSzPts val="1000"/>
              <a:buFont typeface="Calibri"/>
              <a:buNone/>
              <a:defRPr>
                <a:solidFill>
                  <a:srgbClr val="3ABFE0"/>
                </a:solidFill>
              </a:defRPr>
            </a:pPr>
            <a:r>
              <a:rPr b="0" i="1" lang="en-US" sz="1000" u="none" cap="none" strike="noStrike">
                <a:solidFill>
                  <a:srgbClr val="3ABFE0"/>
                </a:solidFill>
                <a:latin typeface="Calibri"/>
                <a:ea typeface="Calibri"/>
                <a:cs typeface="Calibri"/>
                <a:sym typeface="Calibri"/>
              </a:rPr>
              <a:t>Practical but bounded</a:t>
            </a:r>
          </a:p>
        </p:txBody>
      </p:sp>
      <p:sp>
        <p:nvSpPr>
          <p:cNvPr id="316" name="Google Shape;316;p13"/>
          <p:cNvSpPr/>
          <p:nvPr/>
        </p:nvSpPr>
        <p:spPr>
          <a:xfrm>
            <a:off x="4800600" y="1618488"/>
            <a:ext cx="3794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D8D8"/>
              </a:buClr>
              <a:buSzPts val="1000"/>
              <a:buFont typeface="Calibri"/>
              <a:buNone/>
              <a:defRPr>
                <a:solidFill>
                  <a:srgbClr val="2A3746"/>
                </a:solidFill>
              </a:defRPr>
            </a:pPr>
            <a:r>
              <a:rPr b="0" i="0" lang="en-US" sz="1000" u="none" cap="none" strike="noStrike">
                <a:solidFill>
                  <a:srgbClr val="2A3746"/>
                </a:solidFill>
                <a:latin typeface="Calibri"/>
                <a:ea typeface="Calibri"/>
                <a:cs typeface="Calibri"/>
                <a:sym typeface="Calibri"/>
              </a:rPr>
              <a:t>Local models run on a 24 GB GPU, but latency and memory make full live evaluation risky.</a:t>
            </a:r>
          </a:p>
        </p:txBody>
      </p:sp>
      <p:sp>
        <p:nvSpPr>
          <p:cNvPr id="317" name="Google Shape;317;p13"/>
          <p:cNvSpPr/>
          <p:nvPr/>
        </p:nvSpPr>
        <p:spPr>
          <a:xfrm>
            <a:off x="365760" y="2743200"/>
            <a:ext cx="4069080" cy="1691640"/>
          </a:xfrm>
          <a:prstGeom prst="rect">
            <a:avLst/>
          </a:prstGeom>
          <a:solidFill>
            <a:srgbClr val="FFF6ED"/>
          </a:solidFill>
          <a:ln cap="flat" cmpd="sng" w="1905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3"/>
          <p:cNvSpPr/>
          <p:nvPr/>
        </p:nvSpPr>
        <p:spPr>
          <a:xfrm>
            <a:off x="502920" y="283464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100"/>
              <a:buFont typeface="Calibri"/>
              <a:buNone/>
              <a:defRPr b="1">
                <a:solidFill>
                  <a:srgbClr val="F4A261"/>
                </a:solidFill>
              </a:defRPr>
            </a:pPr>
            <a:r>
              <a:rPr b="1" i="0" lang="en-US" sz="11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RQ3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1115568" y="2834640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  <a:defRPr b="1">
                <a:solidFill>
                  <a:srgbClr val="12263A"/>
                </a:solidFill>
              </a:defRPr>
            </a:pPr>
            <a:r>
              <a:rPr b="1" i="0" lang="en-US" sz="13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Multimodal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1115568" y="318211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000"/>
              <a:buFont typeface="Calibri"/>
              <a:buNone/>
              <a:defRPr>
                <a:solidFill>
                  <a:srgbClr val="F4A261"/>
                </a:solidFill>
              </a:defRPr>
            </a:pPr>
            <a:r>
              <a:rPr b="0" i="1" lang="en-US" sz="10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Useful, risky signal</a:t>
            </a:r>
          </a:p>
        </p:txBody>
      </p:sp>
      <p:sp>
        <p:nvSpPr>
          <p:cNvPr id="321" name="Google Shape;321;p13"/>
          <p:cNvSpPr/>
          <p:nvPr/>
        </p:nvSpPr>
        <p:spPr>
          <a:xfrm>
            <a:off x="502920" y="3493008"/>
            <a:ext cx="3794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D8D8"/>
              </a:buClr>
              <a:buSzPts val="1000"/>
              <a:buFont typeface="Calibri"/>
              <a:buNone/>
              <a:defRPr>
                <a:solidFill>
                  <a:srgbClr val="2A3746"/>
                </a:solidFill>
              </a:defRPr>
            </a:pPr>
            <a:r>
              <a:rPr b="0" i="0" lang="en-US" sz="1000" u="none" cap="none" strike="noStrike">
                <a:solidFill>
                  <a:srgbClr val="2A3746"/>
                </a:solidFill>
                <a:latin typeface="Calibri"/>
                <a:ea typeface="Calibri"/>
                <a:cs typeface="Calibri"/>
                <a:sym typeface="Calibri"/>
              </a:rPr>
              <a:t>Image-linked evidence can help, but unsupported visual claims require conservative gating.</a:t>
            </a:r>
          </a:p>
        </p:txBody>
      </p:sp>
      <p:sp>
        <p:nvSpPr>
          <p:cNvPr id="322" name="Google Shape;322;p13"/>
          <p:cNvSpPr/>
          <p:nvPr/>
        </p:nvSpPr>
        <p:spPr>
          <a:xfrm>
            <a:off x="4663440" y="2743200"/>
            <a:ext cx="4069080" cy="1691640"/>
          </a:xfrm>
          <a:prstGeom prst="rect">
            <a:avLst/>
          </a:prstGeom>
          <a:solidFill>
            <a:srgbClr val="FFEFF1"/>
          </a:solidFill>
          <a:ln cap="flat" cmpd="sng" w="19050">
            <a:solidFill>
              <a:srgbClr val="F07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3"/>
          <p:cNvSpPr/>
          <p:nvPr/>
        </p:nvSpPr>
        <p:spPr>
          <a:xfrm>
            <a:off x="4800600" y="283464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7167"/>
              </a:buClr>
              <a:buSzPts val="1100"/>
              <a:buFont typeface="Calibri"/>
              <a:buNone/>
              <a:defRPr b="1">
                <a:solidFill>
                  <a:srgbClr val="F07167"/>
                </a:solidFill>
              </a:defRPr>
            </a:pPr>
            <a:r>
              <a:rPr b="1" i="0" lang="en-US" sz="1100" u="none" cap="none" strike="noStrike">
                <a:solidFill>
                  <a:srgbClr val="F07167"/>
                </a:solidFill>
                <a:latin typeface="Calibri"/>
                <a:ea typeface="Calibri"/>
                <a:cs typeface="Calibri"/>
                <a:sym typeface="Calibri"/>
              </a:rPr>
              <a:t>RQ4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5413248" y="2834640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  <a:defRPr b="1">
                <a:solidFill>
                  <a:srgbClr val="12263A"/>
                </a:solidFill>
              </a:defRPr>
            </a:pPr>
            <a:r>
              <a:rPr b="1" i="0" lang="en-US" sz="13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RAG Effect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5413248" y="318211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7167"/>
              </a:buClr>
              <a:buSzPts val="1000"/>
              <a:buFont typeface="Calibri"/>
              <a:buNone/>
              <a:defRPr>
                <a:solidFill>
                  <a:srgbClr val="F07167"/>
                </a:solidFill>
              </a:defRPr>
            </a:pPr>
            <a:r>
              <a:rPr b="0" i="1" lang="en-US" sz="1000" u="none" cap="none" strike="noStrike">
                <a:solidFill>
                  <a:srgbClr val="F07167"/>
                </a:solidFill>
                <a:latin typeface="Calibri"/>
                <a:ea typeface="Calibri"/>
                <a:cs typeface="Calibri"/>
                <a:sym typeface="Calibri"/>
              </a:rPr>
              <a:t>Model-dependent</a:t>
            </a:r>
          </a:p>
        </p:txBody>
      </p:sp>
      <p:sp>
        <p:nvSpPr>
          <p:cNvPr id="326" name="Google Shape;326;p13"/>
          <p:cNvSpPr/>
          <p:nvPr/>
        </p:nvSpPr>
        <p:spPr>
          <a:xfrm>
            <a:off x="4800600" y="3493008"/>
            <a:ext cx="3794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D8D8"/>
              </a:buClr>
              <a:buSzPts val="1000"/>
              <a:buFont typeface="Calibri"/>
              <a:buNone/>
              <a:defRPr>
                <a:solidFill>
                  <a:srgbClr val="2A3746"/>
                </a:solidFill>
              </a:defRPr>
            </a:pPr>
            <a:r>
              <a:rPr b="0" i="0" lang="en-US" sz="1000" u="none" cap="none" strike="noStrike">
                <a:solidFill>
                  <a:srgbClr val="2A3746"/>
                </a:solidFill>
                <a:latin typeface="Calibri"/>
                <a:ea typeface="Calibri"/>
                <a:cs typeface="Calibri"/>
                <a:sym typeface="Calibri"/>
              </a:rPr>
              <a:t>Gemma 4 shows a positive directional RAG pattern; Gemini and MedGemma warn against universal RAG claims.</a:t>
            </a:r>
          </a:p>
        </p:txBody>
      </p:sp>
      <p:sp>
        <p:nvSpPr>
          <p:cNvPr id="327" name="Google Shape;327;p13"/>
          <p:cNvSpPr/>
          <p:nvPr/>
        </p:nvSpPr>
        <p:spPr>
          <a:xfrm>
            <a:off x="365760" y="4645152"/>
            <a:ext cx="8503920" cy="365760"/>
          </a:xfrm>
          <a:prstGeom prst="rect">
            <a:avLst/>
          </a:prstGeom>
          <a:solidFill>
            <a:srgbClr val="E5FAF7"/>
          </a:solidFill>
          <a:ln w="12700">
            <a:solidFill>
              <a:srgbClr val="028090"/>
            </a:solidFill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3"/>
          <p:cNvSpPr/>
          <p:nvPr/>
        </p:nvSpPr>
        <p:spPr>
          <a:xfrm>
            <a:off x="502920" y="4690872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950"/>
              <a:buFont typeface="Calibri"/>
              <a:buNone/>
              <a:defRPr b="1">
                <a:solidFill>
                  <a:srgbClr val="12263A"/>
                </a:solidFill>
              </a:defRPr>
            </a:pPr>
            <a:r>
              <a:rPr b="1" i="0" lang="en-US" sz="95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Final claim: multimodal RAG for leishmaniasis can be evaluated traceably under constrained resources; stronger claims require balanced data, stronger labels, and expert review.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2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2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</a:p>
        </p:txBody>
      </p:sp>
      <p:sp>
        <p:nvSpPr>
          <p:cNvPr id="278" name="Google Shape;278;p12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What v6 was missing: core result map</a:t>
            </a:r>
          </a:p>
        </p:txBody>
      </p:sp>
      <p:sp>
        <p:nvSpPr>
          <p:cNvPr id="279" name="Google Shape;279;p12"/>
          <p:cNvSpPr/>
          <p:nvPr/>
        </p:nvSpPr>
        <p:spPr>
          <a:xfrm>
            <a:off x="365760" y="6583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v6 was compact for a live supervisor demo; thesis_v44b-1 contains a richer result chain that needs a backup map.</a:t>
            </a:r>
          </a:p>
        </p:txBody>
      </p:sp>
      <p:sp>
        <p:nvSpPr>
          <p:cNvPr id="280" name="Google Shape;280;p12"/>
          <p:cNvSpPr/>
          <p:nvPr/>
        </p:nvSpPr>
        <p:spPr>
          <a:xfrm>
            <a:off x="320040" y="1051560"/>
            <a:ext cx="416052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2"/>
          <p:cNvSpPr/>
          <p:nvPr/>
        </p:nvSpPr>
        <p:spPr>
          <a:xfrm>
            <a:off x="320040" y="1051560"/>
            <a:ext cx="109728" cy="1600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2"/>
          <p:cNvSpPr/>
          <p:nvPr/>
        </p:nvSpPr>
        <p:spPr>
          <a:xfrm>
            <a:off x="521208" y="114300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Main table set</a:t>
            </a:r>
          </a:p>
        </p:txBody>
      </p:sp>
      <p:sp>
        <p:nvSpPr>
          <p:cNvPr id="283" name="Google Shape;283;p12"/>
          <p:cNvSpPr/>
          <p:nvPr/>
        </p:nvSpPr>
        <p:spPr>
          <a:xfrm>
            <a:off x="521208" y="1527048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5.1 main metrics; 5.2-5.3 clean-context; 5.5 modality; 5.6 retrieval; 5.7 route audit; 5.8 imbalance; 5.9 matched deltas.</a:t>
            </a:r>
          </a:p>
        </p:txBody>
      </p:sp>
      <p:sp>
        <p:nvSpPr>
          <p:cNvPr id="284" name="Google Shape;284;p12"/>
          <p:cNvSpPr/>
          <p:nvPr/>
        </p:nvSpPr>
        <p:spPr>
          <a:xfrm>
            <a:off x="4663440" y="1051560"/>
            <a:ext cx="416052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2"/>
          <p:cNvSpPr/>
          <p:nvPr/>
        </p:nvSpPr>
        <p:spPr>
          <a:xfrm>
            <a:off x="4663440" y="1051560"/>
            <a:ext cx="109728" cy="16002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2"/>
          <p:cNvSpPr/>
          <p:nvPr/>
        </p:nvSpPr>
        <p:spPr>
          <a:xfrm>
            <a:off x="4864608" y="114300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Why v6 felt short</a:t>
            </a:r>
          </a:p>
        </p:txBody>
      </p:sp>
      <p:sp>
        <p:nvSpPr>
          <p:cNvPr id="287" name="Google Shape;287;p12"/>
          <p:cNvSpPr/>
          <p:nvPr/>
        </p:nvSpPr>
        <p:spPr>
          <a:xfrm>
            <a:off x="4864608" y="1527048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It compressed many result families into slides 5-10 to preserve a 30-minute defense flow.</a:t>
            </a:r>
          </a:p>
        </p:txBody>
      </p:sp>
      <p:sp>
        <p:nvSpPr>
          <p:cNvPr id="288" name="Google Shape;288;p12"/>
          <p:cNvSpPr/>
          <p:nvPr/>
        </p:nvSpPr>
        <p:spPr>
          <a:xfrm>
            <a:off x="320040" y="2880360"/>
            <a:ext cx="416052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2"/>
          <p:cNvSpPr/>
          <p:nvPr/>
        </p:nvSpPr>
        <p:spPr>
          <a:xfrm>
            <a:off x="320040" y="2880360"/>
            <a:ext cx="109728" cy="1600200"/>
          </a:xfrm>
          <a:prstGeom prst="rect">
            <a:avLst/>
          </a:prstGeom>
          <a:solidFill>
            <a:srgbClr val="5A2D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2"/>
          <p:cNvSpPr/>
          <p:nvPr/>
        </p:nvSpPr>
        <p:spPr>
          <a:xfrm>
            <a:off x="521208" y="297180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What v3 adds</a:t>
            </a:r>
          </a:p>
        </p:txBody>
      </p:sp>
      <p:sp>
        <p:nvSpPr>
          <p:cNvPr id="291" name="Google Shape;291;p12"/>
          <p:cNvSpPr/>
          <p:nvPr/>
        </p:nvSpPr>
        <p:spPr>
          <a:xfrm>
            <a:off x="521208" y="3355848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Labeled charts plus three backup slides for result provenance, clean-context sensitivity, routing, modality, latency, and GPU evidence.</a:t>
            </a:r>
          </a:p>
        </p:txBody>
      </p:sp>
      <p:sp>
        <p:nvSpPr>
          <p:cNvPr id="292" name="Google Shape;292;p12"/>
          <p:cNvSpPr/>
          <p:nvPr/>
        </p:nvSpPr>
        <p:spPr>
          <a:xfrm>
            <a:off x="4663440" y="2880360"/>
            <a:ext cx="416052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2"/>
          <p:cNvSpPr/>
          <p:nvPr/>
        </p:nvSpPr>
        <p:spPr>
          <a:xfrm>
            <a:off x="4663440" y="2880360"/>
            <a:ext cx="109728" cy="1600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2"/>
          <p:cNvSpPr/>
          <p:nvPr/>
        </p:nvSpPr>
        <p:spPr>
          <a:xfrm>
            <a:off x="4864608" y="297180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Claim boundary</a:t>
            </a:r>
          </a:p>
        </p:txBody>
      </p:sp>
      <p:sp>
        <p:nvSpPr>
          <p:cNvPr id="295" name="Google Shape;295;p12"/>
          <p:cNvSpPr/>
          <p:nvPr/>
        </p:nvSpPr>
        <p:spPr>
          <a:xfrm>
            <a:off x="4864608" y="3355848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The backup slides explain existing thesis evidence; they do not create new experimental claims.</a:t>
            </a:r>
          </a:p>
        </p:txBody>
      </p:sp>
      <p:sp>
        <p:nvSpPr>
          <p:cNvPr id="296" name="Google Shape;296;p12"/>
          <p:cNvSpPr/>
          <p:nvPr/>
        </p:nvSpPr>
        <p:spPr>
          <a:xfrm>
            <a:off x="320040" y="4617720"/>
            <a:ext cx="8595360" cy="365760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1226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2"/>
          <p:cNvSpPr/>
          <p:nvPr/>
        </p:nvSpPr>
        <p:spPr>
          <a:xfrm>
            <a:off x="502920" y="4663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Use this slide when supervisors ask where each result family lives in thesis_v44b-1.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2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2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</a:p>
        </p:txBody>
      </p:sp>
      <p:sp>
        <p:nvSpPr>
          <p:cNvPr id="278" name="Google Shape;278;p12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Clean-context and route audit explain the RAG effect</a:t>
            </a:r>
          </a:p>
        </p:txBody>
      </p:sp>
      <p:sp>
        <p:nvSpPr>
          <p:cNvPr id="279" name="Google Shape;279;p12"/>
          <p:cNvSpPr/>
          <p:nvPr/>
        </p:nvSpPr>
        <p:spPr>
          <a:xfrm>
            <a:off x="365760" y="6583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These are the missing mechanism checks behind the short v6 RAG story.</a:t>
            </a:r>
          </a:p>
        </p:txBody>
      </p:sp>
      <p:sp>
        <p:nvSpPr>
          <p:cNvPr id="280" name="Google Shape;280;p12"/>
          <p:cNvSpPr/>
          <p:nvPr/>
        </p:nvSpPr>
        <p:spPr>
          <a:xfrm>
            <a:off x="320040" y="1051560"/>
            <a:ext cx="416052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2"/>
          <p:cNvSpPr/>
          <p:nvPr/>
        </p:nvSpPr>
        <p:spPr>
          <a:xfrm>
            <a:off x="320040" y="1051560"/>
            <a:ext cx="109728" cy="1600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2"/>
          <p:cNvSpPr/>
          <p:nvPr/>
        </p:nvSpPr>
        <p:spPr>
          <a:xfrm>
            <a:off x="521208" y="114300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Clean-context deltas</a:t>
            </a:r>
          </a:p>
        </p:txBody>
      </p:sp>
      <p:sp>
        <p:nvSpPr>
          <p:cNvPr id="283" name="Google Shape;283;p12"/>
          <p:cNvSpPr/>
          <p:nvPr/>
        </p:nvSpPr>
        <p:spPr>
          <a:xfrm>
            <a:off x="521208" y="1527048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Gemini -7.1 pp; MedGemma +6.7 pp; Gemma4 +16.1 pp. Same 56 case IDs, sanitized query artifact; supplementary sensitivity only.</a:t>
            </a:r>
          </a:p>
        </p:txBody>
      </p:sp>
      <p:sp>
        <p:nvSpPr>
          <p:cNvPr id="284" name="Google Shape;284;p12"/>
          <p:cNvSpPr/>
          <p:nvPr/>
        </p:nvSpPr>
        <p:spPr>
          <a:xfrm>
            <a:off x="4663440" y="1051560"/>
            <a:ext cx="416052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2"/>
          <p:cNvSpPr/>
          <p:nvPr/>
        </p:nvSpPr>
        <p:spPr>
          <a:xfrm>
            <a:off x="4663440" y="1051560"/>
            <a:ext cx="109728" cy="16002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2"/>
          <p:cNvSpPr/>
          <p:nvPr/>
        </p:nvSpPr>
        <p:spPr>
          <a:xfrm>
            <a:off x="4864608" y="114300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Prompt2 A+B tier</a:t>
            </a:r>
          </a:p>
        </p:txBody>
      </p:sp>
      <p:sp>
        <p:nvSpPr>
          <p:cNvPr id="287" name="Google Shape;287;p12"/>
          <p:cNvSpPr/>
          <p:nvPr/>
        </p:nvSpPr>
        <p:spPr>
          <a:xfrm>
            <a:off x="4864608" y="1527048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47 cases: Gemini -4.3 pp; MedGemma +4.3 pp; Gemma4 +14.9 pp. Descriptive, not confirmatory.</a:t>
            </a:r>
          </a:p>
        </p:txBody>
      </p:sp>
      <p:sp>
        <p:nvSpPr>
          <p:cNvPr id="288" name="Google Shape;288;p12"/>
          <p:cNvSpPr/>
          <p:nvPr/>
        </p:nvSpPr>
        <p:spPr>
          <a:xfrm>
            <a:off x="320040" y="2880360"/>
            <a:ext cx="416052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2"/>
          <p:cNvSpPr/>
          <p:nvPr/>
        </p:nvSpPr>
        <p:spPr>
          <a:xfrm>
            <a:off x="320040" y="2880360"/>
            <a:ext cx="109728" cy="1600200"/>
          </a:xfrm>
          <a:prstGeom prst="rect">
            <a:avLst/>
          </a:prstGeom>
          <a:solidFill>
            <a:srgbClr val="5A2D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2"/>
          <p:cNvSpPr/>
          <p:nvPr/>
        </p:nvSpPr>
        <p:spPr>
          <a:xfrm>
            <a:off x="521208" y="297180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Route-mixed RAG</a:t>
            </a:r>
          </a:p>
        </p:txBody>
      </p:sp>
      <p:sp>
        <p:nvSpPr>
          <p:cNvPr id="291" name="Google Shape;291;p12"/>
          <p:cNvSpPr/>
          <p:nvPr/>
        </p:nvSpPr>
        <p:spPr>
          <a:xfrm>
            <a:off x="521208" y="3355848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Gemma4 audit: 31/56 adaptive_rag rows and 25/56 no-context fallback rows. RAG did not inject context into every case.</a:t>
            </a:r>
          </a:p>
        </p:txBody>
      </p:sp>
      <p:sp>
        <p:nvSpPr>
          <p:cNvPr id="292" name="Google Shape;292;p12"/>
          <p:cNvSpPr/>
          <p:nvPr/>
        </p:nvSpPr>
        <p:spPr>
          <a:xfrm>
            <a:off x="4663440" y="2880360"/>
            <a:ext cx="416052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2"/>
          <p:cNvSpPr/>
          <p:nvPr/>
        </p:nvSpPr>
        <p:spPr>
          <a:xfrm>
            <a:off x="4663440" y="2880360"/>
            <a:ext cx="109728" cy="1600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2"/>
          <p:cNvSpPr/>
          <p:nvPr/>
        </p:nvSpPr>
        <p:spPr>
          <a:xfrm>
            <a:off x="4864608" y="297180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Retrieval imbalance</a:t>
            </a:r>
          </a:p>
        </p:txBody>
      </p:sp>
      <p:sp>
        <p:nvSpPr>
          <p:cNvPr id="295" name="Google Shape;295;p12"/>
          <p:cNvSpPr/>
          <p:nvPr/>
        </p:nvSpPr>
        <p:spPr>
          <a:xfrm>
            <a:off x="4864608" y="3355848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Corpus 106/121 leish; held-out 33/56 non-leish. Non-leish top-10 support was still 98.8% leish-labelled.</a:t>
            </a:r>
          </a:p>
        </p:txBody>
      </p:sp>
      <p:sp>
        <p:nvSpPr>
          <p:cNvPr id="296" name="Google Shape;296;p12"/>
          <p:cNvSpPr/>
          <p:nvPr/>
        </p:nvSpPr>
        <p:spPr>
          <a:xfrm>
            <a:off x="320040" y="4617720"/>
            <a:ext cx="8595360" cy="365760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1226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2"/>
          <p:cNvSpPr/>
          <p:nvPr/>
        </p:nvSpPr>
        <p:spPr>
          <a:xfrm>
            <a:off x="502920" y="4663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Takeaway: retrieval helps conditionally because generator behavior, route policy, and corpus balance all matter.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2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2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</a:p>
        </p:txBody>
      </p:sp>
      <p:sp>
        <p:nvSpPr>
          <p:cNvPr id="278" name="Google Shape;278;p12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Sensitivity: modality, latency, and GPU practicality</a:t>
            </a:r>
          </a:p>
        </p:txBody>
      </p:sp>
      <p:sp>
        <p:nvSpPr>
          <p:cNvPr id="279" name="Google Shape;279;p12"/>
          <p:cNvSpPr/>
          <p:nvPr/>
        </p:nvSpPr>
        <p:spPr>
          <a:xfrm>
            <a:off x="365760" y="6583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This slide collects appendix evidence that supports the demo story without overclaiming deployment readiness.</a:t>
            </a:r>
          </a:p>
        </p:txBody>
      </p:sp>
      <p:sp>
        <p:nvSpPr>
          <p:cNvPr id="280" name="Google Shape;280;p12"/>
          <p:cNvSpPr/>
          <p:nvPr/>
        </p:nvSpPr>
        <p:spPr>
          <a:xfrm>
            <a:off x="320040" y="1051560"/>
            <a:ext cx="416052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2"/>
          <p:cNvSpPr/>
          <p:nvPr/>
        </p:nvSpPr>
        <p:spPr>
          <a:xfrm>
            <a:off x="320040" y="1051560"/>
            <a:ext cx="109728" cy="1600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2"/>
          <p:cNvSpPr/>
          <p:nvPr/>
        </p:nvSpPr>
        <p:spPr>
          <a:xfrm>
            <a:off x="521208" y="114300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Modality matrix</a:t>
            </a:r>
          </a:p>
        </p:txBody>
      </p:sp>
      <p:sp>
        <p:nvSpPr>
          <p:cNvPr id="283" name="Google Shape;283;p12"/>
          <p:cNvSpPr/>
          <p:nvPr/>
        </p:nvSpPr>
        <p:spPr>
          <a:xfrm>
            <a:off x="521208" y="1527048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Gemini strongest multimodal no-RAG: 89.7%. Gemma4 text RAG: 85.3%; multimodal RAG: 82.6%; tensor-on RAG: 84.4% supplementary.</a:t>
            </a:r>
          </a:p>
        </p:txBody>
      </p:sp>
      <p:sp>
        <p:nvSpPr>
          <p:cNvPr id="284" name="Google Shape;284;p12"/>
          <p:cNvSpPr/>
          <p:nvPr/>
        </p:nvSpPr>
        <p:spPr>
          <a:xfrm>
            <a:off x="4663440" y="1051560"/>
            <a:ext cx="416052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2"/>
          <p:cNvSpPr/>
          <p:nvPr/>
        </p:nvSpPr>
        <p:spPr>
          <a:xfrm>
            <a:off x="4663440" y="1051560"/>
            <a:ext cx="109728" cy="16002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2"/>
          <p:cNvSpPr/>
          <p:nvPr/>
        </p:nvSpPr>
        <p:spPr>
          <a:xfrm>
            <a:off x="4864608" y="114300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Image-risk trade-off</a:t>
            </a:r>
          </a:p>
        </p:txBody>
      </p:sp>
      <p:sp>
        <p:nvSpPr>
          <p:cNvPr id="287" name="Google Shape;287;p12"/>
          <p:cNvSpPr/>
          <p:nvPr/>
        </p:nvSpPr>
        <p:spPr>
          <a:xfrm>
            <a:off x="4864608" y="1527048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Gemma4 support images: +1.8 pp over standard RAG but visual hallucination rose 3.4% -&gt; 7.9%. Multi-seed +8.3 pp vs no-RAG, CI crosses 0.</a:t>
            </a:r>
          </a:p>
        </p:txBody>
      </p:sp>
      <p:sp>
        <p:nvSpPr>
          <p:cNvPr id="288" name="Google Shape;288;p12"/>
          <p:cNvSpPr/>
          <p:nvPr/>
        </p:nvSpPr>
        <p:spPr>
          <a:xfrm>
            <a:off x="320040" y="2880360"/>
            <a:ext cx="416052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2"/>
          <p:cNvSpPr/>
          <p:nvPr/>
        </p:nvSpPr>
        <p:spPr>
          <a:xfrm>
            <a:off x="320040" y="2880360"/>
            <a:ext cx="109728" cy="1600200"/>
          </a:xfrm>
          <a:prstGeom prst="rect">
            <a:avLst/>
          </a:prstGeom>
          <a:solidFill>
            <a:srgbClr val="5A2D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2"/>
          <p:cNvSpPr/>
          <p:nvPr/>
        </p:nvSpPr>
        <p:spPr>
          <a:xfrm>
            <a:off x="521208" y="297180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Local practicality</a:t>
            </a:r>
          </a:p>
        </p:txBody>
      </p:sp>
      <p:sp>
        <p:nvSpPr>
          <p:cNvPr id="291" name="Google Shape;291;p12"/>
          <p:cNvSpPr/>
          <p:nvPr/>
        </p:nvSpPr>
        <p:spPr>
          <a:xfrm>
            <a:off x="521208" y="3355848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MedGemma: 22-26 s/case, peak 15.70 GB. Gemma4: 46-59 s/case, peak 18.84 GB. Gemini API: 3-4 s/case.</a:t>
            </a:r>
          </a:p>
        </p:txBody>
      </p:sp>
      <p:sp>
        <p:nvSpPr>
          <p:cNvPr id="292" name="Google Shape;292;p12"/>
          <p:cNvSpPr/>
          <p:nvPr/>
        </p:nvSpPr>
        <p:spPr>
          <a:xfrm>
            <a:off x="4663440" y="2880360"/>
            <a:ext cx="416052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2"/>
          <p:cNvSpPr/>
          <p:nvPr/>
        </p:nvSpPr>
        <p:spPr>
          <a:xfrm>
            <a:off x="4663440" y="2880360"/>
            <a:ext cx="109728" cy="1600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2"/>
          <p:cNvSpPr/>
          <p:nvPr/>
        </p:nvSpPr>
        <p:spPr>
          <a:xfrm>
            <a:off x="4864608" y="297180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Defense point</a:t>
            </a:r>
          </a:p>
        </p:txBody>
      </p:sp>
      <p:sp>
        <p:nvSpPr>
          <p:cNvPr id="295" name="Google Shape;295;p12"/>
          <p:cNvSpPr/>
          <p:nvPr/>
        </p:nvSpPr>
        <p:spPr>
          <a:xfrm>
            <a:off x="4864608" y="3355848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The contribution is traceability, auditability, and bounded evidence, not a deployment-ready classifier.</a:t>
            </a:r>
          </a:p>
        </p:txBody>
      </p:sp>
      <p:sp>
        <p:nvSpPr>
          <p:cNvPr id="296" name="Google Shape;296;p12"/>
          <p:cNvSpPr/>
          <p:nvPr/>
        </p:nvSpPr>
        <p:spPr>
          <a:xfrm>
            <a:off x="320040" y="4617720"/>
            <a:ext cx="8595360" cy="365760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1226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2"/>
          <p:cNvSpPr/>
          <p:nvPr/>
        </p:nvSpPr>
        <p:spPr>
          <a:xfrm>
            <a:off x="502920" y="4663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These are the missing core result families behind the short v6 narrative.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
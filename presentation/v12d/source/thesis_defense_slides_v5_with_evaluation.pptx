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78" r:id="rId16"/>
    <p:sldId id="291"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64592"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365760" y="228600"/>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MASTER THESIS · ITS 2024 · 21024003</a:t>
            </a:r>
          </a:p>
        </p:txBody>
      </p:sp>
      <p:sp>
        <p:nvSpPr>
          <p:cNvPr id="18" name="Google Shape;18;p3"/>
          <p:cNvSpPr/>
          <p:nvPr/>
        </p:nvSpPr>
        <p:spPr>
          <a:xfrm>
            <a:off x="365760" y="54864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1100"/>
              <a:buFont typeface="Calibri"/>
              <a:buNone/>
              <a:defRPr>
                <a:solidFill>
                  <a:srgbClr val="556978"/>
                </a:solidFill>
              </a:defRPr>
            </a:pPr>
            <a:r>
              <a:rPr b="0" i="0" lang="en-US" sz="1100" u="none" cap="none" strike="noStrike">
                <a:solidFill>
                  <a:srgbClr val="556978"/>
                </a:solidFill>
                <a:latin typeface="Calibri"/>
                <a:ea typeface="Calibri"/>
                <a:cs typeface="Calibri"/>
                <a:sym typeface="Calibri"/>
              </a:rPr>
              <a:t>Hochschule Darmstadt · Fachbereich Informatik</a:t>
            </a:r>
          </a:p>
        </p:txBody>
      </p:sp>
      <p:sp>
        <p:nvSpPr>
          <p:cNvPr id="19" name="Google Shape;19;p3"/>
          <p:cNvSpPr/>
          <p:nvPr/>
        </p:nvSpPr>
        <p:spPr>
          <a:xfrm>
            <a:off x="365760" y="1097280"/>
            <a:ext cx="8412480" cy="2194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defRPr b="1">
                <a:solidFill>
                  <a:srgbClr val="12263A"/>
                </a:solidFill>
              </a:defRPr>
            </a:pPr>
            <a:r>
              <a:rPr b="1" i="0" lang="en-US" sz="3600" u="none" cap="none" strike="noStrike">
                <a:solidFill>
                  <a:srgbClr val="12263A"/>
                </a:solidFill>
                <a:latin typeface="Calibri"/>
                <a:ea typeface="Calibri"/>
                <a:cs typeface="Calibri"/>
                <a:sym typeface="Calibri"/>
              </a:rPr>
              <a:t>Multimodal RAG for Leishmaniasis Diagnosis</a:t>
            </a:r>
          </a:p>
        </p:txBody>
      </p:sp>
      <p:sp>
        <p:nvSpPr>
          <p:cNvPr id="20" name="Google Shape;20;p3"/>
          <p:cNvSpPr/>
          <p:nvPr/>
        </p:nvSpPr>
        <p:spPr>
          <a:xfrm>
            <a:off x="365760" y="333756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1400"/>
              <a:buFont typeface="Calibri"/>
              <a:buNone/>
              <a:defRPr i="1">
                <a:solidFill>
                  <a:srgbClr val="556978"/>
                </a:solidFill>
              </a:defRPr>
            </a:pPr>
            <a:r>
              <a:rPr b="0" i="1" lang="en-US" sz="1400" u="none" cap="none" strike="noStrike">
                <a:solidFill>
                  <a:srgbClr val="556978"/>
                </a:solidFill>
                <a:latin typeface="Calibri"/>
                <a:ea typeface="Calibri"/>
                <a:cs typeface="Calibri"/>
                <a:sym typeface="Calibri"/>
              </a:rPr>
              <a:t>Traceable evidence, model-dependent retrieval, and safety-gated demonstration</a:t>
            </a:r>
          </a:p>
        </p:txBody>
      </p:sp>
      <p:sp>
        <p:nvSpPr>
          <p:cNvPr id="21" name="Google Shape;21;p3"/>
          <p:cNvSpPr/>
          <p:nvPr/>
        </p:nvSpPr>
        <p:spPr>
          <a:xfrm>
            <a:off x="365760" y="3977640"/>
            <a:ext cx="502920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365760" y="406908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defRPr>
                <a:solidFill>
                  <a:srgbClr val="556978"/>
                </a:solidFill>
              </a:defRPr>
            </a:pPr>
            <a:r>
              <a:rPr b="1" i="0" lang="en-US" sz="1300" u="none" cap="none" strike="noStrike">
                <a:solidFill>
                  <a:srgbClr val="556978"/>
                </a:solidFill>
                <a:latin typeface="Calibri"/>
                <a:ea typeface="Calibri"/>
                <a:cs typeface="Calibri"/>
                <a:sym typeface="Calibri"/>
              </a:rPr>
              <a:t>Nguyen Tuan Ngoc · Supervisor: Prof. Dr. Andreas Müller · Co-Supervisor: Dr. Tran Duc Khanh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02</a:t>
            </a:r>
            <a:endParaRPr b="0" i="0" sz="800" u="none" cap="none" strike="noStrike">
              <a:solidFill>
                <a:schemeClr val="dk1"/>
              </a:solidFill>
              <a:latin typeface="Calibri"/>
              <a:ea typeface="Calibri"/>
              <a:cs typeface="Calibri"/>
              <a:sym typeface="Calibri"/>
            </a:endParaRPr>
          </a:p>
        </p:txBody>
      </p:sp>
      <p:sp>
        <p:nvSpPr>
          <p:cNvPr id="30" name="Google Shape;30;p4"/>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Leishmaniasis is not simple image classification</a:t>
            </a:r>
          </a:p>
        </p:txBody>
      </p:sp>
      <p:sp>
        <p:nvSpPr>
          <p:cNvPr id="31" name="Google Shape;31;p4"/>
          <p:cNvSpPr/>
          <p:nvPr/>
        </p:nvSpPr>
        <p:spPr>
          <a:xfrm>
            <a:off x="320040" y="777240"/>
            <a:ext cx="5029200" cy="4023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02920" y="91440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The Problem</a:t>
            </a:r>
          </a:p>
        </p:txBody>
      </p:sp>
      <p:sp>
        <p:nvSpPr>
          <p:cNvPr id="33" name="Google Shape;33;p4"/>
          <p:cNvSpPr/>
          <p:nvPr/>
        </p:nvSpPr>
        <p:spPr>
          <a:xfrm>
            <a:off x="502920" y="1280160"/>
            <a:ext cx="4663440" cy="822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C3557"/>
              </a:buClr>
              <a:buSzPts val="1200"/>
              <a:buFont typeface="Calibri"/>
              <a:buChar char="•"/>
            </a:pPr>
            <a:r>
              <a:rPr b="1" i="0" lang="en-US" sz="1200" u="none" cap="none" strike="noStrike">
                <a:solidFill>
                  <a:srgbClr val="1C3557"/>
                </a:solidFill>
                <a:latin typeface="Calibri"/>
                <a:ea typeface="Calibri"/>
                <a:cs typeface="Calibri"/>
                <a:sym typeface="Calibri"/>
              </a:rPr>
              <a:t>Overlapping CL, MCL, VL, PKDL, and non-leishmaniasis mimics; lab confirmation is often the decisive evidence.</a:t>
            </a:r>
          </a:p>
        </p:txBody>
      </p:sp>
      <p:sp>
        <p:nvSpPr>
          <p:cNvPr id="34" name="Google Shape;34;p4"/>
          <p:cNvSpPr/>
          <p:nvPr/>
        </p:nvSpPr>
        <p:spPr>
          <a:xfrm>
            <a:off x="502920" y="214884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Evidence Streams</a:t>
            </a:r>
          </a:p>
        </p:txBody>
      </p:sp>
      <p:sp>
        <p:nvSpPr>
          <p:cNvPr id="35" name="Google Shape;35;p4"/>
          <p:cNvSpPr/>
          <p:nvPr/>
        </p:nvSpPr>
        <p:spPr>
          <a:xfrm>
            <a:off x="502920" y="2514600"/>
            <a:ext cx="1463040" cy="457200"/>
          </a:xfrm>
          <a:prstGeom prst="roundRect">
            <a:avLst>
              <a:gd fmla="val 24000" name="adj"/>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502920"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Text</a:t>
            </a:r>
          </a:p>
        </p:txBody>
      </p:sp>
      <p:sp>
        <p:nvSpPr>
          <p:cNvPr id="37" name="Google Shape;37;p4"/>
          <p:cNvSpPr/>
          <p:nvPr/>
        </p:nvSpPr>
        <p:spPr>
          <a:xfrm>
            <a:off x="502920"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Symptoms</a:t>
            </a:r>
          </a:p>
        </p:txBody>
      </p:sp>
      <p:sp>
        <p:nvSpPr>
          <p:cNvPr id="38" name="Google Shape;38;p4"/>
          <p:cNvSpPr/>
          <p:nvPr/>
        </p:nvSpPr>
        <p:spPr>
          <a:xfrm>
            <a:off x="2075688" y="2514600"/>
            <a:ext cx="1463040" cy="457200"/>
          </a:xfrm>
          <a:prstGeom prst="roundRect">
            <a:avLst>
              <a:gd fmla="val 24000" name="adj"/>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2075688"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Image</a:t>
            </a:r>
          </a:p>
        </p:txBody>
      </p:sp>
      <p:sp>
        <p:nvSpPr>
          <p:cNvPr id="40" name="Google Shape;40;p4"/>
          <p:cNvSpPr/>
          <p:nvPr/>
        </p:nvSpPr>
        <p:spPr>
          <a:xfrm>
            <a:off x="2075688"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Context</a:t>
            </a:r>
          </a:p>
        </p:txBody>
      </p:sp>
      <p:sp>
        <p:nvSpPr>
          <p:cNvPr id="41" name="Google Shape;41;p4"/>
          <p:cNvSpPr/>
          <p:nvPr/>
        </p:nvSpPr>
        <p:spPr>
          <a:xfrm>
            <a:off x="3648456" y="2514600"/>
            <a:ext cx="1463040" cy="457200"/>
          </a:xfrm>
          <a:prstGeom prst="roundRect">
            <a:avLst>
              <a:gd fmla="val 24000" name="adj"/>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648456"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Lab</a:t>
            </a:r>
          </a:p>
        </p:txBody>
      </p:sp>
      <p:sp>
        <p:nvSpPr>
          <p:cNvPr id="43" name="Google Shape;43;p4"/>
          <p:cNvSpPr/>
          <p:nvPr/>
        </p:nvSpPr>
        <p:spPr>
          <a:xfrm>
            <a:off x="3648456"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Weak reference</a:t>
            </a:r>
          </a:p>
        </p:txBody>
      </p:sp>
      <p:sp>
        <p:nvSpPr>
          <p:cNvPr id="44" name="Google Shape;44;p4"/>
          <p:cNvSpPr/>
          <p:nvPr/>
        </p:nvSpPr>
        <p:spPr>
          <a:xfrm>
            <a:off x="502920" y="310896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Why It Is Hard</a:t>
            </a:r>
          </a:p>
        </p:txBody>
      </p:sp>
      <p:sp>
        <p:nvSpPr>
          <p:cNvPr id="45" name="Google Shape;45;p4"/>
          <p:cNvSpPr/>
          <p:nvPr/>
        </p:nvSpPr>
        <p:spPr>
          <a:xfrm>
            <a:off x="502920" y="3474720"/>
            <a:ext cx="4663440" cy="1097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C3557"/>
              </a:buClr>
              <a:buSzPts val="1150"/>
              <a:buFont typeface="Calibri"/>
              <a:buChar char="•"/>
            </a:pPr>
            <a:r>
              <a:rPr b="0" i="0" lang="en-US" sz="1150" u="none" cap="none" strike="noStrike">
                <a:solidFill>
                  <a:srgbClr val="1C3557"/>
                </a:solidFill>
                <a:latin typeface="Calibri"/>
                <a:ea typeface="Calibri"/>
                <a:cs typeface="Calibri"/>
                <a:sym typeface="Calibri"/>
              </a:rPr>
              <a:t>Case reports mix symptoms, captions, pathology, treatment, and author conclusions. Image appearance alone is insufficient.</a:t>
            </a:r>
          </a:p>
        </p:txBody>
      </p:sp>
      <p:sp>
        <p:nvSpPr>
          <p:cNvPr id="46" name="Google Shape;46;p4"/>
          <p:cNvSpPr/>
          <p:nvPr/>
        </p:nvSpPr>
        <p:spPr>
          <a:xfrm>
            <a:off x="5486400" y="777240"/>
            <a:ext cx="3429000" cy="4023360"/>
          </a:xfrm>
          <a:prstGeom prst="rect">
            <a:avLst/>
          </a:prstGeom>
          <a:solidFill>
            <a:srgbClr val="F8FCFC"/>
          </a:solidFill>
          <a:ln w="17780">
            <a:solidFill>
              <a:srgbClr val="A5D7DC"/>
            </a:solidFill>
          </a:ln>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577840" y="896112"/>
            <a:ext cx="32461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900"/>
              <a:buFont typeface="Calibri"/>
              <a:buNone/>
            </a:pPr>
            <a:r>
              <a:rPr b="1" i="0" lang="en-US" sz="900" u="none" cap="none" strike="noStrike">
                <a:solidFill>
                  <a:srgbClr val="028090"/>
                </a:solidFill>
                <a:latin typeface="Calibri"/>
                <a:ea typeface="Calibri"/>
                <a:cs typeface="Calibri"/>
                <a:sym typeface="Calibri"/>
              </a:rPr>
              <a:t>SUPPORT IMAGE</a:t>
            </a:r>
          </a:p>
        </p:txBody>
      </p:sp>
      <p:sp>
        <p:nvSpPr>
          <p:cNvPr id="48" name="Google Shape;48;p4"/>
          <p:cNvSpPr/>
          <p:nvPr/>
        </p:nvSpPr>
        <p:spPr>
          <a:xfrm>
            <a:off x="5577840" y="1170432"/>
            <a:ext cx="32461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pPr>
            <a:r>
              <a:rPr b="0" i="0" lang="en-US" sz="900" u="none" cap="none" strike="noStrike">
                <a:solidFill>
                  <a:srgbClr val="12263A"/>
                </a:solidFill>
                <a:latin typeface="Calibri"/>
                <a:ea typeface="Calibri"/>
                <a:cs typeface="Calibri"/>
                <a:sym typeface="Calibri"/>
              </a:rPr>
              <a:t>PMC3140149 · PKDL/HIV case report</a:t>
            </a:r>
          </a:p>
        </p:txBody>
      </p:sp>
      <p:sp>
        <p:nvSpPr>
          <p:cNvPr id="49" name="Google Shape;49;p4"/>
          <p:cNvSpPr/>
          <p:nvPr/>
        </p:nvSpPr>
        <p:spPr>
          <a:xfrm>
            <a:off x="5715000" y="1508760"/>
            <a:ext cx="2971800" cy="1691640"/>
          </a:xfrm>
          <a:prstGeom prst="rect">
            <a:avLst/>
          </a:prstGeom>
          <a:solidFill>
            <a:srgbClr val="FFFFFF"/>
          </a:solidFill>
          <a:ln cap="flat" cmpd="sng" w="19050">
            <a:solidFill>
              <a:srgbClr val="02809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5577840" y="3255264"/>
            <a:ext cx="32461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50"/>
              <a:buFont typeface="Calibri"/>
              <a:buNone/>
            </a:pPr>
            <a:r>
              <a:rPr b="0" i="0" lang="en-US" sz="950" u="none" cap="none" strike="noStrike">
                <a:solidFill>
                  <a:srgbClr val="12263A"/>
                </a:solidFill>
                <a:latin typeface="Calibri"/>
                <a:ea typeface="Calibri"/>
                <a:cs typeface="Calibri"/>
                <a:sym typeface="Calibri"/>
              </a:rPr>
              <a:t>Infiltrated plaques on nose, wrist, and finger — useful visual context, not standalone ground truth.</a:t>
            </a:r>
          </a:p>
        </p:txBody>
      </p:sp>
      <p:sp>
        <p:nvSpPr>
          <p:cNvPr id="52" name="Google Shape;52;p4"/>
          <p:cNvSpPr/>
          <p:nvPr/>
        </p:nvSpPr>
        <p:spPr>
          <a:xfrm>
            <a:off x="5577840" y="4434840"/>
            <a:ext cx="32461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8FA8"/>
              </a:buClr>
              <a:buSzPts val="800"/>
              <a:buFont typeface="Calibri"/>
              <a:buNone/>
            </a:pPr>
            <a:r>
              <a:rPr b="0" i="1" lang="en-US" sz="800" u="none" cap="none" strike="noStrike">
                <a:solidFill>
                  <a:srgbClr val="028090"/>
                </a:solidFill>
                <a:latin typeface="Calibri"/>
                <a:ea typeface="Calibri"/>
                <a:cs typeface="Calibri"/>
                <a:sym typeface="Calibri"/>
              </a:rPr>
              <a:t>Source: open-access PMC case-report image</a:t>
            </a:r>
          </a:p>
        </p:txBody>
      </p:sp>
      <p:sp>
        <p:nvSpPr>
          <p:cNvPr id="53" name="Google Shape;53;p4"/>
          <p:cNvSpPr/>
          <p:nvPr/>
        </p:nvSpPr>
        <p:spPr>
          <a:xfrm>
            <a:off x="320040" y="4846320"/>
            <a:ext cx="8595360" cy="201168"/>
          </a:xfrm>
          <a:prstGeom prst="rect">
            <a:avLst/>
          </a:prstGeom>
          <a:solidFill>
            <a:srgbClr val="D6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411480" y="4873752"/>
            <a:ext cx="841248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850"/>
              <a:buFont typeface="Calibri"/>
              <a:buNone/>
            </a:pPr>
            <a:r>
              <a:rPr b="0" i="0" lang="en-US" sz="850" u="none" cap="none" strike="noStrike">
                <a:solidFill>
                  <a:srgbClr val="12263A"/>
                </a:solidFill>
                <a:latin typeface="Calibri"/>
                <a:ea typeface="Calibri"/>
                <a:cs typeface="Calibri"/>
                <a:sym typeface="Calibri"/>
              </a:rPr>
              <a:t>Use this as a retrieval-ambiguity example: a support image can explain evidence flow, but it is not a direct official test query or model-proven diagnosis.</a:t>
            </a:r>
          </a:p>
        </p:txBody>
      </p:sp>
      <p:pic>
        <p:nvPicPr>
          <p:cNvPr id="55" name="Google Shape;55;p4"/>
          <p:cNvPicPr preferRelativeResize="0"/>
          <p:nvPr/>
        </p:nvPicPr>
        <p:blipFill>
          <a:blip r:embed="rId3">
            <a:alphaModFix/>
          </a:blip>
          <a:stretch>
            <a:fillRect/>
          </a:stretch>
        </p:blipFill>
        <p:spPr>
          <a:xfrm>
            <a:off x="6230902" y="1508750"/>
            <a:ext cx="1950673" cy="1691651"/>
          </a:xfrm>
          <a:prstGeom prst="rect">
            <a:avLst/>
          </a:prstGeom>
          <a:noFill/>
          <a:ln>
            <a:noFill/>
          </a:ln>
        </p:spPr>
      </p:pic>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p:bgPr>
    </p:bg>
    <p:spTree>
      <p:nvGrpSpPr>
        <p:cNvPr id="60" name="Shape 60"/>
        <p:cNvGrpSpPr/>
        <p:nvPr/>
      </p:nvGrpSpPr>
      <p:grpSpPr>
        <a:xfrm>
          <a:off x="0" y="0"/>
          <a:ext cx="0" cy="0"/>
          <a:chOff x="0" y="0"/>
          <a:chExt cx="0" cy="0"/>
        </a:xfrm>
      </p:grpSpPr>
      <p:sp>
        <p:nvSpPr>
          <p:cNvPr id="61" name="Google Shape;61;p5"/>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03</a:t>
            </a:r>
            <a:endParaRPr b="0" i="0" sz="800" u="none" cap="none" strike="noStrike">
              <a:solidFill>
                <a:schemeClr val="dk1"/>
              </a:solidFill>
              <a:latin typeface="Calibri"/>
              <a:ea typeface="Calibri"/>
              <a:cs typeface="Calibri"/>
              <a:sym typeface="Calibri"/>
            </a:endParaRPr>
          </a:p>
        </p:txBody>
      </p:sp>
      <p:sp>
        <p:nvSpPr>
          <p:cNvPr id="63" name="Google Shape;63;p5"/>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Four questions, one thread: does evidence help safely?</a:t>
            </a:r>
          </a:p>
        </p:txBody>
      </p:sp>
      <p:sp>
        <p:nvSpPr>
          <p:cNvPr id="64" name="Google Shape;64;p5"/>
          <p:cNvSpPr/>
          <p:nvPr/>
        </p:nvSpPr>
        <p:spPr>
          <a:xfrm>
            <a:off x="365760" y="65836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Each RQ asks whether more evidence improves the pipeline without creating unsupported claims.</a:t>
            </a:r>
          </a:p>
        </p:txBody>
      </p:sp>
      <p:sp>
        <p:nvSpPr>
          <p:cNvPr id="65" name="Google Shape;65;p5"/>
          <p:cNvSpPr/>
          <p:nvPr/>
        </p:nvSpPr>
        <p:spPr>
          <a:xfrm>
            <a:off x="320040" y="105156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320040" y="1051560"/>
            <a:ext cx="109728" cy="17373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21208" y="116128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RQ1</a:t>
            </a:r>
            <a:endParaRPr b="0" i="0" sz="1400" u="none" cap="none" strike="noStrike">
              <a:solidFill>
                <a:schemeClr val="dk1"/>
              </a:solidFill>
              <a:latin typeface="Calibri"/>
              <a:ea typeface="Calibri"/>
              <a:cs typeface="Calibri"/>
              <a:sym typeface="Calibri"/>
            </a:endParaRPr>
          </a:p>
        </p:txBody>
      </p:sp>
      <p:sp>
        <p:nvSpPr>
          <p:cNvPr id="68" name="Google Shape;68;p5"/>
          <p:cNvSpPr/>
          <p:nvPr/>
        </p:nvSpPr>
        <p:spPr>
          <a:xfrm>
            <a:off x="521208" y="148132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Weak-Reference Evaluation</a:t>
            </a:r>
          </a:p>
        </p:txBody>
      </p:sp>
      <p:sp>
        <p:nvSpPr>
          <p:cNvPr id="69" name="Google Shape;69;p5"/>
          <p:cNvSpPr/>
          <p:nvPr/>
        </p:nvSpPr>
        <p:spPr>
          <a:xfrm>
            <a:off x="521208" y="18288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Can structured case reconstruction support scored diagnosis evaluation on held-out leishmaniasis cases?</a:t>
            </a:r>
          </a:p>
        </p:txBody>
      </p:sp>
      <p:sp>
        <p:nvSpPr>
          <p:cNvPr id="70" name="Google Shape;70;p5"/>
          <p:cNvSpPr/>
          <p:nvPr/>
        </p:nvSpPr>
        <p:spPr>
          <a:xfrm>
            <a:off x="4663440" y="105156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663440" y="1051560"/>
            <a:ext cx="109728" cy="1737360"/>
          </a:xfrm>
          <a:prstGeom prst="rect">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4864608" y="116128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5C75"/>
              </a:buClr>
              <a:buSzPts val="1400"/>
              <a:buFont typeface="Calibri"/>
              <a:buNone/>
            </a:pPr>
            <a:r>
              <a:rPr b="1" i="0" lang="en-US" sz="1400" u="none" cap="none" strike="noStrike">
                <a:solidFill>
                  <a:srgbClr val="0A5C75"/>
                </a:solidFill>
                <a:latin typeface="Calibri"/>
                <a:ea typeface="Calibri"/>
                <a:cs typeface="Calibri"/>
                <a:sym typeface="Calibri"/>
              </a:rPr>
              <a:t>RQ2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4864608" y="148132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Small-Model Practicality</a:t>
            </a:r>
          </a:p>
        </p:txBody>
      </p:sp>
      <p:sp>
        <p:nvSpPr>
          <p:cNvPr id="74" name="Google Shape;74;p5"/>
          <p:cNvSpPr/>
          <p:nvPr/>
        </p:nvSpPr>
        <p:spPr>
          <a:xfrm>
            <a:off x="4864608" y="18288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Can local open models run on a single GPU with enough latency and memory transparency for audit?</a:t>
            </a:r>
          </a:p>
        </p:txBody>
      </p:sp>
      <p:sp>
        <p:nvSpPr>
          <p:cNvPr id="75" name="Google Shape;75;p5"/>
          <p:cNvSpPr/>
          <p:nvPr/>
        </p:nvSpPr>
        <p:spPr>
          <a:xfrm>
            <a:off x="320040" y="301752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320040" y="3017520"/>
            <a:ext cx="109728" cy="173736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521208" y="312724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RQ3</a:t>
            </a:r>
            <a:endParaRPr b="0" i="0" sz="1400" u="none" cap="none" strike="noStrike">
              <a:solidFill>
                <a:schemeClr val="dk1"/>
              </a:solidFill>
              <a:latin typeface="Calibri"/>
              <a:ea typeface="Calibri"/>
              <a:cs typeface="Calibri"/>
              <a:sym typeface="Calibri"/>
            </a:endParaRPr>
          </a:p>
        </p:txBody>
      </p:sp>
      <p:sp>
        <p:nvSpPr>
          <p:cNvPr id="78" name="Google Shape;78;p5"/>
          <p:cNvSpPr/>
          <p:nvPr/>
        </p:nvSpPr>
        <p:spPr>
          <a:xfrm>
            <a:off x="521208" y="34472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Multimodal Evidence</a:t>
            </a:r>
          </a:p>
        </p:txBody>
      </p:sp>
      <p:sp>
        <p:nvSpPr>
          <p:cNvPr id="79" name="Google Shape;79;p5"/>
          <p:cNvSpPr/>
          <p:nvPr/>
        </p:nvSpPr>
        <p:spPr>
          <a:xfrm>
            <a:off x="521208" y="3794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Do images and image-linked context add useful signal, or mainly increase visual hallucination risk?</a:t>
            </a:r>
          </a:p>
        </p:txBody>
      </p:sp>
      <p:sp>
        <p:nvSpPr>
          <p:cNvPr id="80" name="Google Shape;80;p5"/>
          <p:cNvSpPr/>
          <p:nvPr/>
        </p:nvSpPr>
        <p:spPr>
          <a:xfrm>
            <a:off x="4663440" y="301752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663440" y="3017520"/>
            <a:ext cx="109728" cy="173736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4864608" y="312724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2D82"/>
              </a:buClr>
              <a:buSzPts val="1400"/>
              <a:buFont typeface="Calibri"/>
              <a:buNone/>
            </a:pPr>
            <a:r>
              <a:rPr b="1" i="0" lang="en-US" sz="1400" u="none" cap="none" strike="noStrike">
                <a:solidFill>
                  <a:srgbClr val="5A2D82"/>
                </a:solidFill>
                <a:latin typeface="Calibri"/>
                <a:ea typeface="Calibri"/>
                <a:cs typeface="Calibri"/>
                <a:sym typeface="Calibri"/>
              </a:rPr>
              <a:t>RQ4</a:t>
            </a:r>
            <a:endParaRPr b="0" i="0" sz="1400" u="none" cap="none" strike="noStrike">
              <a:solidFill>
                <a:schemeClr val="dk1"/>
              </a:solidFill>
              <a:latin typeface="Calibri"/>
              <a:ea typeface="Calibri"/>
              <a:cs typeface="Calibri"/>
              <a:sym typeface="Calibri"/>
            </a:endParaRPr>
          </a:p>
        </p:txBody>
      </p:sp>
      <p:sp>
        <p:nvSpPr>
          <p:cNvPr id="83" name="Google Shape;83;p5"/>
          <p:cNvSpPr/>
          <p:nvPr/>
        </p:nvSpPr>
        <p:spPr>
          <a:xfrm>
            <a:off x="4864608" y="34472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Retrieval-Augmented Reasoning</a:t>
            </a:r>
          </a:p>
        </p:txBody>
      </p:sp>
      <p:sp>
        <p:nvSpPr>
          <p:cNvPr id="84" name="Google Shape;84;p5"/>
          <p:cNvSpPr/>
          <p:nvPr/>
        </p:nvSpPr>
        <p:spPr>
          <a:xfrm>
            <a:off x="4864608" y="3794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Does retrieving similar cases help generation compared with matched no-RAG conditions?</a:t>
            </a:r>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p:bg>
      <p:bgPr>
        <a:solidFill>
          <a:srgbClr val="FFFFFF"/>
        </a:solidFill>
      </p:bgPr>
    </p:bg>
    <p:spTree>
      <p:nvGrpSpPr>
        <p:cNvPr id="89" name="Shape 89"/>
        <p:cNvGrpSpPr/>
        <p:nvPr/>
      </p:nvGrpSpPr>
      <p:grpSpPr>
        <a:xfrm>
          <a:off x="0" y="0"/>
          <a:ext cx="0" cy="0"/>
          <a:chOff x="0" y="0"/>
          <a:chExt cx="0" cy="0"/>
        </a:xfrm>
      </p:grpSpPr>
      <p:sp>
        <p:nvSpPr>
          <p:cNvPr id="90" name="TextBox 89"/>
          <p:cNvSpPr txBox="1"/>
          <p:nvPr/>
        </p:nvSpPr>
        <p:spPr>
          <a:xfrm>
            <a:off x="438912" y="201168"/>
            <a:ext cx="7498079" cy="384048"/>
          </a:xfrm>
          <a:prstGeom prst="rect">
            <a:avLst/>
          </a:prstGeom>
          <a:noFill/>
        </p:spPr>
        <p:txBody>
          <a:bodyPr wrap="none">
            <a:spAutoFit/>
          </a:bodyPr>
          <a:lstStyle/>
          <a:p>
            <a:pPr algn="l"/>
            <a:r>
              <a:rPr sz="2500" b="1">
                <a:solidFill>
                  <a:srgbClr val="132A3A"/>
                </a:solidFill>
                <a:latin typeface="Aptos Display"/>
              </a:rPr>
              <a:t>Two-lane retrieval architecture</a:t>
            </a:r>
          </a:p>
        </p:txBody>
      </p:sp>
      <p:sp>
        <p:nvSpPr>
          <p:cNvPr id="91" name="TextBox 90"/>
          <p:cNvSpPr txBox="1"/>
          <p:nvPr/>
        </p:nvSpPr>
        <p:spPr>
          <a:xfrm>
            <a:off x="457200" y="576072"/>
            <a:ext cx="7680960" cy="219456"/>
          </a:xfrm>
          <a:prstGeom prst="rect">
            <a:avLst/>
          </a:prstGeom>
          <a:noFill/>
        </p:spPr>
        <p:txBody>
          <a:bodyPr wrap="none">
            <a:spAutoFit/>
          </a:bodyPr>
          <a:lstStyle/>
          <a:p>
            <a:pPr algn="l"/>
            <a:r>
              <a:rPr sz="1050" i="1">
                <a:solidFill>
                  <a:srgbClr val="566570"/>
                </a:solidFill>
                <a:latin typeface="Aptos"/>
              </a:rPr>
              <a:t>Text retrieval and image-linked retrieval are fused, gated, and audited before presentation.</a:t>
            </a:r>
          </a:p>
        </p:txBody>
      </p:sp>
      <p:sp>
        <p:nvSpPr>
          <p:cNvPr id="92" name="Rectangle 91"/>
          <p:cNvSpPr/>
          <p:nvPr/>
        </p:nvSpPr>
        <p:spPr>
          <a:xfrm>
            <a:off x="8650224" y="173736"/>
            <a:ext cx="301752" cy="301752"/>
          </a:xfrm>
          <a:prstGeom prst="rect">
            <a:avLst/>
          </a:prstGeom>
          <a:solidFill>
            <a:srgbClr val="00B9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132A3A"/>
                </a:solidFill>
                <a:latin typeface="Aptos"/>
              </a:rPr>
              <a:t>04</a:t>
            </a:r>
          </a:p>
        </p:txBody>
      </p:sp>
      <p:pic>
        <p:nvPicPr>
          <p:cNvPr id="93" name="Picture 92" descr="multimodal_rag_pipeline_icons_refined_capture.png"/>
          <p:cNvPicPr>
            <a:picLocks noChangeAspect="1"/>
          </p:cNvPicPr>
          <p:nvPr/>
        </p:nvPicPr>
        <p:blipFill>
          <a:blip ns2:embed="rId3"/>
          <a:stretch>
            <a:fillRect/>
          </a:stretch>
        </p:blipFill>
        <p:spPr>
          <a:xfrm>
            <a:off x="1893892" y="868680"/>
            <a:ext cx="5356214" cy="4114800"/>
          </a:xfrm>
          <a:prstGeom prst="rect">
            <a:avLst/>
          </a:prstGeom>
        </p:spPr>
      </p:pic>
      <p:sp>
        <p:nvSpPr>
          <p:cNvPr id="94" name="TextBox 93"/>
          <p:cNvSpPr txBox="1"/>
          <p:nvPr/>
        </p:nvSpPr>
        <p:spPr>
          <a:xfrm>
            <a:off x="457200" y="4956048"/>
            <a:ext cx="7772400" cy="128016"/>
          </a:xfrm>
          <a:prstGeom prst="rect">
            <a:avLst/>
          </a:prstGeom>
          <a:noFill/>
        </p:spPr>
        <p:txBody>
          <a:bodyPr wrap="none">
            <a:spAutoFit/>
          </a:bodyPr>
          <a:lstStyle/>
          <a:p>
            <a:r>
              <a:rPr sz="550">
                <a:solidFill>
                  <a:srgbClr val="7D8991"/>
                </a:solidFill>
                <a:latin typeface="Aptos"/>
              </a:rPr>
              <a:t>Architecture figure reused from the thesis pipeline diagram; the demo exposes retrieval, generation, uncertainty gate, and final route.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18" name="Shape 118"/>
        <p:cNvGrpSpPr/>
        <p:nvPr/>
      </p:nvGrpSpPr>
      <p:grpSpPr>
        <a:xfrm>
          <a:off x="0" y="0"/>
          <a:ext cx="0" cy="0"/>
          <a:chOff x="0" y="0"/>
          <a:chExt cx="0" cy="0"/>
        </a:xfrm>
      </p:grpSpPr>
      <p:sp>
        <p:nvSpPr>
          <p:cNvPr id="119" name="Google Shape;119;p7"/>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05</a:t>
            </a:r>
            <a:endParaRPr b="0" i="0" sz="800" u="none" cap="none" strike="noStrike">
              <a:solidFill>
                <a:schemeClr val="dk1"/>
              </a:solidFill>
              <a:latin typeface="Calibri"/>
              <a:ea typeface="Calibri"/>
              <a:cs typeface="Calibri"/>
              <a:sym typeface="Calibri"/>
            </a:endParaRPr>
          </a:p>
        </p:txBody>
      </p:sp>
      <p:sp>
        <p:nvSpPr>
          <p:cNvPr id="121" name="Google Shape;121;p7"/>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Main result: RAG effect is model-dependent</a:t>
            </a:r>
          </a:p>
        </p:txBody>
      </p:sp>
      <p:sp>
        <p:nvSpPr>
          <p:cNvPr id="122" name="Google Shape;122;p7"/>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Weak-reference, prompt-judged diagnosis accuracy on 56 held-out cases; x-axis = model family, y-axis = diagnosis accuracy (%).</a:t>
            </a:r>
          </a:p>
        </p:txBody>
      </p:sp>
      <p:pic>
        <p:nvPicPr>
          <p:cNvPr id="123" name="Google Shape;123;p7"/>
          <p:cNvPicPr preferRelativeResize="0"/>
          <p:nvPr/>
        </p:nvPicPr>
        <p:blipFill rotWithShape="1">
          <a:blip r:embed="rId3">
            <a:alphaModFix/>
          </a:blip>
          <a:srcRect b="0" l="0" r="0" t="0"/>
          <a:stretch/>
        </p:blipFill>
        <p:spPr>
          <a:xfrm>
            <a:off x="320040" y="914400"/>
            <a:ext cx="5303520" cy="3474720"/>
          </a:xfrm>
          <a:prstGeom prst="rect">
            <a:avLst/>
          </a:prstGeom>
          <a:noFill/>
          <a:ln>
            <a:noFill/>
          </a:ln>
        </p:spPr>
      </p:pic>
      <p:sp>
        <p:nvSpPr>
          <p:cNvPr id="124" name="Google Shape;124;p7"/>
          <p:cNvSpPr/>
          <p:nvPr/>
        </p:nvSpPr>
        <p:spPr>
          <a:xfrm>
            <a:off x="5806440" y="914400"/>
            <a:ext cx="3200400" cy="34747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943600" y="1005840"/>
            <a:ext cx="29260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Key deltas</a:t>
            </a:r>
          </a:p>
        </p:txBody>
      </p:sp>
      <p:sp>
        <p:nvSpPr>
          <p:cNvPr id="126" name="Google Shape;126;p7"/>
          <p:cNvSpPr/>
          <p:nvPr/>
        </p:nvSpPr>
        <p:spPr>
          <a:xfrm>
            <a:off x="5943600" y="1444752"/>
            <a:ext cx="2834640" cy="594360"/>
          </a:xfrm>
          <a:prstGeom prst="rect">
            <a:avLst/>
          </a:prstGeom>
          <a:solidFill>
            <a:srgbClr val="FE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6053328" y="1490472"/>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Gemini</a:t>
            </a:r>
          </a:p>
        </p:txBody>
      </p:sp>
      <p:sp>
        <p:nvSpPr>
          <p:cNvPr id="128" name="Google Shape;128;p7"/>
          <p:cNvSpPr/>
          <p:nvPr/>
        </p:nvSpPr>
        <p:spPr>
          <a:xfrm>
            <a:off x="7424928" y="1490472"/>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−11.2 pp</a:t>
            </a:r>
          </a:p>
        </p:txBody>
      </p:sp>
      <p:sp>
        <p:nvSpPr>
          <p:cNvPr id="129" name="Google Shape;129;p7"/>
          <p:cNvSpPr/>
          <p:nvPr/>
        </p:nvSpPr>
        <p:spPr>
          <a:xfrm>
            <a:off x="6053328" y="1764792"/>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statistically supported degradation</a:t>
            </a:r>
          </a:p>
        </p:txBody>
      </p:sp>
      <p:sp>
        <p:nvSpPr>
          <p:cNvPr id="130" name="Google Shape;130;p7"/>
          <p:cNvSpPr/>
          <p:nvPr/>
        </p:nvSpPr>
        <p:spPr>
          <a:xfrm>
            <a:off x="5943600" y="2157984"/>
            <a:ext cx="2834640" cy="594360"/>
          </a:xfrm>
          <a:prstGeom prst="rect">
            <a:avLst/>
          </a:prstGeom>
          <a:solidFill>
            <a:srgbClr val="FE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053328" y="2203704"/>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MedGemma</a:t>
            </a:r>
          </a:p>
        </p:txBody>
      </p:sp>
      <p:sp>
        <p:nvSpPr>
          <p:cNvPr id="132" name="Google Shape;132;p7"/>
          <p:cNvSpPr/>
          <p:nvPr/>
        </p:nvSpPr>
        <p:spPr>
          <a:xfrm>
            <a:off x="7424928" y="2203704"/>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−3.1 pp</a:t>
            </a:r>
          </a:p>
        </p:txBody>
      </p:sp>
      <p:sp>
        <p:nvSpPr>
          <p:cNvPr id="133" name="Google Shape;133;p7"/>
          <p:cNvSpPr/>
          <p:nvPr/>
        </p:nvSpPr>
        <p:spPr>
          <a:xfrm>
            <a:off x="6053328" y="2478024"/>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directional; not robust</a:t>
            </a:r>
          </a:p>
        </p:txBody>
      </p:sp>
      <p:sp>
        <p:nvSpPr>
          <p:cNvPr id="134" name="Google Shape;134;p7"/>
          <p:cNvSpPr/>
          <p:nvPr/>
        </p:nvSpPr>
        <p:spPr>
          <a:xfrm>
            <a:off x="5943600" y="2871216"/>
            <a:ext cx="2834640" cy="59436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6053328" y="291693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Gemma 4</a:t>
            </a:r>
          </a:p>
        </p:txBody>
      </p:sp>
      <p:sp>
        <p:nvSpPr>
          <p:cNvPr id="136" name="Google Shape;136;p7"/>
          <p:cNvSpPr/>
          <p:nvPr/>
        </p:nvSpPr>
        <p:spPr>
          <a:xfrm>
            <a:off x="7424928" y="2916936"/>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+6.7 pp</a:t>
            </a:r>
          </a:p>
        </p:txBody>
      </p:sp>
      <p:sp>
        <p:nvSpPr>
          <p:cNvPr id="137" name="Google Shape;137;p7"/>
          <p:cNvSpPr/>
          <p:nvPr/>
        </p:nvSpPr>
        <p:spPr>
          <a:xfrm>
            <a:off x="6053328" y="3191256"/>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directional; CI crosses 0</a:t>
            </a:r>
          </a:p>
        </p:txBody>
      </p:sp>
      <p:sp>
        <p:nvSpPr>
          <p:cNvPr id="138" name="Google Shape;138;p7"/>
          <p:cNvSpPr/>
          <p:nvPr/>
        </p:nvSpPr>
        <p:spPr>
          <a:xfrm>
            <a:off x="5943600" y="3584448"/>
            <a:ext cx="2834640" cy="59436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053328" y="363016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Gemma 4 + images</a:t>
            </a:r>
          </a:p>
        </p:txBody>
      </p:sp>
      <p:sp>
        <p:nvSpPr>
          <p:cNvPr id="140" name="Google Shape;140;p7"/>
          <p:cNvSpPr/>
          <p:nvPr/>
        </p:nvSpPr>
        <p:spPr>
          <a:xfrm>
            <a:off x="7424928" y="3630168"/>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+1.8 pp</a:t>
            </a:r>
          </a:p>
        </p:txBody>
      </p:sp>
      <p:sp>
        <p:nvSpPr>
          <p:cNvPr id="141" name="Google Shape;141;p7"/>
          <p:cNvSpPr/>
          <p:nvPr/>
        </p:nvSpPr>
        <p:spPr>
          <a:xfrm>
            <a:off x="6053328" y="3904488"/>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exploratory; hallucination risk ↑</a:t>
            </a:r>
          </a:p>
        </p:txBody>
      </p:sp>
      <p:sp>
        <p:nvSpPr>
          <p:cNvPr id="142" name="Google Shape;142;p7"/>
          <p:cNvSpPr/>
          <p:nvPr/>
        </p:nvSpPr>
        <p:spPr>
          <a:xfrm>
            <a:off x="320040" y="4572000"/>
            <a:ext cx="8595360" cy="411480"/>
          </a:xfrm>
          <a:prstGeom prst="rect">
            <a:avLst/>
          </a:prstGeom>
          <a:solidFill>
            <a:srgbClr val="FFFBEB"/>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502920" y="46177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400E"/>
              </a:buClr>
              <a:buSzPts val="950"/>
              <a:buFont typeface="Calibri"/>
              <a:buNone/>
            </a:pPr>
            <a:r>
              <a:rPr b="0" i="0" lang="en-US" sz="950" u="none" cap="none" strike="noStrike">
                <a:solidFill>
                  <a:srgbClr val="92400E"/>
                </a:solidFill>
                <a:latin typeface="Calibri"/>
                <a:ea typeface="Calibri"/>
                <a:cs typeface="Calibri"/>
                <a:sym typeface="Calibri"/>
              </a:rPr>
              <a:t>Chart: grouped bars compare matched no-RAG vs adaptive RAG for each model family. Retrieval is not uniformly beneficial.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48" name="Shape 148"/>
        <p:cNvGrpSpPr/>
        <p:nvPr/>
      </p:nvGrpSpPr>
      <p:grpSpPr>
        <a:xfrm>
          <a:off x="0" y="0"/>
          <a:ext cx="0" cy="0"/>
          <a:chOff x="0" y="0"/>
          <a:chExt cx="0" cy="0"/>
        </a:xfrm>
      </p:grpSpPr>
      <p:sp>
        <p:nvSpPr>
          <p:cNvPr id="149" name="Google Shape;149;p8"/>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06</a:t>
            </a:r>
            <a:endParaRPr b="0" i="0" sz="800" u="none" cap="none" strike="noStrike">
              <a:solidFill>
                <a:schemeClr val="dk1"/>
              </a:solidFill>
              <a:latin typeface="Calibri"/>
              <a:ea typeface="Calibri"/>
              <a:cs typeface="Calibri"/>
              <a:sym typeface="Calibri"/>
            </a:endParaRPr>
          </a:p>
        </p:txBody>
      </p:sp>
      <p:sp>
        <p:nvSpPr>
          <p:cNvPr id="151" name="Google Shape;151;p8"/>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Corpus imbalance explains the specificity risk</a:t>
            </a:r>
          </a:p>
        </p:txBody>
      </p:sp>
      <p:sp>
        <p:nvSpPr>
          <p:cNvPr id="152" name="Google Shape;152;p8"/>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Left chart: class mix by split. Right chart: leish-labelled share of retrieved support after clean-context audit.</a:t>
            </a:r>
          </a:p>
        </p:txBody>
      </p:sp>
      <p:sp>
        <p:nvSpPr>
          <p:cNvPr id="153" name="Google Shape;153;p8"/>
          <p:cNvSpPr/>
          <p:nvPr/>
        </p:nvSpPr>
        <p:spPr>
          <a:xfrm>
            <a:off x="365760" y="987552"/>
            <a:ext cx="41148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Retrieval corpus</a:t>
            </a:r>
          </a:p>
        </p:txBody>
      </p:sp>
      <p:pic>
        <p:nvPicPr>
          <p:cNvPr id="154" name="Google Shape;154;p8"/>
          <p:cNvPicPr preferRelativeResize="0"/>
          <p:nvPr/>
        </p:nvPicPr>
        <p:blipFill rotWithShape="1">
          <a:blip r:embed="rId3">
            <a:alphaModFix/>
          </a:blip>
          <a:srcRect b="0" l="0" r="0" t="0"/>
          <a:stretch/>
        </p:blipFill>
        <p:spPr>
          <a:xfrm>
            <a:off x="320040" y="1298448"/>
            <a:ext cx="4206240" cy="3108960"/>
          </a:xfrm>
          <a:prstGeom prst="rect">
            <a:avLst/>
          </a:prstGeom>
          <a:noFill/>
          <a:ln>
            <a:noFill/>
          </a:ln>
        </p:spPr>
      </p:pic>
      <p:sp>
        <p:nvSpPr>
          <p:cNvPr id="155" name="Google Shape;155;p8"/>
          <p:cNvSpPr/>
          <p:nvPr/>
        </p:nvSpPr>
        <p:spPr>
          <a:xfrm>
            <a:off x="4663440" y="987552"/>
            <a:ext cx="42062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2D82"/>
              </a:buClr>
              <a:buSzPts val="1200"/>
              <a:buFont typeface="Calibri"/>
              <a:buNone/>
            </a:pPr>
            <a:r>
              <a:rPr b="1" i="0" lang="en-US" sz="1200" u="none" cap="none" strike="noStrike">
                <a:solidFill>
                  <a:srgbClr val="5A2D82"/>
                </a:solidFill>
                <a:latin typeface="Calibri"/>
                <a:ea typeface="Calibri"/>
                <a:cs typeface="Calibri"/>
                <a:sym typeface="Calibri"/>
              </a:rPr>
              <a:t>Held-out / support audit</a:t>
            </a:r>
          </a:p>
        </p:txBody>
      </p:sp>
      <p:pic>
        <p:nvPicPr>
          <p:cNvPr id="156" name="Google Shape;156;p8"/>
          <p:cNvPicPr preferRelativeResize="0"/>
          <p:nvPr/>
        </p:nvPicPr>
        <p:blipFill rotWithShape="1">
          <a:blip r:embed="rId4">
            <a:alphaModFix/>
          </a:blip>
          <a:srcRect b="0" l="0" r="0" t="0"/>
          <a:stretch/>
        </p:blipFill>
        <p:spPr>
          <a:xfrm>
            <a:off x="4617720" y="1298448"/>
            <a:ext cx="4206240" cy="3108960"/>
          </a:xfrm>
          <a:prstGeom prst="rect">
            <a:avLst/>
          </a:prstGeom>
          <a:noFill/>
          <a:ln>
            <a:noFill/>
          </a:ln>
        </p:spPr>
      </p:pic>
      <p:sp>
        <p:nvSpPr>
          <p:cNvPr id="157" name="Google Shape;157;p8"/>
          <p:cNvSpPr/>
          <p:nvPr/>
        </p:nvSpPr>
        <p:spPr>
          <a:xfrm>
            <a:off x="320040" y="4553712"/>
            <a:ext cx="8595360" cy="438912"/>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502920" y="46177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00"/>
              <a:buFont typeface="Calibri"/>
              <a:buNone/>
            </a:pPr>
            <a:r>
              <a:rPr b="0" i="0" lang="en-US" sz="900" u="none" cap="none" strike="noStrike">
                <a:solidFill>
                  <a:srgbClr val="12263A"/>
                </a:solidFill>
                <a:latin typeface="Calibri"/>
                <a:ea typeface="Calibri"/>
                <a:cs typeface="Calibri"/>
                <a:sym typeface="Calibri"/>
              </a:rPr>
              <a:t>Key finding: the corpus is 106/121 leish cases while the held-out set is majority non-leish. Non-leish queries still receive mostly leish-labelled top-10 support, so RAG can over-support leishmaniasis mimics.</a:t>
            </a:r>
          </a:p>
        </p:txBody>
      </p:sp>
    </p:spTree>
  </p:cSld>
  <p:clrMapOvr>
    <a:masterClrMapping/>
  </p:clrMapOvr>
</p:sld>
</file>

<file path=ppt/slides/slide7.xml><?xml version="1.0" encoding="utf-8"?>
<p:sld xmlns:a="http://schemas.openxmlformats.org/drawingml/2006/main" xmlns:p="http://schemas.openxmlformats.org/presentationml/2006/main">
  <p:cSld>
    <p:bg>
      <p:bgPr>
        <a:solidFill>
          <a:srgbClr val="FFFFFF"/>
        </a:solidFill>
      </p:bgPr>
    </p:bg>
    <p:spTree>
      <p:nvGrpSpPr>
        <p:cNvPr id="163" name="Shape 163"/>
        <p:cNvGrpSpPr/>
        <p:nvPr/>
      </p:nvGrpSpPr>
      <p:grpSpPr>
        <a:xfrm>
          <a:off x="0" y="0"/>
          <a:ext cx="0" cy="0"/>
          <a:chOff x="0" y="0"/>
          <a:chExt cx="0" cy="0"/>
        </a:xfrm>
      </p:grpSpPr>
      <p:sp>
        <p:nvSpPr>
          <p:cNvPr id="164" name="Google Shape;164;p9"/>
          <p:cNvSpPr/>
          <p:nvPr/>
        </p:nvSpPr>
        <p:spPr>
          <a:xfrm>
            <a:off x="8595360" y="91440"/>
            <a:ext cx="365760" cy="27432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2263A"/>
              </a:buClr>
              <a:buSzPts val="800"/>
              <a:buFont typeface="Calibri"/>
              <a:buNone/>
              <a:defRPr>
                <a:solidFill>
                  <a:srgbClr val="12263A"/>
                </a:solidFill>
              </a:defRPr>
            </a:pPr>
            <a:r>
              <a:rPr b="0" i="0" lang="en-US" sz="800" u="none" cap="none" strike="noStrike">
                <a:solidFill>
                  <a:srgbClr val="12263A"/>
                </a:solidFill>
                <a:latin typeface="Calibri"/>
                <a:ea typeface="Calibri"/>
                <a:cs typeface="Calibri"/>
                <a:sym typeface="Calibri"/>
              </a:rPr>
              <a:t>07</a:t>
            </a:r>
            <a:endParaRPr b="0" i="0" sz="800" u="none" cap="none" strike="noStrike">
              <a:solidFill>
                <a:schemeClr val="dk1"/>
              </a:solidFill>
              <a:latin typeface="Calibri"/>
              <a:ea typeface="Calibri"/>
              <a:cs typeface="Calibri"/>
              <a:sym typeface="Calibri"/>
            </a:endParaRPr>
          </a:p>
        </p:txBody>
      </p:sp>
      <p:sp>
        <p:nvSpPr>
          <p:cNvPr id="166" name="Google Shape;166;p9"/>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defRPr>
                <a:solidFill>
                  <a:srgbClr val="12263A"/>
                </a:solidFill>
              </a:defRPr>
            </a:pPr>
            <a:r>
              <a:rPr b="1" i="0" lang="en-US" sz="2400" u="none" cap="none" strike="noStrike">
                <a:solidFill>
                  <a:srgbClr val="12263A"/>
                </a:solidFill>
                <a:latin typeface="Calibri"/>
                <a:ea typeface="Calibri"/>
                <a:cs typeface="Calibri"/>
                <a:sym typeface="Calibri"/>
              </a:rPr>
              <a:t>Retriever quality sets the ceiling</a:t>
            </a:r>
          </a:p>
        </p:txBody>
      </p:sp>
      <p:sp>
        <p:nvSpPr>
          <p:cNvPr id="167" name="Google Shape;167;p9"/>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1100"/>
              <a:buFont typeface="Calibri"/>
              <a:buNone/>
              <a:defRPr>
                <a:solidFill>
                  <a:srgbClr val="556978"/>
                </a:solidFill>
              </a:defRPr>
            </a:pPr>
            <a:r>
              <a:rPr b="0" i="1" lang="en-US" sz="1100" u="none" cap="none" strike="noStrike">
                <a:solidFill>
                  <a:srgbClr val="556978"/>
                </a:solidFill>
                <a:latin typeface="Calibri"/>
                <a:ea typeface="Calibri"/>
                <a:cs typeface="Calibri"/>
                <a:sym typeface="Calibri"/>
              </a:rPr>
              <a:t>Classic retrieval metrics on 23 held-out queries with qrels; 121-case corpus with 104-doc qrels coverage.</a:t>
            </a:r>
          </a:p>
        </p:txBody>
      </p:sp>
      <p:sp>
        <p:nvSpPr>
          <p:cNvPr id="168" name="Google Shape;168;p9"/>
          <p:cNvSpPr/>
          <p:nvPr/>
        </p:nvSpPr>
        <p:spPr>
          <a:xfrm>
            <a:off x="32004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32004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58.3%</a:t>
            </a:r>
            <a:endParaRPr b="0" i="0" sz="4000" u="none" cap="none" strike="noStrike">
              <a:solidFill>
                <a:schemeClr val="dk1"/>
              </a:solidFill>
              <a:latin typeface="Calibri"/>
              <a:ea typeface="Calibri"/>
              <a:cs typeface="Calibri"/>
              <a:sym typeface="Calibri"/>
            </a:endParaRPr>
          </a:p>
        </p:txBody>
      </p:sp>
      <p:sp>
        <p:nvSpPr>
          <p:cNvPr id="170" name="Google Shape;170;p9"/>
          <p:cNvSpPr/>
          <p:nvPr/>
        </p:nvSpPr>
        <p:spPr>
          <a:xfrm>
            <a:off x="32004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P@5</a:t>
            </a:r>
            <a:endParaRPr b="0" i="0" sz="1300" u="none" cap="none" strike="noStrike">
              <a:solidFill>
                <a:schemeClr val="dk1"/>
              </a:solidFill>
              <a:latin typeface="Calibri"/>
              <a:ea typeface="Calibri"/>
              <a:cs typeface="Calibri"/>
              <a:sym typeface="Calibri"/>
            </a:endParaRPr>
          </a:p>
        </p:txBody>
      </p:sp>
      <p:sp>
        <p:nvSpPr>
          <p:cNvPr id="171" name="Google Shape;171;p9"/>
          <p:cNvSpPr/>
          <p:nvPr/>
        </p:nvSpPr>
        <p:spPr>
          <a:xfrm>
            <a:off x="32004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Top-5 precision</a:t>
            </a:r>
            <a:endParaRPr b="0" i="0" sz="900" u="none" cap="none" strike="noStrike">
              <a:solidFill>
                <a:schemeClr val="dk1"/>
              </a:solidFill>
              <a:latin typeface="Calibri"/>
              <a:ea typeface="Calibri"/>
              <a:cs typeface="Calibri"/>
              <a:sym typeface="Calibri"/>
            </a:endParaRPr>
          </a:p>
        </p:txBody>
      </p:sp>
      <p:sp>
        <p:nvSpPr>
          <p:cNvPr id="172" name="Google Shape;172;p9"/>
          <p:cNvSpPr/>
          <p:nvPr/>
        </p:nvSpPr>
        <p:spPr>
          <a:xfrm>
            <a:off x="324612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324612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59.5%</a:t>
            </a:r>
            <a:endParaRPr b="0" i="0" sz="4000" u="none" cap="none" strike="noStrike">
              <a:solidFill>
                <a:schemeClr val="dk1"/>
              </a:solidFill>
              <a:latin typeface="Calibri"/>
              <a:ea typeface="Calibri"/>
              <a:cs typeface="Calibri"/>
              <a:sym typeface="Calibri"/>
            </a:endParaRPr>
          </a:p>
        </p:txBody>
      </p:sp>
      <p:sp>
        <p:nvSpPr>
          <p:cNvPr id="174" name="Google Shape;174;p9"/>
          <p:cNvSpPr/>
          <p:nvPr/>
        </p:nvSpPr>
        <p:spPr>
          <a:xfrm>
            <a:off x="324612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nDCG@5</a:t>
            </a:r>
            <a:endParaRPr b="0" i="0" sz="1300" u="none" cap="none" strike="noStrike">
              <a:solidFill>
                <a:schemeClr val="dk1"/>
              </a:solidFill>
              <a:latin typeface="Calibri"/>
              <a:ea typeface="Calibri"/>
              <a:cs typeface="Calibri"/>
              <a:sym typeface="Calibri"/>
            </a:endParaRPr>
          </a:p>
        </p:txBody>
      </p:sp>
      <p:sp>
        <p:nvSpPr>
          <p:cNvPr id="175" name="Google Shape;175;p9"/>
          <p:cNvSpPr/>
          <p:nvPr/>
        </p:nvSpPr>
        <p:spPr>
          <a:xfrm>
            <a:off x="324612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Ranking quality @5</a:t>
            </a:r>
            <a:endParaRPr b="0" i="0" sz="900" u="none" cap="none" strike="noStrike">
              <a:solidFill>
                <a:schemeClr val="dk1"/>
              </a:solidFill>
              <a:latin typeface="Calibri"/>
              <a:ea typeface="Calibri"/>
              <a:cs typeface="Calibri"/>
              <a:sym typeface="Calibri"/>
            </a:endParaRPr>
          </a:p>
        </p:txBody>
      </p:sp>
      <p:sp>
        <p:nvSpPr>
          <p:cNvPr id="176" name="Google Shape;176;p9"/>
          <p:cNvSpPr/>
          <p:nvPr/>
        </p:nvSpPr>
        <p:spPr>
          <a:xfrm>
            <a:off x="617220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617220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71.5%</a:t>
            </a:r>
            <a:endParaRPr b="0" i="0" sz="4000" u="none" cap="none" strike="noStrike">
              <a:solidFill>
                <a:schemeClr val="dk1"/>
              </a:solidFill>
              <a:latin typeface="Calibri"/>
              <a:ea typeface="Calibri"/>
              <a:cs typeface="Calibri"/>
              <a:sym typeface="Calibri"/>
            </a:endParaRPr>
          </a:p>
        </p:txBody>
      </p:sp>
      <p:sp>
        <p:nvSpPr>
          <p:cNvPr id="178" name="Google Shape;178;p9"/>
          <p:cNvSpPr/>
          <p:nvPr/>
        </p:nvSpPr>
        <p:spPr>
          <a:xfrm>
            <a:off x="617220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MRR</a:t>
            </a:r>
            <a:endParaRPr b="0" i="0" sz="1300" u="none" cap="none" strike="noStrike">
              <a:solidFill>
                <a:schemeClr val="dk1"/>
              </a:solidFill>
              <a:latin typeface="Calibri"/>
              <a:ea typeface="Calibri"/>
              <a:cs typeface="Calibri"/>
              <a:sym typeface="Calibri"/>
            </a:endParaRPr>
          </a:p>
        </p:txBody>
      </p:sp>
      <p:sp>
        <p:nvSpPr>
          <p:cNvPr id="179" name="Google Shape;179;p9"/>
          <p:cNvSpPr/>
          <p:nvPr/>
        </p:nvSpPr>
        <p:spPr>
          <a:xfrm>
            <a:off x="617220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First relevant hit</a:t>
            </a:r>
            <a:endParaRPr b="0" i="0" sz="900" u="none" cap="none" strike="noStrike">
              <a:solidFill>
                <a:schemeClr val="dk1"/>
              </a:solidFill>
              <a:latin typeface="Calibri"/>
              <a:ea typeface="Calibri"/>
              <a:cs typeface="Calibri"/>
              <a:sym typeface="Calibri"/>
            </a:endParaRPr>
          </a:p>
        </p:txBody>
      </p:sp>
      <p:sp>
        <p:nvSpPr>
          <p:cNvPr id="180" name="Google Shape;180;p9"/>
          <p:cNvSpPr/>
          <p:nvPr/>
        </p:nvSpPr>
        <p:spPr>
          <a:xfrm>
            <a:off x="32004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32004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13.5%</a:t>
            </a:r>
            <a:endParaRPr b="0" i="0" sz="4000" u="none" cap="none" strike="noStrike">
              <a:solidFill>
                <a:schemeClr val="dk1"/>
              </a:solidFill>
              <a:latin typeface="Calibri"/>
              <a:ea typeface="Calibri"/>
              <a:cs typeface="Calibri"/>
              <a:sym typeface="Calibri"/>
            </a:endParaRPr>
          </a:p>
        </p:txBody>
      </p:sp>
      <p:sp>
        <p:nvSpPr>
          <p:cNvPr id="182" name="Google Shape;182;p9"/>
          <p:cNvSpPr/>
          <p:nvPr/>
        </p:nvSpPr>
        <p:spPr>
          <a:xfrm>
            <a:off x="32004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Recall@5</a:t>
            </a:r>
            <a:endParaRPr b="0" i="0" sz="1300" u="none" cap="none" strike="noStrike">
              <a:solidFill>
                <a:schemeClr val="dk1"/>
              </a:solidFill>
              <a:latin typeface="Calibri"/>
              <a:ea typeface="Calibri"/>
              <a:cs typeface="Calibri"/>
              <a:sym typeface="Calibri"/>
            </a:endParaRPr>
          </a:p>
        </p:txBody>
      </p:sp>
      <p:sp>
        <p:nvSpPr>
          <p:cNvPr id="183" name="Google Shape;183;p9"/>
          <p:cNvSpPr/>
          <p:nvPr/>
        </p:nvSpPr>
        <p:spPr>
          <a:xfrm>
            <a:off x="32004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Coverage in top 5</a:t>
            </a:r>
            <a:endParaRPr b="0" i="0" sz="900" u="none" cap="none" strike="noStrike">
              <a:solidFill>
                <a:schemeClr val="dk1"/>
              </a:solidFill>
              <a:latin typeface="Calibri"/>
              <a:ea typeface="Calibri"/>
              <a:cs typeface="Calibri"/>
              <a:sym typeface="Calibri"/>
            </a:endParaRPr>
          </a:p>
        </p:txBody>
      </p:sp>
      <p:sp>
        <p:nvSpPr>
          <p:cNvPr id="184" name="Google Shape;184;p9"/>
          <p:cNvSpPr/>
          <p:nvPr/>
        </p:nvSpPr>
        <p:spPr>
          <a:xfrm>
            <a:off x="324612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324612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23.4%</a:t>
            </a:r>
            <a:endParaRPr b="0" i="0" sz="4000" u="none" cap="none" strike="noStrike">
              <a:solidFill>
                <a:schemeClr val="dk1"/>
              </a:solidFill>
              <a:latin typeface="Calibri"/>
              <a:ea typeface="Calibri"/>
              <a:cs typeface="Calibri"/>
              <a:sym typeface="Calibri"/>
            </a:endParaRPr>
          </a:p>
        </p:txBody>
      </p:sp>
      <p:sp>
        <p:nvSpPr>
          <p:cNvPr id="186" name="Google Shape;186;p9"/>
          <p:cNvSpPr/>
          <p:nvPr/>
        </p:nvSpPr>
        <p:spPr>
          <a:xfrm>
            <a:off x="324612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Recall@10</a:t>
            </a:r>
            <a:endParaRPr b="0" i="0" sz="1300" u="none" cap="none" strike="noStrike">
              <a:solidFill>
                <a:schemeClr val="dk1"/>
              </a:solidFill>
              <a:latin typeface="Calibri"/>
              <a:ea typeface="Calibri"/>
              <a:cs typeface="Calibri"/>
              <a:sym typeface="Calibri"/>
            </a:endParaRPr>
          </a:p>
        </p:txBody>
      </p:sp>
      <p:sp>
        <p:nvSpPr>
          <p:cNvPr id="187" name="Google Shape;187;p9"/>
          <p:cNvSpPr/>
          <p:nvPr/>
        </p:nvSpPr>
        <p:spPr>
          <a:xfrm>
            <a:off x="324612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Coverage in top 10</a:t>
            </a:r>
            <a:endParaRPr b="0" i="0" sz="900" u="none" cap="none" strike="noStrike">
              <a:solidFill>
                <a:schemeClr val="dk1"/>
              </a:solidFill>
              <a:latin typeface="Calibri"/>
              <a:ea typeface="Calibri"/>
              <a:cs typeface="Calibri"/>
              <a:sym typeface="Calibri"/>
            </a:endParaRPr>
          </a:p>
        </p:txBody>
      </p:sp>
      <p:sp>
        <p:nvSpPr>
          <p:cNvPr id="188" name="Google Shape;188;p9"/>
          <p:cNvSpPr/>
          <p:nvPr/>
        </p:nvSpPr>
        <p:spPr>
          <a:xfrm>
            <a:off x="617220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617220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26.1%</a:t>
            </a:r>
            <a:endParaRPr b="0" i="0" sz="4000" u="none" cap="none" strike="noStrike">
              <a:solidFill>
                <a:schemeClr val="dk1"/>
              </a:solidFill>
              <a:latin typeface="Calibri"/>
              <a:ea typeface="Calibri"/>
              <a:cs typeface="Calibri"/>
              <a:sym typeface="Calibri"/>
            </a:endParaRPr>
          </a:p>
        </p:txBody>
      </p:sp>
      <p:sp>
        <p:nvSpPr>
          <p:cNvPr id="190" name="Google Shape;190;p9"/>
          <p:cNvSpPr/>
          <p:nvPr/>
        </p:nvSpPr>
        <p:spPr>
          <a:xfrm>
            <a:off x="617220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MAP</a:t>
            </a:r>
            <a:endParaRPr b="0" i="0" sz="1300" u="none" cap="none" strike="noStrike">
              <a:solidFill>
                <a:schemeClr val="dk1"/>
              </a:solidFill>
              <a:latin typeface="Calibri"/>
              <a:ea typeface="Calibri"/>
              <a:cs typeface="Calibri"/>
              <a:sym typeface="Calibri"/>
            </a:endParaRPr>
          </a:p>
        </p:txBody>
      </p:sp>
      <p:sp>
        <p:nvSpPr>
          <p:cNvPr id="191" name="Google Shape;191;p9"/>
          <p:cNvSpPr/>
          <p:nvPr/>
        </p:nvSpPr>
        <p:spPr>
          <a:xfrm>
            <a:off x="617220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Overall ranking</a:t>
            </a:r>
            <a:endParaRPr b="0" i="0" sz="900" u="none" cap="none" strike="noStrike">
              <a:solidFill>
                <a:schemeClr val="dk1"/>
              </a:solidFill>
              <a:latin typeface="Calibri"/>
              <a:ea typeface="Calibri"/>
              <a:cs typeface="Calibri"/>
              <a:sym typeface="Calibri"/>
            </a:endParaRPr>
          </a:p>
        </p:txBody>
      </p:sp>
      <p:sp>
        <p:nvSpPr>
          <p:cNvPr id="192" name="Google Shape;192;p9"/>
          <p:cNvSpPr/>
          <p:nvPr/>
        </p:nvSpPr>
        <p:spPr>
          <a:xfrm>
            <a:off x="320040" y="4663440"/>
            <a:ext cx="8595360" cy="365760"/>
          </a:xfrm>
          <a:prstGeom prst="rect">
            <a:avLst/>
          </a:prstGeom>
          <a:solidFill>
            <a:srgbClr val="EBF8F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502920" y="4718304"/>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900"/>
              <a:buFont typeface="Calibri"/>
              <a:buNone/>
              <a:defRPr>
                <a:solidFill>
                  <a:srgbClr val="2A3746"/>
                </a:solidFill>
              </a:defRPr>
            </a:pPr>
            <a:r>
              <a:rPr b="0" i="0" lang="en-US" sz="900" u="none" cap="none" strike="noStrike">
                <a:solidFill>
                  <a:srgbClr val="2A3746"/>
                </a:solidFill>
                <a:latin typeface="Calibri"/>
                <a:ea typeface="Calibri"/>
                <a:cs typeface="Calibri"/>
                <a:sym typeface="Calibri"/>
              </a:rPr>
              <a:t>Top-rank precision and first-hit quality support explanations, but low recall means relevant cases often fall outside the prompt context window.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98" name="Shape 198"/>
        <p:cNvGrpSpPr/>
        <p:nvPr/>
      </p:nvGrpSpPr>
      <p:grpSpPr>
        <a:xfrm>
          <a:off x="0" y="0"/>
          <a:ext cx="0" cy="0"/>
          <a:chOff x="0" y="0"/>
          <a:chExt cx="0" cy="0"/>
        </a:xfrm>
      </p:grpSpPr>
      <p:sp>
        <p:nvSpPr>
          <p:cNvPr id="199" name="Google Shape;199;p10"/>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08</a:t>
            </a:r>
            <a:endParaRPr b="0" i="0" sz="800" u="none" cap="none" strike="noStrike">
              <a:solidFill>
                <a:schemeClr val="dk1"/>
              </a:solidFill>
              <a:latin typeface="Calibri"/>
              <a:ea typeface="Calibri"/>
              <a:cs typeface="Calibri"/>
              <a:sym typeface="Calibri"/>
            </a:endParaRPr>
          </a:p>
        </p:txBody>
      </p:sp>
      <p:sp>
        <p:nvSpPr>
          <p:cNvPr id="201" name="Google Shape;201;p10"/>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Image evidence: useful but risky</a:t>
            </a:r>
          </a:p>
        </p:txBody>
      </p:sp>
      <p:sp>
        <p:nvSpPr>
          <p:cNvPr id="202" name="Google Shape;202;p10"/>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Chart axes now show model family (x-axis) and unsupported visual claims as a percentage (y-axis).</a:t>
            </a:r>
          </a:p>
        </p:txBody>
      </p:sp>
      <p:pic>
        <p:nvPicPr>
          <p:cNvPr id="203" name="Google Shape;203;p10"/>
          <p:cNvPicPr preferRelativeResize="0"/>
          <p:nvPr/>
        </p:nvPicPr>
        <p:blipFill rotWithShape="1">
          <a:blip r:embed="rId3">
            <a:alphaModFix/>
          </a:blip>
          <a:srcRect b="0" l="0" r="0" t="0"/>
          <a:stretch/>
        </p:blipFill>
        <p:spPr>
          <a:xfrm>
            <a:off x="320040" y="914400"/>
            <a:ext cx="5029200" cy="3474720"/>
          </a:xfrm>
          <a:prstGeom prst="rect">
            <a:avLst/>
          </a:prstGeom>
          <a:noFill/>
          <a:ln>
            <a:noFill/>
          </a:ln>
        </p:spPr>
      </p:pic>
      <p:sp>
        <p:nvSpPr>
          <p:cNvPr id="204" name="Google Shape;204;p10"/>
          <p:cNvSpPr/>
          <p:nvPr/>
        </p:nvSpPr>
        <p:spPr>
          <a:xfrm>
            <a:off x="5577840" y="914400"/>
            <a:ext cx="3383280" cy="34747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5715000" y="1005840"/>
            <a:ext cx="3108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Image-evidence findings</a:t>
            </a:r>
          </a:p>
        </p:txBody>
      </p:sp>
      <p:sp>
        <p:nvSpPr>
          <p:cNvPr id="206" name="Google Shape;206;p10"/>
          <p:cNvSpPr/>
          <p:nvPr/>
        </p:nvSpPr>
        <p:spPr>
          <a:xfrm>
            <a:off x="5715000" y="1417320"/>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5779008" y="1463040"/>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08" name="Google Shape;208;p10"/>
          <p:cNvSpPr/>
          <p:nvPr/>
        </p:nvSpPr>
        <p:spPr>
          <a:xfrm>
            <a:off x="6080760" y="1472184"/>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Images are context, not ground truth: captions, article text, and lab evidence still carry the diagnosis.</a:t>
            </a:r>
          </a:p>
        </p:txBody>
      </p:sp>
      <p:sp>
        <p:nvSpPr>
          <p:cNvPr id="209" name="Google Shape;209;p10"/>
          <p:cNvSpPr/>
          <p:nvPr/>
        </p:nvSpPr>
        <p:spPr>
          <a:xfrm>
            <a:off x="5715000" y="1984248"/>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5779008" y="2029968"/>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1" name="Google Shape;211;p10"/>
          <p:cNvSpPr/>
          <p:nvPr/>
        </p:nvSpPr>
        <p:spPr>
          <a:xfrm>
            <a:off x="6080760" y="2039112"/>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PMC3140149 is a support/retrieval example, not a direct official test query.</a:t>
            </a:r>
          </a:p>
        </p:txBody>
      </p:sp>
      <p:sp>
        <p:nvSpPr>
          <p:cNvPr id="212" name="Google Shape;212;p10"/>
          <p:cNvSpPr/>
          <p:nvPr/>
        </p:nvSpPr>
        <p:spPr>
          <a:xfrm>
            <a:off x="5715000" y="2551176"/>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5779008" y="2596896"/>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4" name="Google Shape;214;p10"/>
          <p:cNvSpPr/>
          <p:nvPr/>
        </p:nvSpPr>
        <p:spPr>
          <a:xfrm>
            <a:off x="6080760" y="26060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Gemma 4 support-image follow-up was directionally stronger than standard RAG, but the safety cost is visible in the red bar.</a:t>
            </a:r>
          </a:p>
        </p:txBody>
      </p:sp>
      <p:sp>
        <p:nvSpPr>
          <p:cNvPr id="215" name="Google Shape;215;p10"/>
          <p:cNvSpPr/>
          <p:nvPr/>
        </p:nvSpPr>
        <p:spPr>
          <a:xfrm>
            <a:off x="5715000" y="3118104"/>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5779008" y="3163824"/>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7" name="Google Shape;217;p10"/>
          <p:cNvSpPr/>
          <p:nvPr/>
        </p:nvSpPr>
        <p:spPr>
          <a:xfrm>
            <a:off x="6080760" y="3172968"/>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Unsupported visual claims rose from 3.4% to 7.9% for the Gemma4 support-image follow-up.</a:t>
            </a:r>
          </a:p>
        </p:txBody>
      </p:sp>
      <p:sp>
        <p:nvSpPr>
          <p:cNvPr id="218" name="Google Shape;218;p10"/>
          <p:cNvSpPr/>
          <p:nvPr/>
        </p:nvSpPr>
        <p:spPr>
          <a:xfrm>
            <a:off x="5715000" y="3685032"/>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5779008" y="3730752"/>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20" name="Google Shape;220;p10"/>
          <p:cNvSpPr/>
          <p:nvPr/>
        </p:nvSpPr>
        <p:spPr>
          <a:xfrm>
            <a:off x="6080760" y="3739896"/>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Adding images does not automatically improve diagnosis across models.</a:t>
            </a:r>
          </a:p>
        </p:txBody>
      </p:sp>
      <p:sp>
        <p:nvSpPr>
          <p:cNvPr id="221" name="Google Shape;221;p10"/>
          <p:cNvSpPr/>
          <p:nvPr/>
        </p:nvSpPr>
        <p:spPr>
          <a:xfrm>
            <a:off x="320040" y="4572000"/>
            <a:ext cx="8595360" cy="411480"/>
          </a:xfrm>
          <a:prstGeom prst="rect">
            <a:avLst/>
          </a:prstGeom>
          <a:solidFill>
            <a:srgbClr val="FEF2F2"/>
          </a:solidFill>
          <a:ln cap="flat" cmpd="sng" w="9525">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502920" y="4636008"/>
            <a:ext cx="8229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Visual hallucination = judge-detected unsupported visual/pathology claims. This is not expert adjudication, so the safe demo shows provenance and gate decisions.</a:t>
            </a:r>
          </a:p>
        </p:txBody>
      </p:sp>
    </p:spTree>
  </p:cSld>
  <p:clrMapOvr>
    <a:masterClrMapping/>
  </p:clrMapOvr>
</p:sld>
</file>

<file path=ppt/slides/slide9.xml><?xml version="1.0" encoding="utf-8"?>
<p:sld xmlns:a="http://schemas.openxmlformats.org/drawingml/2006/main" xmlns:p="http://schemas.openxmlformats.org/presentationml/2006/main">
  <p:cSld>
    <p:bg>
      <p:bgPr>
        <a:solidFill>
          <a:srgbClr val="FFFFFF"/>
        </a:solidFill>
      </p:bgPr>
    </p:bg>
    <p:spTree>
      <p:nvGrpSpPr>
        <p:cNvPr id="227" name="Shape 227"/>
        <p:cNvGrpSpPr/>
        <p:nvPr/>
      </p:nvGrpSpPr>
      <p:grpSpPr>
        <a:xfrm>
          <a:off x="0" y="0"/>
          <a:ext cx="0" cy="0"/>
          <a:chOff x="0" y="0"/>
          <a:chExt cx="0" cy="0"/>
        </a:xfrm>
      </p:grpSpPr>
      <p:sp>
        <p:nvSpPr>
          <p:cNvPr id="228" name="Google Shape;228;p11"/>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09</a:t>
            </a:r>
            <a:endParaRPr b="0" i="0" sz="800" u="none" cap="none" strike="noStrike">
              <a:solidFill>
                <a:schemeClr val="dk1"/>
              </a:solidFill>
              <a:latin typeface="Calibri"/>
              <a:ea typeface="Calibri"/>
              <a:cs typeface="Calibri"/>
              <a:sym typeface="Calibri"/>
            </a:endParaRPr>
          </a:p>
        </p:txBody>
      </p:sp>
      <p:sp>
        <p:nvSpPr>
          <p:cNvPr id="230" name="Google Shape;230;p11"/>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Small-model practicality for a live defense</a:t>
            </a:r>
          </a:p>
        </p:txBody>
      </p:sp>
      <p:sp>
        <p:nvSpPr>
          <p:cNvPr id="231" name="Google Shape;231;p11"/>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Single 24 GB GPU local models vs. Gemini API: latency, memory, auditability, and demo reliability.</a:t>
            </a:r>
          </a:p>
        </p:txBody>
      </p:sp>
      <p:sp>
        <p:nvSpPr>
          <p:cNvPr id="232" name="Google Shape;232;p11"/>
          <p:cNvSpPr/>
          <p:nvPr/>
        </p:nvSpPr>
        <p:spPr>
          <a:xfrm>
            <a:off x="320040"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320040" y="1005840"/>
            <a:ext cx="283464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411480"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Gemini 2.5 Flash Lite</a:t>
            </a:r>
          </a:p>
        </p:txBody>
      </p:sp>
      <p:sp>
        <p:nvSpPr>
          <p:cNvPr id="235" name="Google Shape;235;p11"/>
          <p:cNvSpPr/>
          <p:nvPr/>
        </p:nvSpPr>
        <p:spPr>
          <a:xfrm>
            <a:off x="411480"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API · external</a:t>
            </a:r>
          </a:p>
        </p:txBody>
      </p:sp>
      <p:sp>
        <p:nvSpPr>
          <p:cNvPr id="236" name="Google Shape;236;p11"/>
          <p:cNvSpPr/>
          <p:nvPr/>
        </p:nvSpPr>
        <p:spPr>
          <a:xfrm>
            <a:off x="411480"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3–4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API/cloud</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89.7%</a:t>
            </a:r>
          </a:p>
        </p:txBody>
      </p:sp>
      <p:sp>
        <p:nvSpPr>
          <p:cNvPr id="237" name="Google Shape;237;p11"/>
          <p:cNvSpPr/>
          <p:nvPr/>
        </p:nvSpPr>
        <p:spPr>
          <a:xfrm>
            <a:off x="411480"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38" name="Google Shape;238;p11"/>
          <p:cNvSpPr/>
          <p:nvPr/>
        </p:nvSpPr>
        <p:spPr>
          <a:xfrm>
            <a:off x="411480"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Fastest inference</a:t>
            </a:r>
            <a:endParaRPr b="0" i="0" sz="950" u="none" cap="none" strike="noStrike">
              <a:solidFill>
                <a:schemeClr val="dk1"/>
              </a:solidFill>
              <a:latin typeface="Calibri"/>
              <a:ea typeface="Calibri"/>
              <a:cs typeface="Calibri"/>
              <a:sym typeface="Calibri"/>
            </a:endParaRPr>
          </a:p>
        </p:txBody>
      </p:sp>
      <p:sp>
        <p:nvSpPr>
          <p:cNvPr id="239" name="Google Shape;239;p11"/>
          <p:cNvSpPr/>
          <p:nvPr/>
        </p:nvSpPr>
        <p:spPr>
          <a:xfrm>
            <a:off x="411480"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Highest no-RAG accuracy</a:t>
            </a:r>
            <a:endParaRPr b="0" i="0" sz="950" u="none" cap="none" strike="noStrike">
              <a:solidFill>
                <a:schemeClr val="dk1"/>
              </a:solidFill>
              <a:latin typeface="Calibri"/>
              <a:ea typeface="Calibri"/>
              <a:cs typeface="Calibri"/>
              <a:sym typeface="Calibri"/>
            </a:endParaRPr>
          </a:p>
        </p:txBody>
      </p:sp>
      <p:sp>
        <p:nvSpPr>
          <p:cNvPr id="240" name="Google Shape;240;p11"/>
          <p:cNvSpPr/>
          <p:nvPr/>
        </p:nvSpPr>
        <p:spPr>
          <a:xfrm>
            <a:off x="411480"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Strong multimodal</a:t>
            </a:r>
            <a:endParaRPr b="0" i="0" sz="950" u="none" cap="none" strike="noStrike">
              <a:solidFill>
                <a:schemeClr val="dk1"/>
              </a:solidFill>
              <a:latin typeface="Calibri"/>
              <a:ea typeface="Calibri"/>
              <a:cs typeface="Calibri"/>
              <a:sym typeface="Calibri"/>
            </a:endParaRPr>
          </a:p>
        </p:txBody>
      </p:sp>
      <p:sp>
        <p:nvSpPr>
          <p:cNvPr id="241" name="Google Shape;241;p11"/>
          <p:cNvSpPr/>
          <p:nvPr/>
        </p:nvSpPr>
        <p:spPr>
          <a:xfrm>
            <a:off x="411480"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p>
        </p:txBody>
      </p:sp>
      <p:sp>
        <p:nvSpPr>
          <p:cNvPr id="242" name="Google Shape;242;p11"/>
          <p:cNvSpPr/>
          <p:nvPr/>
        </p:nvSpPr>
        <p:spPr>
          <a:xfrm>
            <a:off x="411480"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RAG degraded under matched evaluation</a:t>
            </a:r>
          </a:p>
        </p:txBody>
      </p:sp>
      <p:sp>
        <p:nvSpPr>
          <p:cNvPr id="243" name="Google Shape;243;p11"/>
          <p:cNvSpPr/>
          <p:nvPr/>
        </p:nvSpPr>
        <p:spPr>
          <a:xfrm>
            <a:off x="411480"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No local GPU audit trail</a:t>
            </a:r>
          </a:p>
        </p:txBody>
      </p:sp>
      <p:sp>
        <p:nvSpPr>
          <p:cNvPr id="244" name="Google Shape;244;p11"/>
          <p:cNvSpPr/>
          <p:nvPr/>
        </p:nvSpPr>
        <p:spPr>
          <a:xfrm>
            <a:off x="411480"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External dependency</a:t>
            </a:r>
          </a:p>
        </p:txBody>
      </p:sp>
      <p:sp>
        <p:nvSpPr>
          <p:cNvPr id="245" name="Google Shape;245;p11"/>
          <p:cNvSpPr/>
          <p:nvPr/>
        </p:nvSpPr>
        <p:spPr>
          <a:xfrm>
            <a:off x="3264408"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3264408" y="1005840"/>
            <a:ext cx="2834640" cy="640080"/>
          </a:xfrm>
          <a:prstGeom prst="rect">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3355848"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MedGemma 1.5 4B</a:t>
            </a:r>
          </a:p>
        </p:txBody>
      </p:sp>
      <p:sp>
        <p:nvSpPr>
          <p:cNvPr id="248" name="Google Shape;248;p11"/>
          <p:cNvSpPr/>
          <p:nvPr/>
        </p:nvSpPr>
        <p:spPr>
          <a:xfrm>
            <a:off x="3355848"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Local · medical-tuned</a:t>
            </a:r>
          </a:p>
        </p:txBody>
      </p:sp>
      <p:sp>
        <p:nvSpPr>
          <p:cNvPr id="249" name="Google Shape;249;p11"/>
          <p:cNvSpPr/>
          <p:nvPr/>
        </p:nvSpPr>
        <p:spPr>
          <a:xfrm>
            <a:off x="3355848"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22–26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~16 GB GPU</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73.7%</a:t>
            </a:r>
          </a:p>
        </p:txBody>
      </p:sp>
      <p:sp>
        <p:nvSpPr>
          <p:cNvPr id="250" name="Google Shape;250;p11"/>
          <p:cNvSpPr/>
          <p:nvPr/>
        </p:nvSpPr>
        <p:spPr>
          <a:xfrm>
            <a:off x="3355848"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51" name="Google Shape;251;p11"/>
          <p:cNvSpPr/>
          <p:nvPr/>
        </p:nvSpPr>
        <p:spPr>
          <a:xfrm>
            <a:off x="3355848"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Medical domain tuning</a:t>
            </a:r>
            <a:endParaRPr b="0" i="0" sz="950" u="none" cap="none" strike="noStrike">
              <a:solidFill>
                <a:schemeClr val="dk1"/>
              </a:solidFill>
              <a:latin typeface="Calibri"/>
              <a:ea typeface="Calibri"/>
              <a:cs typeface="Calibri"/>
              <a:sym typeface="Calibri"/>
            </a:endParaRPr>
          </a:p>
        </p:txBody>
      </p:sp>
      <p:sp>
        <p:nvSpPr>
          <p:cNvPr id="252" name="Google Shape;252;p11"/>
          <p:cNvSpPr/>
          <p:nvPr/>
        </p:nvSpPr>
        <p:spPr>
          <a:xfrm>
            <a:off x="3355848"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Full auditability</a:t>
            </a:r>
            <a:endParaRPr b="0" i="0" sz="950" u="none" cap="none" strike="noStrike">
              <a:solidFill>
                <a:schemeClr val="dk1"/>
              </a:solidFill>
              <a:latin typeface="Calibri"/>
              <a:ea typeface="Calibri"/>
              <a:cs typeface="Calibri"/>
              <a:sym typeface="Calibri"/>
            </a:endParaRPr>
          </a:p>
        </p:txBody>
      </p:sp>
      <p:sp>
        <p:nvSpPr>
          <p:cNvPr id="253" name="Google Shape;253;p11"/>
          <p:cNvSpPr/>
          <p:nvPr/>
        </p:nvSpPr>
        <p:spPr>
          <a:xfrm>
            <a:off x="3355848"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Privacy-safe</a:t>
            </a:r>
            <a:endParaRPr b="0" i="0" sz="950" u="none" cap="none" strike="noStrike">
              <a:solidFill>
                <a:schemeClr val="dk1"/>
              </a:solidFill>
              <a:latin typeface="Calibri"/>
              <a:ea typeface="Calibri"/>
              <a:cs typeface="Calibri"/>
              <a:sym typeface="Calibri"/>
            </a:endParaRPr>
          </a:p>
        </p:txBody>
      </p:sp>
      <p:sp>
        <p:nvSpPr>
          <p:cNvPr id="254" name="Google Shape;254;p11"/>
          <p:cNvSpPr/>
          <p:nvPr/>
        </p:nvSpPr>
        <p:spPr>
          <a:xfrm>
            <a:off x="3355848"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endParaRPr b="0" i="0" sz="1000" u="none" cap="none" strike="noStrike">
              <a:solidFill>
                <a:schemeClr val="dk1"/>
              </a:solidFill>
              <a:latin typeface="Calibri"/>
              <a:ea typeface="Calibri"/>
              <a:cs typeface="Calibri"/>
              <a:sym typeface="Calibri"/>
            </a:endParaRPr>
          </a:p>
        </p:txBody>
      </p:sp>
      <p:sp>
        <p:nvSpPr>
          <p:cNvPr id="255" name="Google Shape;255;p11"/>
          <p:cNvSpPr/>
          <p:nvPr/>
        </p:nvSpPr>
        <p:spPr>
          <a:xfrm>
            <a:off x="3355848"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High visual-hallucination rate</a:t>
            </a:r>
          </a:p>
        </p:txBody>
      </p:sp>
      <p:sp>
        <p:nvSpPr>
          <p:cNvPr id="256" name="Google Shape;256;p11"/>
          <p:cNvSpPr/>
          <p:nvPr/>
        </p:nvSpPr>
        <p:spPr>
          <a:xfrm>
            <a:off x="3355848"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RAG directionally worsened</a:t>
            </a:r>
          </a:p>
        </p:txBody>
      </p:sp>
      <p:sp>
        <p:nvSpPr>
          <p:cNvPr id="257" name="Google Shape;257;p11"/>
          <p:cNvSpPr/>
          <p:nvPr/>
        </p:nvSpPr>
        <p:spPr>
          <a:xfrm>
            <a:off x="3355848"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Weaker reasoning in this setting</a:t>
            </a:r>
          </a:p>
        </p:txBody>
      </p:sp>
      <p:sp>
        <p:nvSpPr>
          <p:cNvPr id="258" name="Google Shape;258;p11"/>
          <p:cNvSpPr/>
          <p:nvPr/>
        </p:nvSpPr>
        <p:spPr>
          <a:xfrm>
            <a:off x="6208776"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6208776" y="1005840"/>
            <a:ext cx="2834640" cy="64008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6300216"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Gemma 4 E4B</a:t>
            </a:r>
          </a:p>
        </p:txBody>
      </p:sp>
      <p:sp>
        <p:nvSpPr>
          <p:cNvPr id="261" name="Google Shape;261;p11"/>
          <p:cNvSpPr/>
          <p:nvPr/>
        </p:nvSpPr>
        <p:spPr>
          <a:xfrm>
            <a:off x="6300216"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Local · open</a:t>
            </a:r>
          </a:p>
        </p:txBody>
      </p:sp>
      <p:sp>
        <p:nvSpPr>
          <p:cNvPr id="262" name="Google Shape;262;p11"/>
          <p:cNvSpPr/>
          <p:nvPr/>
        </p:nvSpPr>
        <p:spPr>
          <a:xfrm>
            <a:off x="6300216"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46–59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~18–19 GB GPU</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82.6% (RAG)</a:t>
            </a:r>
          </a:p>
        </p:txBody>
      </p:sp>
      <p:sp>
        <p:nvSpPr>
          <p:cNvPr id="263" name="Google Shape;263;p11"/>
          <p:cNvSpPr/>
          <p:nvPr/>
        </p:nvSpPr>
        <p:spPr>
          <a:xfrm>
            <a:off x="6300216"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64" name="Google Shape;264;p11"/>
          <p:cNvSpPr/>
          <p:nvPr/>
        </p:nvSpPr>
        <p:spPr>
          <a:xfrm>
            <a:off x="6300216"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Best directional RAG delta (+6.7 pp)</a:t>
            </a:r>
          </a:p>
        </p:txBody>
      </p:sp>
      <p:sp>
        <p:nvSpPr>
          <p:cNvPr id="265" name="Google Shape;265;p11"/>
          <p:cNvSpPr/>
          <p:nvPr/>
        </p:nvSpPr>
        <p:spPr>
          <a:xfrm>
            <a:off x="6300216"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Real GPU sidecar demo available</a:t>
            </a:r>
          </a:p>
        </p:txBody>
      </p:sp>
      <p:sp>
        <p:nvSpPr>
          <p:cNvPr id="266" name="Google Shape;266;p11"/>
          <p:cNvSpPr/>
          <p:nvPr/>
        </p:nvSpPr>
        <p:spPr>
          <a:xfrm>
            <a:off x="6300216"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Auditable</a:t>
            </a:r>
            <a:endParaRPr b="0" i="0" sz="950" u="none" cap="none" strike="noStrike">
              <a:solidFill>
                <a:schemeClr val="dk1"/>
              </a:solidFill>
              <a:latin typeface="Calibri"/>
              <a:ea typeface="Calibri"/>
              <a:cs typeface="Calibri"/>
              <a:sym typeface="Calibri"/>
            </a:endParaRPr>
          </a:p>
        </p:txBody>
      </p:sp>
      <p:sp>
        <p:nvSpPr>
          <p:cNvPr id="267" name="Google Shape;267;p11"/>
          <p:cNvSpPr/>
          <p:nvPr/>
        </p:nvSpPr>
        <p:spPr>
          <a:xfrm>
            <a:off x="6300216"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endParaRPr b="0" i="0" sz="1000" u="none" cap="none" strike="noStrike">
              <a:solidFill>
                <a:schemeClr val="dk1"/>
              </a:solidFill>
              <a:latin typeface="Calibri"/>
              <a:ea typeface="Calibri"/>
              <a:cs typeface="Calibri"/>
              <a:sym typeface="Calibri"/>
            </a:endParaRPr>
          </a:p>
        </p:txBody>
      </p:sp>
      <p:sp>
        <p:nvSpPr>
          <p:cNvPr id="268" name="Google Shape;268;p11"/>
          <p:cNvSpPr/>
          <p:nvPr/>
        </p:nvSpPr>
        <p:spPr>
          <a:xfrm>
            <a:off x="6300216"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Slowest inference</a:t>
            </a:r>
          </a:p>
        </p:txBody>
      </p:sp>
      <p:sp>
        <p:nvSpPr>
          <p:cNvPr id="269" name="Google Shape;269;p11"/>
          <p:cNvSpPr/>
          <p:nvPr/>
        </p:nvSpPr>
        <p:spPr>
          <a:xfrm>
            <a:off x="6300216"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Directional, not conclusive</a:t>
            </a:r>
          </a:p>
        </p:txBody>
      </p:sp>
      <p:sp>
        <p:nvSpPr>
          <p:cNvPr id="270" name="Google Shape;270;p11"/>
          <p:cNvSpPr/>
          <p:nvPr/>
        </p:nvSpPr>
        <p:spPr>
          <a:xfrm>
            <a:off x="6300216"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Image evidence raises hallucination risk</a:t>
            </a:r>
          </a:p>
        </p:txBody>
      </p:sp>
    </p:spTree>
  </p:cSld>
  <p:clrMapOvr>
    <a:masterClrMapping/>
  </p:clrMapOvr>
</p:sld>
</file>

<file path=ppt/slides/slide10.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6" name="Google Shape;276;p1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10</a:t>
            </a:r>
            <a:endParaRPr b="0" i="0" sz="800" u="none" cap="none" strike="noStrike">
              <a:solidFill>
                <a:schemeClr val="dk1"/>
              </a:solidFill>
              <a:latin typeface="Calibri"/>
              <a:ea typeface="Calibri"/>
              <a:cs typeface="Calibri"/>
              <a:sym typeface="Calibri"/>
            </a:endParaRPr>
          </a:p>
        </p:txBody>
      </p:sp>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Limitations are part of the contribution</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thesis claims are deliberately narrow: traceable research evaluation, not bedside-use evidence.</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Weak-reference labels</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No clinician adjudication; prompt-judged diagnosis accuracy is useful for controlled comparison, not clinical validation.</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Corpus imbalance</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retrieval corpus is leishmaniasis-heavy, so non-leishmaniasis mimics remain a specificity stress test.</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Small held-out set</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Only Gemini's negative RAG delta is statistically supported; Gemma 4's +6.7 pp is directional only.</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Adaptive RAG is route-mixed</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Some rows received retrieved context and others fell back. Route-level audit is needed before interpreting aggregate accuracy.</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Future: clinician-reviewed labels · balanced mimic set · stronger recall · stricter visual-claim gating · deployment-grade validation</a:t>
            </a:r>
          </a:p>
        </p:txBody>
      </p:sp>
    </p:spTree>
  </p:cSld>
  <p:clrMapOvr>
    <a:masterClrMapping/>
  </p:clrMapOvr>
</p:sld>
</file>

<file path=ppt/slides/slide11.xml><?xml version="1.0" encoding="utf-8"?>
<p:sld xmlns:a="http://schemas.openxmlformats.org/drawingml/2006/main" xmlns:p="http://schemas.openxmlformats.org/presentationml/2006/main">
  <p:cSld>
    <p:bg>
      <p:bgPr>
        <a:solidFill>
          <a:srgbClr val="FFFFFF"/>
        </a:solidFill>
      </p:bgPr>
    </p:bg>
    <p:spTree>
      <p:nvGrpSpPr>
        <p:cNvPr id="302" name="Shape 302"/>
        <p:cNvGrpSpPr/>
        <p:nvPr/>
      </p:nvGrpSpPr>
      <p:grpSpPr>
        <a:xfrm>
          <a:off x="0" y="0"/>
          <a:ext cx="0" cy="0"/>
          <a:chOff x="0" y="0"/>
          <a:chExt cx="0" cy="0"/>
        </a:xfrm>
      </p:grpSpPr>
      <p:sp>
        <p:nvSpPr>
          <p:cNvPr id="303" name="Google Shape;303;p13"/>
          <p:cNvSpPr/>
          <p:nvPr/>
        </p:nvSpPr>
        <p:spPr>
          <a:xfrm>
            <a:off x="0" y="0"/>
            <a:ext cx="164592"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8595360" y="91440"/>
            <a:ext cx="365760" cy="27432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2263A"/>
              </a:buClr>
              <a:buSzPts val="800"/>
              <a:buFont typeface="Calibri"/>
              <a:buNone/>
              <a:defRPr>
                <a:solidFill>
                  <a:srgbClr val="12263A"/>
                </a:solidFill>
              </a:defRPr>
            </a:pPr>
            <a:r>
              <a:rPr b="0" i="0" lang="en-US" sz="800" u="none" cap="none" strike="noStrike">
                <a:solidFill>
                  <a:srgbClr val="12263A"/>
                </a:solidFill>
                <a:latin typeface="Calibri"/>
                <a:ea typeface="Calibri"/>
                <a:cs typeface="Calibri"/>
                <a:sym typeface="Calibri"/>
              </a:rPr>
              <a:t>11</a:t>
            </a:r>
            <a:endParaRPr b="0" i="0" sz="800" u="none" cap="none" strike="noStrike">
              <a:solidFill>
                <a:schemeClr val="dk1"/>
              </a:solidFill>
              <a:latin typeface="Calibri"/>
              <a:ea typeface="Calibri"/>
              <a:cs typeface="Calibri"/>
              <a:sym typeface="Calibri"/>
            </a:endParaRPr>
          </a:p>
        </p:txBody>
      </p:sp>
      <p:sp>
        <p:nvSpPr>
          <p:cNvPr id="306" name="Google Shape;306;p13"/>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defRPr>
                <a:solidFill>
                  <a:srgbClr val="12263A"/>
                </a:solidFill>
              </a:defRPr>
            </a:pPr>
            <a:r>
              <a:rPr b="1" i="0" lang="en-US" sz="2800" u="none" cap="none" strike="noStrike">
                <a:solidFill>
                  <a:srgbClr val="12263A"/>
                </a:solidFill>
                <a:latin typeface="Calibri"/>
                <a:ea typeface="Calibri"/>
                <a:cs typeface="Calibri"/>
                <a:sym typeface="Calibri"/>
              </a:rPr>
              <a:t>Conclusion: feasible, traceable, not deployment-ready</a:t>
            </a:r>
          </a:p>
        </p:txBody>
      </p:sp>
      <p:sp>
        <p:nvSpPr>
          <p:cNvPr id="307" name="Google Shape;307;p13"/>
          <p:cNvSpPr/>
          <p:nvPr/>
        </p:nvSpPr>
        <p:spPr>
          <a:xfrm>
            <a:off x="365760" y="868680"/>
            <a:ext cx="4069080" cy="169164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502920" y="96012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defRPr b="1">
                <a:solidFill>
                  <a:srgbClr val="028090"/>
                </a:solidFill>
              </a:defRPr>
            </a:pPr>
            <a:r>
              <a:rPr b="1" i="0" lang="en-US" sz="1100" u="none" cap="none" strike="noStrike">
                <a:solidFill>
                  <a:srgbClr val="028090"/>
                </a:solidFill>
                <a:latin typeface="Calibri"/>
                <a:ea typeface="Calibri"/>
                <a:cs typeface="Calibri"/>
                <a:sym typeface="Calibri"/>
              </a:rPr>
              <a:t>RQ1</a:t>
            </a:r>
            <a:endParaRPr b="0" i="0" sz="1100" u="none" cap="none" strike="noStrike">
              <a:solidFill>
                <a:schemeClr val="dk1"/>
              </a:solidFill>
              <a:latin typeface="Calibri"/>
              <a:ea typeface="Calibri"/>
              <a:cs typeface="Calibri"/>
              <a:sym typeface="Calibri"/>
            </a:endParaRPr>
          </a:p>
        </p:txBody>
      </p:sp>
      <p:sp>
        <p:nvSpPr>
          <p:cNvPr id="309" name="Google Shape;309;p13"/>
          <p:cNvSpPr/>
          <p:nvPr/>
        </p:nvSpPr>
        <p:spPr>
          <a:xfrm>
            <a:off x="1115568" y="96012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Feasibility</a:t>
            </a:r>
            <a:endParaRPr b="0" i="0" sz="1300" u="none" cap="none" strike="noStrike">
              <a:solidFill>
                <a:schemeClr val="dk1"/>
              </a:solidFill>
              <a:latin typeface="Calibri"/>
              <a:ea typeface="Calibri"/>
              <a:cs typeface="Calibri"/>
              <a:sym typeface="Calibri"/>
            </a:endParaRPr>
          </a:p>
        </p:txBody>
      </p:sp>
      <p:sp>
        <p:nvSpPr>
          <p:cNvPr id="310" name="Google Shape;310;p13"/>
          <p:cNvSpPr/>
          <p:nvPr/>
        </p:nvSpPr>
        <p:spPr>
          <a:xfrm>
            <a:off x="1115568" y="130759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defRPr>
                <a:solidFill>
                  <a:srgbClr val="028090"/>
                </a:solidFill>
              </a:defRPr>
            </a:pPr>
            <a:r>
              <a:rPr b="0" i="1" lang="en-US" sz="1000" u="none" cap="none" strike="noStrike">
                <a:solidFill>
                  <a:srgbClr val="028090"/>
                </a:solidFill>
                <a:latin typeface="Calibri"/>
                <a:ea typeface="Calibri"/>
                <a:cs typeface="Calibri"/>
                <a:sym typeface="Calibri"/>
              </a:rPr>
              <a:t>Research pipeline works</a:t>
            </a:r>
          </a:p>
        </p:txBody>
      </p:sp>
      <p:sp>
        <p:nvSpPr>
          <p:cNvPr id="311" name="Google Shape;311;p13"/>
          <p:cNvSpPr/>
          <p:nvPr/>
        </p:nvSpPr>
        <p:spPr>
          <a:xfrm>
            <a:off x="502920" y="161848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Structured cases, retrieval, generation, gate audit, and live demo are reproducible and traceable.</a:t>
            </a:r>
          </a:p>
        </p:txBody>
      </p:sp>
      <p:sp>
        <p:nvSpPr>
          <p:cNvPr id="312" name="Google Shape;312;p13"/>
          <p:cNvSpPr/>
          <p:nvPr/>
        </p:nvSpPr>
        <p:spPr>
          <a:xfrm>
            <a:off x="4663440" y="868680"/>
            <a:ext cx="4069080" cy="1691640"/>
          </a:xfrm>
          <a:prstGeom prst="rect">
            <a:avLst/>
          </a:prstGeom>
          <a:solidFill>
            <a:srgbClr val="EBF8FC"/>
          </a:solidFill>
          <a:ln cap="flat" cmpd="sng" w="19050">
            <a:solidFill>
              <a:srgbClr val="3ABF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4800600" y="96012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BFE0"/>
              </a:buClr>
              <a:buSzPts val="1100"/>
              <a:buFont typeface="Calibri"/>
              <a:buNone/>
              <a:defRPr b="1">
                <a:solidFill>
                  <a:srgbClr val="3ABFE0"/>
                </a:solidFill>
              </a:defRPr>
            </a:pPr>
            <a:r>
              <a:rPr b="1" i="0" lang="en-US" sz="1100" u="none" cap="none" strike="noStrike">
                <a:solidFill>
                  <a:srgbClr val="3ABFE0"/>
                </a:solidFill>
                <a:latin typeface="Calibri"/>
                <a:ea typeface="Calibri"/>
                <a:cs typeface="Calibri"/>
                <a:sym typeface="Calibri"/>
              </a:rPr>
              <a:t>RQ2</a:t>
            </a:r>
            <a:endParaRPr b="0" i="0" sz="1100" u="none" cap="none" strike="noStrike">
              <a:solidFill>
                <a:schemeClr val="dk1"/>
              </a:solidFill>
              <a:latin typeface="Calibri"/>
              <a:ea typeface="Calibri"/>
              <a:cs typeface="Calibri"/>
              <a:sym typeface="Calibri"/>
            </a:endParaRPr>
          </a:p>
        </p:txBody>
      </p:sp>
      <p:sp>
        <p:nvSpPr>
          <p:cNvPr id="314" name="Google Shape;314;p13"/>
          <p:cNvSpPr/>
          <p:nvPr/>
        </p:nvSpPr>
        <p:spPr>
          <a:xfrm>
            <a:off x="5413248" y="96012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Small Models</a:t>
            </a:r>
            <a:endParaRPr b="0" i="0" sz="1300" u="none" cap="none" strike="noStrike">
              <a:solidFill>
                <a:schemeClr val="dk1"/>
              </a:solidFill>
              <a:latin typeface="Calibri"/>
              <a:ea typeface="Calibri"/>
              <a:cs typeface="Calibri"/>
              <a:sym typeface="Calibri"/>
            </a:endParaRPr>
          </a:p>
        </p:txBody>
      </p:sp>
      <p:sp>
        <p:nvSpPr>
          <p:cNvPr id="315" name="Google Shape;315;p13"/>
          <p:cNvSpPr/>
          <p:nvPr/>
        </p:nvSpPr>
        <p:spPr>
          <a:xfrm>
            <a:off x="5413248" y="130759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BFE0"/>
              </a:buClr>
              <a:buSzPts val="1000"/>
              <a:buFont typeface="Calibri"/>
              <a:buNone/>
              <a:defRPr>
                <a:solidFill>
                  <a:srgbClr val="3ABFE0"/>
                </a:solidFill>
              </a:defRPr>
            </a:pPr>
            <a:r>
              <a:rPr b="0" i="1" lang="en-US" sz="1000" u="none" cap="none" strike="noStrike">
                <a:solidFill>
                  <a:srgbClr val="3ABFE0"/>
                </a:solidFill>
                <a:latin typeface="Calibri"/>
                <a:ea typeface="Calibri"/>
                <a:cs typeface="Calibri"/>
                <a:sym typeface="Calibri"/>
              </a:rPr>
              <a:t>Practical but bounded</a:t>
            </a:r>
          </a:p>
        </p:txBody>
      </p:sp>
      <p:sp>
        <p:nvSpPr>
          <p:cNvPr id="316" name="Google Shape;316;p13"/>
          <p:cNvSpPr/>
          <p:nvPr/>
        </p:nvSpPr>
        <p:spPr>
          <a:xfrm>
            <a:off x="4800600" y="161848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Local models run on a 24 GB GPU, but latency and memory make full live evaluation risky.</a:t>
            </a:r>
          </a:p>
        </p:txBody>
      </p:sp>
      <p:sp>
        <p:nvSpPr>
          <p:cNvPr id="317" name="Google Shape;317;p13"/>
          <p:cNvSpPr/>
          <p:nvPr/>
        </p:nvSpPr>
        <p:spPr>
          <a:xfrm>
            <a:off x="365760" y="2743200"/>
            <a:ext cx="4069080" cy="169164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502920" y="283464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100"/>
              <a:buFont typeface="Calibri"/>
              <a:buNone/>
              <a:defRPr b="1">
                <a:solidFill>
                  <a:srgbClr val="F4A261"/>
                </a:solidFill>
              </a:defRPr>
            </a:pPr>
            <a:r>
              <a:rPr b="1" i="0" lang="en-US" sz="1100" u="none" cap="none" strike="noStrike">
                <a:solidFill>
                  <a:srgbClr val="F4A261"/>
                </a:solidFill>
                <a:latin typeface="Calibri"/>
                <a:ea typeface="Calibri"/>
                <a:cs typeface="Calibri"/>
                <a:sym typeface="Calibri"/>
              </a:rPr>
              <a:t>RQ3</a:t>
            </a:r>
            <a:endParaRPr b="0" i="0" sz="1100" u="none" cap="none" strike="noStrike">
              <a:solidFill>
                <a:schemeClr val="dk1"/>
              </a:solidFill>
              <a:latin typeface="Calibri"/>
              <a:ea typeface="Calibri"/>
              <a:cs typeface="Calibri"/>
              <a:sym typeface="Calibri"/>
            </a:endParaRPr>
          </a:p>
        </p:txBody>
      </p:sp>
      <p:sp>
        <p:nvSpPr>
          <p:cNvPr id="319" name="Google Shape;319;p13"/>
          <p:cNvSpPr/>
          <p:nvPr/>
        </p:nvSpPr>
        <p:spPr>
          <a:xfrm>
            <a:off x="1115568" y="283464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Multimodal</a:t>
            </a:r>
            <a:endParaRPr b="0" i="0" sz="1300" u="none" cap="none" strike="noStrike">
              <a:solidFill>
                <a:schemeClr val="dk1"/>
              </a:solidFill>
              <a:latin typeface="Calibri"/>
              <a:ea typeface="Calibri"/>
              <a:cs typeface="Calibri"/>
              <a:sym typeface="Calibri"/>
            </a:endParaRPr>
          </a:p>
        </p:txBody>
      </p:sp>
      <p:sp>
        <p:nvSpPr>
          <p:cNvPr id="320" name="Google Shape;320;p13"/>
          <p:cNvSpPr/>
          <p:nvPr/>
        </p:nvSpPr>
        <p:spPr>
          <a:xfrm>
            <a:off x="1115568" y="318211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000"/>
              <a:buFont typeface="Calibri"/>
              <a:buNone/>
              <a:defRPr>
                <a:solidFill>
                  <a:srgbClr val="F4A261"/>
                </a:solidFill>
              </a:defRPr>
            </a:pPr>
            <a:r>
              <a:rPr b="0" i="1" lang="en-US" sz="1000" u="none" cap="none" strike="noStrike">
                <a:solidFill>
                  <a:srgbClr val="F4A261"/>
                </a:solidFill>
                <a:latin typeface="Calibri"/>
                <a:ea typeface="Calibri"/>
                <a:cs typeface="Calibri"/>
                <a:sym typeface="Calibri"/>
              </a:rPr>
              <a:t>Useful, risky signal</a:t>
            </a:r>
          </a:p>
        </p:txBody>
      </p:sp>
      <p:sp>
        <p:nvSpPr>
          <p:cNvPr id="321" name="Google Shape;321;p13"/>
          <p:cNvSpPr/>
          <p:nvPr/>
        </p:nvSpPr>
        <p:spPr>
          <a:xfrm>
            <a:off x="502920" y="349300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Image-linked evidence can help, but unsupported visual claims require conservative gating.</a:t>
            </a:r>
          </a:p>
        </p:txBody>
      </p:sp>
      <p:sp>
        <p:nvSpPr>
          <p:cNvPr id="322" name="Google Shape;322;p13"/>
          <p:cNvSpPr/>
          <p:nvPr/>
        </p:nvSpPr>
        <p:spPr>
          <a:xfrm>
            <a:off x="4663440" y="2743200"/>
            <a:ext cx="4069080" cy="1691640"/>
          </a:xfrm>
          <a:prstGeom prst="rect">
            <a:avLst/>
          </a:prstGeom>
          <a:solidFill>
            <a:srgbClr val="FFEFF1"/>
          </a:solidFill>
          <a:ln cap="flat" cmpd="sng" w="19050">
            <a:solidFill>
              <a:srgbClr val="F07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4800600" y="283464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7167"/>
              </a:buClr>
              <a:buSzPts val="1100"/>
              <a:buFont typeface="Calibri"/>
              <a:buNone/>
              <a:defRPr b="1">
                <a:solidFill>
                  <a:srgbClr val="F07167"/>
                </a:solidFill>
              </a:defRPr>
            </a:pPr>
            <a:r>
              <a:rPr b="1" i="0" lang="en-US" sz="1100" u="none" cap="none" strike="noStrike">
                <a:solidFill>
                  <a:srgbClr val="F07167"/>
                </a:solidFill>
                <a:latin typeface="Calibri"/>
                <a:ea typeface="Calibri"/>
                <a:cs typeface="Calibri"/>
                <a:sym typeface="Calibri"/>
              </a:rPr>
              <a:t>RQ4</a:t>
            </a:r>
            <a:endParaRPr b="0" i="0" sz="1100" u="none" cap="none" strike="noStrike">
              <a:solidFill>
                <a:schemeClr val="dk1"/>
              </a:solidFill>
              <a:latin typeface="Calibri"/>
              <a:ea typeface="Calibri"/>
              <a:cs typeface="Calibri"/>
              <a:sym typeface="Calibri"/>
            </a:endParaRPr>
          </a:p>
        </p:txBody>
      </p:sp>
      <p:sp>
        <p:nvSpPr>
          <p:cNvPr id="324" name="Google Shape;324;p13"/>
          <p:cNvSpPr/>
          <p:nvPr/>
        </p:nvSpPr>
        <p:spPr>
          <a:xfrm>
            <a:off x="5413248" y="283464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RAG Effect</a:t>
            </a:r>
            <a:endParaRPr b="0" i="0" sz="1300" u="none" cap="none" strike="noStrike">
              <a:solidFill>
                <a:schemeClr val="dk1"/>
              </a:solidFill>
              <a:latin typeface="Calibri"/>
              <a:ea typeface="Calibri"/>
              <a:cs typeface="Calibri"/>
              <a:sym typeface="Calibri"/>
            </a:endParaRPr>
          </a:p>
        </p:txBody>
      </p:sp>
      <p:sp>
        <p:nvSpPr>
          <p:cNvPr id="325" name="Google Shape;325;p13"/>
          <p:cNvSpPr/>
          <p:nvPr/>
        </p:nvSpPr>
        <p:spPr>
          <a:xfrm>
            <a:off x="5413248" y="318211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7167"/>
              </a:buClr>
              <a:buSzPts val="1000"/>
              <a:buFont typeface="Calibri"/>
              <a:buNone/>
              <a:defRPr>
                <a:solidFill>
                  <a:srgbClr val="F07167"/>
                </a:solidFill>
              </a:defRPr>
            </a:pPr>
            <a:r>
              <a:rPr b="0" i="1" lang="en-US" sz="1000" u="none" cap="none" strike="noStrike">
                <a:solidFill>
                  <a:srgbClr val="F07167"/>
                </a:solidFill>
                <a:latin typeface="Calibri"/>
                <a:ea typeface="Calibri"/>
                <a:cs typeface="Calibri"/>
                <a:sym typeface="Calibri"/>
              </a:rPr>
              <a:t>Model-dependent</a:t>
            </a:r>
          </a:p>
        </p:txBody>
      </p:sp>
      <p:sp>
        <p:nvSpPr>
          <p:cNvPr id="326" name="Google Shape;326;p13"/>
          <p:cNvSpPr/>
          <p:nvPr/>
        </p:nvSpPr>
        <p:spPr>
          <a:xfrm>
            <a:off x="4800600" y="349300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Gemma 4 shows a positive directional RAG pattern; Gemini and MedGemma warn against universal RAG claims.</a:t>
            </a:r>
          </a:p>
        </p:txBody>
      </p:sp>
      <p:sp>
        <p:nvSpPr>
          <p:cNvPr id="327" name="Google Shape;327;p13"/>
          <p:cNvSpPr/>
          <p:nvPr/>
        </p:nvSpPr>
        <p:spPr>
          <a:xfrm>
            <a:off x="365760" y="4645152"/>
            <a:ext cx="8503920" cy="365760"/>
          </a:xfrm>
          <a:prstGeom prst="rect">
            <a:avLst/>
          </a:prstGeom>
          <a:solidFill>
            <a:srgbClr val="E5FAF7"/>
          </a:solidFill>
          <a:ln w="12700">
            <a:solidFill>
              <a:srgbClr val="028090"/>
            </a:solid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502920" y="4690872"/>
            <a:ext cx="8321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defRPr b="1">
                <a:solidFill>
                  <a:srgbClr val="12263A"/>
                </a:solidFill>
              </a:defRPr>
            </a:pPr>
            <a:r>
              <a:rPr b="1" i="0" lang="en-US" sz="950" u="none" cap="none" strike="noStrike">
                <a:solidFill>
                  <a:srgbClr val="12263A"/>
                </a:solidFill>
                <a:latin typeface="Calibri"/>
                <a:ea typeface="Calibri"/>
                <a:cs typeface="Calibri"/>
                <a:sym typeface="Calibri"/>
              </a:rPr>
              <a:t>Final claim: multimodal RAG for leishmaniasis can be evaluated traceably under constrained resources; stronger claims require balanced data, stronger labels, and expert review.</a:t>
            </a:r>
          </a:p>
        </p:txBody>
      </p:sp>
    </p:spTree>
  </p:cSld>
  <p:clrMapOvr>
    <a:masterClrMapping/>
  </p:clrMapOvr>
</p:sld>
</file>

<file path=ppt/slides/slide12.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6" name="Google Shape;276;p1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12</a:t>
            </a:r>
          </a:p>
        </p:txBody>
      </p:sp>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Core result map: evidence behind the main claims</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spoken deck is intentionally compact; this map links headline claims to the supporting thesis results.</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Main table set</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5.1 main metrics; 5.2-5.3 clean-context; 5.5 modality; 5.6 retrieval; 5.7 route audit; 5.8 imbalance; 5.9 matched deltas.</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Why the spoken deck is compressed</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spoken deck compresses many result families into slides 5-10 to preserve a 30-minute defense flow.</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What the backup map adds</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Labeled charts plus three backup slides for result provenance, clean-context sensitivity, routing, modality, latency, and GPU evidence.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Claim boundary</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backup slides explain existing thesis evidence; they do not create new experimental claims.</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Use this map when supervisors ask how each result family connects to the thesis results chapter and appendix.</a:t>
            </a:r>
          </a:p>
        </p:txBody>
      </p:sp>
    </p:spTree>
  </p:cSld>
  <p:clrMapOvr>
    <a:masterClrMapping/>
  </p:clrMapOvr>
</p:sld>
</file>

<file path=ppt/slides/slide13.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6" name="Google Shape;276;p1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13</a:t>
            </a:r>
          </a:p>
        </p:txBody>
      </p:sp>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Clean-context and route audit explain the RAG effect</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These mechanism checks explain why the observed RAG effect is conditional.</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Clean-context deltas</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Gemini -7.1 pp; MedGemma +6.7 pp; Gemma4 +16.1 pp. Same 56 case IDs, sanitized query artifact; supplementary sensitivity only.</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Prompt2 A+B tier</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47 cases: Gemini -4.3 pp; MedGemma +4.3 pp; Gemma4 +14.9 pp. Descriptive, not confirmatory.</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Route-mixed RAG</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Gemma4 audit: 31/56 adaptive_rag rows and 25/56 no-context fallback rows. RAG did not inject context into every case.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Retrieval imbalance</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Corpus 106/121 leish; held-out 33/56 non-leish. Non-leish top-10 support was still 98.8% leish-labelled.</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Takeaway: retrieval helps conditionally because generator behavior, route policy, and corpus balance all matter.</a:t>
            </a: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6" name="Google Shape;276;p1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14</a:t>
            </a:r>
          </a:p>
        </p:txBody>
      </p:sp>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Sensitivity: modality, latency, and GPU practicality</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This slide collects appendix evidence that supports the defense narrative without overclaiming deployment readiness.</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Modality matrix</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Gemini strongest multimodal no-RAG: 89.7%. Gemma4 text RAG: 85.3%; multimodal RAG: 82.6%; tensor-on RAG: 84.4% supplementary.</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Image-risk trade-off</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Gemma4 support images: +1.8 pp over standard RAG but visual hallucination rose 3.4% -&gt; 7.9%. Multi-seed +8.3 pp vs no-RAG, CI crosses 0.</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Local practicality</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MedGemma: 22-26 s/case, peak 15.70 GB. Gemma4: 46-59 s/case, peak 18.84 GB. Gemini API: 3-4 s/case.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Defense point</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contribution is traceability, auditability, and bounded evidence, not a deployment-ready classifier.</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These result families support the defense narrative without implying deployment readiness.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FRESH LOCAL-GPU MULTIMODAL EVALUATION</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Live Demo Case Inspection</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88720"/>
            <a:ext cx="2560320" cy="56692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CASE 1: PMC7516301_01</a:t>
            </a:r>
          </a:p>
          <a:p>
            <a:pPr>
              <a:defRPr sz="1100" b="1">
                <a:solidFill>
                  <a:srgbClr val="18273E"/>
                </a:solidFill>
              </a:defRPr>
            </a:pPr>
            <a:r>
              <a:t>Silver: MCL | Live Rank 1: MCL</a:t>
            </a:r>
          </a:p>
        </p:txBody>
      </p:sp>
      <p:sp>
        <p:nvSpPr>
          <p:cNvPr id="6" name="Rectangle 5"/>
          <p:cNvSpPr/>
          <p:nvPr/>
        </p:nvSpPr>
        <p:spPr>
          <a:xfrm>
            <a:off x="3200400" y="1188720"/>
            <a:ext cx="2560320" cy="566928"/>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CASE 2: PMC7456484_01</a:t>
            </a:r>
          </a:p>
          <a:p>
            <a:pPr>
              <a:defRPr sz="1100" b="1">
                <a:solidFill>
                  <a:srgbClr val="18273E"/>
                </a:solidFill>
              </a:defRPr>
            </a:pPr>
            <a:r>
              <a:t>Silver: PKDL | Live Rank 1: MCL</a:t>
            </a:r>
          </a:p>
        </p:txBody>
      </p:sp>
      <p:sp>
        <p:nvSpPr>
          <p:cNvPr id="7" name="Rectangle 6"/>
          <p:cNvSpPr/>
          <p:nvPr/>
        </p:nvSpPr>
        <p:spPr>
          <a:xfrm>
            <a:off x="5715000" y="1188720"/>
            <a:ext cx="2697480" cy="566928"/>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t>CASE 3: PMC10026180_04</a:t>
            </a:r>
          </a:p>
          <a:p>
            <a:pPr>
              <a:defRPr sz="1100" b="1">
                <a:solidFill>
                  <a:srgbClr val="18273E"/>
                </a:solidFill>
              </a:defRPr>
            </a:pPr>
            <a:r>
              <a:t>Label conflict: verified Non-Leish / pseudolabel CL | Live Rank 1: CL</a:t>
            </a:r>
          </a:p>
        </p:txBody>
      </p:sp>
      <p:sp>
        <p:nvSpPr>
          <p:cNvPr id="8" name="Rectangle 7"/>
          <p:cNvSpPr/>
          <p:nvPr/>
        </p:nvSpPr>
        <p:spPr>
          <a:xfrm>
            <a:off x="502920" y="1901952"/>
            <a:ext cx="7909560" cy="1115568"/>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Case Inspection Setup</a:t>
            </a:r>
          </a:p>
          <a:p>
            <a:pPr>
              <a:lnSpc>
                <a:spcPct val="105000"/>
              </a:lnSpc>
              <a:defRPr sz="900">
                <a:solidFill>
                  <a:srgbClr val="18273E"/>
                </a:solidFill>
              </a:defRPr>
            </a:pPr>
            <a:r>
              <a:t>Three selected queries from the 56-case held-out set; illustrative, not an accuracy sample</a:t>
            </a:r>
          </a:p>
          <a:p>
            <a:pPr>
              <a:lnSpc>
                <a:spcPct val="105000"/>
              </a:lnSpc>
              <a:defRPr sz="900">
                <a:solidFill>
                  <a:srgbClr val="18273E"/>
                </a:solidFill>
              </a:defRPr>
            </a:pPr>
            <a:r>
              <a:t>Verified absent from the official 121-case experimental retrieval corpus</a:t>
            </a:r>
          </a:p>
          <a:p>
            <a:pPr>
              <a:lnSpc>
                <a:spcPct val="105000"/>
              </a:lnSpc>
              <a:defRPr sz="900">
                <a:solidFill>
                  <a:srgbClr val="18273E"/>
                </a:solidFill>
              </a:defRPr>
            </a:pPr>
            <a:r>
              <a:t>Fresh Gemma 4 live-demo outputs used the local defense demo KB on NVIDIA TITAN RTX (4-bit)</a:t>
            </a:r>
          </a:p>
          <a:p>
            <a:pPr>
              <a:lnSpc>
                <a:spcPct val="105000"/>
              </a:lnSpc>
              <a:defRPr sz="900">
                <a:solidFill>
                  <a:srgbClr val="18273E"/>
                </a:solidFill>
              </a:defRPr>
            </a:pPr>
            <a:r>
              <a:t>Silver labels are pipeline references; aggregate thesis metrics remain the benchmark</a:t>
            </a:r>
          </a:p>
        </p:txBody>
      </p:sp>
      <p:sp>
        <p:nvSpPr>
          <p:cNvPr id="9" name="Rectangle 8"/>
          <p:cNvSpPr/>
          <p:nvPr/>
        </p:nvSpPr>
        <p:spPr>
          <a:xfrm>
            <a:off x="502920" y="3154680"/>
            <a:ext cx="3840480" cy="132588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Selected Example Outcomes</a:t>
            </a:r>
          </a:p>
          <a:p>
            <a:pPr>
              <a:lnSpc>
                <a:spcPct val="105000"/>
              </a:lnSpc>
              <a:defRPr sz="919">
                <a:solidFill>
                  <a:srgbClr val="18273E"/>
                </a:solidFill>
              </a:defRPr>
            </a:pPr>
            <a:r>
              <a:t>Case 1 (MCL): live rank-1 type matches the silver reference</a:t>
            </a:r>
          </a:p>
          <a:p>
            <a:pPr>
              <a:lnSpc>
                <a:spcPct val="105000"/>
              </a:lnSpc>
              <a:defRPr sz="919">
                <a:solidFill>
                  <a:srgbClr val="18273E"/>
                </a:solidFill>
              </a:defRPr>
            </a:pPr>
            <a:r>
              <a:t>Case 2 (PKDL): live rank-1 stays in the leishmaniasis family but shifts to MCL</a:t>
            </a:r>
          </a:p>
          <a:p>
            <a:pPr>
              <a:lnSpc>
                <a:spcPct val="105000"/>
              </a:lnSpc>
              <a:defRPr sz="919">
                <a:solidFill>
                  <a:srgbClr val="18273E"/>
                </a:solidFill>
              </a:defRPr>
            </a:pPr>
            <a:r>
              <a:t>Case 3: verified Non-Leish / pseudolabel CL; live output stays leishmaniasis-family</a:t>
            </a:r>
          </a:p>
        </p:txBody>
      </p:sp>
      <p:sp>
        <p:nvSpPr>
          <p:cNvPr id="10" name="Rectangle 9"/>
          <p:cNvSpPr/>
          <p:nvPr/>
        </p:nvSpPr>
        <p:spPr>
          <a:xfrm>
            <a:off x="4480560" y="3154680"/>
            <a:ext cx="3931920" cy="13258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t>Key Findings</a:t>
            </a:r>
          </a:p>
          <a:p>
            <a:pPr>
              <a:lnSpc>
                <a:spcPct val="105000"/>
              </a:lnSpc>
              <a:defRPr sz="860">
                <a:solidFill>
                  <a:srgbClr val="18273E"/>
                </a:solidFill>
              </a:defRPr>
            </a:pPr>
            <a:r>
              <a:t>Inspectable input-output-evidence traces under local GPU constraints</a:t>
            </a:r>
          </a:p>
          <a:p>
            <a:pPr>
              <a:lnSpc>
                <a:spcPct val="105000"/>
              </a:lnSpc>
              <a:defRPr sz="860">
                <a:solidFill>
                  <a:srgbClr val="18273E"/>
                </a:solidFill>
              </a:defRPr>
            </a:pPr>
            <a:r>
              <a:t>Case 2 exposes subtype-resolution limits</a:t>
            </a:r>
          </a:p>
          <a:p>
            <a:pPr>
              <a:lnSpc>
                <a:spcPct val="105000"/>
              </a:lnSpc>
              <a:defRPr sz="860">
                <a:solidFill>
                  <a:srgbClr val="18273E"/>
                </a:solidFill>
              </a:defRPr>
            </a:pPr>
            <a:r>
              <a:t>Case 3 exposes label-conflict and evidence-attribution limits</a:t>
            </a:r>
          </a:p>
          <a:p>
            <a:pPr>
              <a:lnSpc>
                <a:spcPct val="105000"/>
              </a:lnSpc>
              <a:defRPr sz="860">
                <a:solidFill>
                  <a:srgbClr val="18273E"/>
                </a:solidFill>
              </a:defRPr>
            </a:pPr>
            <a:r>
              <a:t>These cases do not establish clinical validity or deployment readiness</a:t>
            </a:r>
          </a:p>
          <a:p>
            <a:pPr>
              <a:lnSpc>
                <a:spcPct val="105000"/>
              </a:lnSpc>
              <a:defRPr sz="860">
                <a:solidFill>
                  <a:srgbClr val="18273E"/>
                </a:solidFill>
              </a:defRPr>
            </a:pPr>
            <a:r>
              <a:t>Images provide context, not diagnosis; full inputs: slides 20-22</a:t>
            </a:r>
          </a:p>
        </p:txBody>
      </p:sp>
      <p:sp>
        <p:nvSpPr>
          <p:cNvPr id="11" name="TextBox 10"/>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2" name="TextBox 11"/>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Case 1: PMC7516301_01 — Concordant Example</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SILVER REFERENCE LABEL</a:t>
            </a:r>
          </a:p>
          <a:p>
            <a:pPr>
              <a:defRPr sz="1100" b="1">
                <a:solidFill>
                  <a:srgbClr val="18273E"/>
                </a:solidFill>
              </a:defRPr>
            </a:pPr>
            <a:r>
              <a:t>Mucocutaneous Leishmaniasis (MCL)</a:t>
            </a:r>
          </a:p>
        </p:txBody>
      </p:sp>
      <p:sp>
        <p:nvSpPr>
          <p:cNvPr id="6" name="Rectangle 5"/>
          <p:cNvSpPr/>
          <p:nvPr/>
        </p:nvSpPr>
        <p:spPr>
          <a:xfrm>
            <a:off x="2926080" y="1143000"/>
            <a:ext cx="2468880" cy="5029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MODEL RANK 1</a:t>
            </a:r>
          </a:p>
          <a:p>
            <a:pPr>
              <a:defRPr sz="1100" b="1">
                <a:solidFill>
                  <a:srgbClr val="18273E"/>
                </a:solidFill>
              </a:defRPr>
            </a:pPr>
            <a:r>
              <a:t>MCL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CONFIDENCE</a:t>
            </a:r>
          </a:p>
          <a:p>
            <a:pPr>
              <a:defRPr sz="1100" b="1">
                <a:solidFill>
                  <a:srgbClr val="18273E"/>
                </a:solidFill>
              </a:defRPr>
            </a:pPr>
            <a: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TIME</a:t>
            </a:r>
          </a:p>
          <a:p>
            <a:pPr>
              <a:defRPr sz="1100" b="1">
                <a:solidFill>
                  <a:srgbClr val="18273E"/>
                </a:solidFill>
              </a:defRPr>
            </a:pPr>
            <a:r>
              <a:t>78.3s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Clinical Input (Blinded)</a:t>
            </a:r>
          </a:p>
          <a:p>
            <a:pPr>
              <a:lnSpc>
                <a:spcPct val="105000"/>
              </a:lnSpc>
              <a:defRPr sz="790">
                <a:solidFill>
                  <a:srgbClr val="18273E"/>
                </a:solidFill>
              </a:defRPr>
            </a:pPr>
            <a:r>
              <a:t>19-year-old man from Syria with 6-month throat irritation progressing to severe throat pain and fever; exam noted prior arm scar and oropharyngeal/laryngeal mucosal lesions.</a:t>
            </a:r>
          </a:p>
          <a:p>
            <a:pPr>
              <a:lnSpc>
                <a:spcPct val="105000"/>
              </a:lnSpc>
              <a:defRPr sz="790">
                <a:solidFill>
                  <a:srgbClr val="18273E"/>
                </a:solidFill>
              </a:defRPr>
            </a:pPr>
            <a:r>
              <a:t>Held-out case absent from the official 121-case experimental retrieval corpus; full text is on slide 20.</a:t>
            </a:r>
          </a:p>
          <a:p>
            <a:pPr>
              <a:lnSpc>
                <a:spcPct val="105000"/>
              </a:lnSpc>
              <a:defRPr sz="790">
                <a:solidFill>
                  <a:srgbClr val="18273E"/>
                </a:solidFill>
              </a:defRPr>
            </a:pPr>
            <a: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t>Model Output Summary</a:t>
            </a:r>
          </a:p>
          <a:p>
            <a:pPr>
              <a:lnSpc>
                <a:spcPct val="105000"/>
              </a:lnSpc>
              <a:defRPr sz="900">
                <a:solidFill>
                  <a:srgbClr val="18273E"/>
                </a:solidFill>
              </a:defRPr>
            </a:pPr>
            <a:r>
              <a:t>Top diagnosis: Mucocutaneous Leishmaniasis (Mucosal involvement)</a:t>
            </a:r>
          </a:p>
          <a:p>
            <a:pPr>
              <a:lnSpc>
                <a:spcPct val="105000"/>
              </a:lnSpc>
              <a:defRPr sz="900">
                <a:solidFill>
                  <a:srgbClr val="18273E"/>
                </a:solidFill>
              </a:defRPr>
            </a:pPr>
            <a:r>
              <a:t>Runtime support: 3 retrieved chunks</a:t>
            </a:r>
          </a:p>
          <a:p>
            <a:pPr>
              <a:lnSpc>
                <a:spcPct val="105000"/>
              </a:lnSpc>
              <a:defRPr sz="900">
                <a:solidFill>
                  <a:srgbClr val="18273E"/>
                </a:solidFill>
              </a:defRPr>
            </a:pPr>
            <a:r>
              <a:t>Output route: retrieval-supported response</a:t>
            </a:r>
          </a:p>
        </p:txBody>
      </p:sp>
      <p:pic>
        <p:nvPicPr>
          <p:cNvPr id="11" name="Picture 10" descr="image.png"/>
          <p:cNvPicPr>
            <a:picLocks noChangeAspect="1"/>
          </p:cNvPicPr>
          <p:nvPr/>
        </p:nvPicPr>
        <p:blipFill>
          <a:blip r:embed="rId2"/>
          <a:stretch>
            <a:fillRect/>
          </a:stretch>
        </p:blipFill>
        <p:spPr>
          <a:xfrm>
            <a:off x="5636220" y="1783080"/>
            <a:ext cx="1378283" cy="1049274"/>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t>Input image</a:t>
            </a:r>
          </a:p>
        </p:txBody>
      </p:sp>
      <p:sp>
        <p:nvSpPr>
          <p:cNvPr id="13" name="Rectangle 12"/>
          <p:cNvSpPr/>
          <p:nvPr/>
        </p:nvSpPr>
        <p:spPr>
          <a:xfrm>
            <a:off x="4617720" y="3154679"/>
            <a:ext cx="3794760" cy="86868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1C804A"/>
                </a:solidFill>
              </a:defRPr>
            </a:pPr>
            <a:r>
              <a:t>LLM Council Review Synthesis</a:t>
            </a:r>
          </a:p>
          <a:p>
            <a:pPr algn="ctr">
              <a:lnSpc>
                <a:spcPct val="90000"/>
              </a:lnSpc>
              <a:defRPr sz="860" b="1">
                <a:solidFill>
                  <a:srgbClr val="536071"/>
                </a:solidFill>
              </a:defRPr>
            </a:pPr>
            <a:r>
              <a:t>Review synthesis; not Gemma output</a:t>
            </a:r>
          </a:p>
          <a:p>
            <a:pPr>
              <a:lnSpc>
                <a:spcPct val="98000"/>
              </a:lnSpc>
              <a:defRPr sz="825">
                <a:solidFill>
                  <a:srgbClr val="18273E"/>
                </a:solidFill>
              </a:defRPr>
            </a:pPr>
            <a:r>
              <a:t>Reviews agree MCL Rank 1 is a strong concordant positive example</a:t>
            </a:r>
          </a:p>
          <a:p>
            <a:pPr>
              <a:lnSpc>
                <a:spcPct val="98000"/>
              </a:lnSpc>
              <a:defRPr sz="825">
                <a:solidFill>
                  <a:srgbClr val="18273E"/>
                </a:solidFill>
              </a:defRPr>
            </a:pPr>
            <a:r>
              <a:t>Image is visually consistent/contextual, not diagnostic proof</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Runtime Support Returned by Demo KB</a:t>
            </a:r>
          </a:p>
          <a:p>
            <a:pPr>
              <a:lnSpc>
                <a:spcPct val="105000"/>
              </a:lnSpc>
              <a:defRPr sz="800">
                <a:solidFill>
                  <a:srgbClr val="18273E"/>
                </a:solidFill>
              </a:defRPr>
            </a:pPr>
            <a:r>
              <a:t>1. Mucocutaneous leishmaniasis: runtime support returned by the backend</a:t>
            </a:r>
          </a:p>
          <a:p>
            <a:pPr>
              <a:lnSpc>
                <a:spcPct val="105000"/>
              </a:lnSpc>
              <a:defRPr sz="800">
                <a:solidFill>
                  <a:srgbClr val="18273E"/>
                </a:solidFill>
              </a:defRPr>
            </a:pPr>
            <a:r>
              <a:t>2. 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Case 2: PMC7456484_01 — Subtype Mismatch</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SILVER REFERENCE LABEL</a:t>
            </a:r>
          </a:p>
          <a:p>
            <a:pPr>
              <a:defRPr sz="1100" b="1">
                <a:solidFill>
                  <a:srgbClr val="18273E"/>
                </a:solidFill>
              </a:defRPr>
            </a:pPr>
            <a:r>
              <a:t>Post-Kala-Azar Dermal Leishmaniasis (PKDL)</a:t>
            </a:r>
          </a:p>
        </p:txBody>
      </p:sp>
      <p:sp>
        <p:nvSpPr>
          <p:cNvPr id="6" name="Rectangle 5"/>
          <p:cNvSpPr/>
          <p:nvPr/>
        </p:nvSpPr>
        <p:spPr>
          <a:xfrm>
            <a:off x="2926080" y="1143000"/>
            <a:ext cx="2468880" cy="50292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MODEL RANK 1</a:t>
            </a:r>
          </a:p>
          <a:p>
            <a:pPr>
              <a:defRPr sz="1100" b="1">
                <a:solidFill>
                  <a:srgbClr val="18273E"/>
                </a:solidFill>
              </a:defRPr>
            </a:pPr>
            <a:r>
              <a:t>MCL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CONFIDENCE</a:t>
            </a:r>
          </a:p>
          <a:p>
            <a:pPr>
              <a:defRPr sz="1100" b="1">
                <a:solidFill>
                  <a:srgbClr val="18273E"/>
                </a:solidFill>
              </a:defRPr>
            </a:pPr>
            <a: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TIME</a:t>
            </a:r>
          </a:p>
          <a:p>
            <a:pPr>
              <a:defRPr sz="1100" b="1">
                <a:solidFill>
                  <a:srgbClr val="18273E"/>
                </a:solidFill>
              </a:defRPr>
            </a:pPr>
            <a:r>
              <a:t>74.0s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Clinical Input (Blinded)</a:t>
            </a:r>
          </a:p>
          <a:p>
            <a:pPr>
              <a:lnSpc>
                <a:spcPct val="105000"/>
              </a:lnSpc>
              <a:defRPr sz="790">
                <a:solidFill>
                  <a:srgbClr val="18273E"/>
                </a:solidFill>
              </a:defRPr>
            </a:pPr>
            <a:r>
              <a:t>37-year-old woman from eastern Bhutan with extensive facial plaques, eyelid damage/scarring, nasal mucosal extension, and prior treated visceral leishmaniasis history.</a:t>
            </a:r>
          </a:p>
          <a:p>
            <a:pPr>
              <a:lnSpc>
                <a:spcPct val="105000"/>
              </a:lnSpc>
              <a:defRPr sz="790">
                <a:solidFill>
                  <a:srgbClr val="18273E"/>
                </a:solidFill>
              </a:defRPr>
            </a:pPr>
            <a:r>
              <a:t>Held-out case absent from the official 121-case experimental retrieval corpus; full text is on slide 21.</a:t>
            </a:r>
          </a:p>
          <a:p>
            <a:pPr>
              <a:lnSpc>
                <a:spcPct val="105000"/>
              </a:lnSpc>
              <a:defRPr sz="790">
                <a:solidFill>
                  <a:srgbClr val="18273E"/>
                </a:solidFill>
              </a:defRPr>
            </a:pPr>
            <a: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t>Model Output Summary</a:t>
            </a:r>
          </a:p>
          <a:p>
            <a:pPr>
              <a:lnSpc>
                <a:spcPct val="105000"/>
              </a:lnSpc>
              <a:defRPr sz="900">
                <a:solidFill>
                  <a:srgbClr val="18273E"/>
                </a:solidFill>
              </a:defRPr>
            </a:pPr>
            <a:r>
              <a:t>Top diagnosis: Chronic Mucocutaneous Leishmaniasis (Mucocutaneous Leishmaniasis)</a:t>
            </a:r>
          </a:p>
          <a:p>
            <a:pPr>
              <a:lnSpc>
                <a:spcPct val="105000"/>
              </a:lnSpc>
              <a:defRPr sz="900">
                <a:solidFill>
                  <a:srgbClr val="18273E"/>
                </a:solidFill>
              </a:defRPr>
            </a:pPr>
            <a:r>
              <a:t>Runtime support: 3 retrieved chunks</a:t>
            </a:r>
          </a:p>
          <a:p>
            <a:pPr>
              <a:lnSpc>
                <a:spcPct val="105000"/>
              </a:lnSpc>
              <a:defRPr sz="900">
                <a:solidFill>
                  <a:srgbClr val="18273E"/>
                </a:solidFill>
              </a:defRPr>
            </a:pPr>
            <a:r>
              <a:t>Output route: retrieval-supported response</a:t>
            </a:r>
          </a:p>
        </p:txBody>
      </p:sp>
      <p:pic>
        <p:nvPicPr>
          <p:cNvPr id="11" name="Picture 10" descr="image.png"/>
          <p:cNvPicPr>
            <a:picLocks noChangeAspect="1"/>
          </p:cNvPicPr>
          <p:nvPr/>
        </p:nvPicPr>
        <p:blipFill>
          <a:blip r:embed="rId2"/>
          <a:stretch>
            <a:fillRect/>
          </a:stretch>
        </p:blipFill>
        <p:spPr>
          <a:xfrm>
            <a:off x="4617720" y="1849114"/>
            <a:ext cx="3415284" cy="917205"/>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t>Input image</a:t>
            </a:r>
          </a:p>
        </p:txBody>
      </p:sp>
      <p:sp>
        <p:nvSpPr>
          <p:cNvPr id="13" name="Rectangle 12"/>
          <p:cNvSpPr/>
          <p:nvPr/>
        </p:nvSpPr>
        <p:spPr>
          <a:xfrm>
            <a:off x="4617720" y="3154679"/>
            <a:ext cx="3794760" cy="86868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EA580C"/>
                </a:solidFill>
              </a:defRPr>
            </a:pPr>
            <a:r>
              <a:t>LLM Council Review Synthesis</a:t>
            </a:r>
          </a:p>
          <a:p>
            <a:pPr algn="ctr">
              <a:lnSpc>
                <a:spcPct val="90000"/>
              </a:lnSpc>
              <a:defRPr sz="860" b="1">
                <a:solidFill>
                  <a:srgbClr val="536071"/>
                </a:solidFill>
              </a:defRPr>
            </a:pPr>
            <a:r>
              <a:t>Review synthesis; not Gemma output</a:t>
            </a:r>
          </a:p>
          <a:p>
            <a:pPr>
              <a:lnSpc>
                <a:spcPct val="98000"/>
              </a:lnSpc>
              <a:defRPr sz="825">
                <a:solidFill>
                  <a:srgbClr val="18273E"/>
                </a:solidFill>
              </a:defRPr>
            </a:pPr>
            <a:r>
              <a:t>Reviews agree the family is retained but PKDL is not named</a:t>
            </a:r>
          </a:p>
          <a:p>
            <a:pPr>
              <a:lnSpc>
                <a:spcPct val="98000"/>
              </a:lnSpc>
              <a:defRPr sz="825">
                <a:solidFill>
                  <a:srgbClr val="18273E"/>
                </a:solidFill>
              </a:defRPr>
            </a:pPr>
            <a:r>
              <a:t>Demo KB lacks a PKDL anchor; subtype limitation</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Runtime Support Returned by Demo KB</a:t>
            </a:r>
          </a:p>
          <a:p>
            <a:pPr>
              <a:lnSpc>
                <a:spcPct val="105000"/>
              </a:lnSpc>
              <a:defRPr sz="800">
                <a:solidFill>
                  <a:srgbClr val="18273E"/>
                </a:solidFill>
              </a:defRPr>
            </a:pPr>
            <a:r>
              <a:t>1. Visceral leishmaniasis: runtime support returned by the backend</a:t>
            </a:r>
          </a:p>
          <a:p>
            <a:pPr>
              <a:lnSpc>
                <a:spcPct val="105000"/>
              </a:lnSpc>
              <a:defRPr sz="800">
                <a:solidFill>
                  <a:srgbClr val="18273E"/>
                </a:solidFill>
              </a:defRPr>
            </a:pPr>
            <a:r>
              <a:t>2. Mucocutaneous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Case 3: PMC10026180_04 — Label-Conflict Stress Test</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t>LABEL CONFLICT</a:t>
            </a:r>
          </a:p>
          <a:p>
            <a:pPr>
              <a:defRPr sz="1100" b="1">
                <a:solidFill>
                  <a:srgbClr val="18273E"/>
                </a:solidFill>
              </a:defRPr>
            </a:pPr>
            <a:r>
              <a:t>Verified Non-Leish / pseudolabel CL</a:t>
            </a:r>
          </a:p>
        </p:txBody>
      </p:sp>
      <p:sp>
        <p:nvSpPr>
          <p:cNvPr id="6" name="Rectangle 5"/>
          <p:cNvSpPr/>
          <p:nvPr/>
        </p:nvSpPr>
        <p:spPr>
          <a:xfrm>
            <a:off x="2926080" y="1143000"/>
            <a:ext cx="2468880" cy="5029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t>MODEL RANK 1</a:t>
            </a:r>
          </a:p>
          <a:p>
            <a:pPr>
              <a:defRPr sz="1100" b="1">
                <a:solidFill>
                  <a:srgbClr val="18273E"/>
                </a:solidFill>
              </a:defRPr>
            </a:pPr>
            <a:r>
              <a:t>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CONFIDENCE</a:t>
            </a:r>
          </a:p>
          <a:p>
            <a:pPr>
              <a:defRPr sz="1100" b="1">
                <a:solidFill>
                  <a:srgbClr val="18273E"/>
                </a:solidFill>
              </a:defRPr>
            </a:pPr>
            <a: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TIME</a:t>
            </a:r>
          </a:p>
          <a:p>
            <a:pPr>
              <a:defRPr sz="1100" b="1">
                <a:solidFill>
                  <a:srgbClr val="18273E"/>
                </a:solidFill>
              </a:defRPr>
            </a:pPr>
            <a:r>
              <a:t>61.5s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Clinical Input (Blinded)</a:t>
            </a:r>
          </a:p>
          <a:p>
            <a:pPr>
              <a:lnSpc>
                <a:spcPct val="105000"/>
              </a:lnSpc>
              <a:defRPr sz="790">
                <a:solidFill>
                  <a:srgbClr val="18273E"/>
                </a:solidFill>
              </a:defRPr>
            </a:pPr>
            <a:r>
              <a:t>11-year-old girl with ataxia telangiectasia, recurrent respiratory and ear infections, low IgG, and a spreading nose rash extending to the nostrils and left cheek; the image/text are leishmaniasis-plausible but the pipeline labels conflict.</a:t>
            </a:r>
          </a:p>
          <a:p>
            <a:pPr>
              <a:lnSpc>
                <a:spcPct val="105000"/>
              </a:lnSpc>
              <a:defRPr sz="790">
                <a:solidFill>
                  <a:srgbClr val="18273E"/>
                </a:solidFill>
              </a:defRPr>
            </a:pPr>
            <a:r>
              <a:t>Held-out case absent from the official 121-case experimental retrieval corpus; full text is on slide 22.</a:t>
            </a:r>
          </a:p>
          <a:p>
            <a:pPr>
              <a:lnSpc>
                <a:spcPct val="105000"/>
              </a:lnSpc>
              <a:defRPr sz="790">
                <a:solidFill>
                  <a:srgbClr val="18273E"/>
                </a:solidFill>
              </a:defRPr>
            </a:pPr>
            <a: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t>Model Output Summary</a:t>
            </a:r>
          </a:p>
          <a:p>
            <a:pPr>
              <a:lnSpc>
                <a:spcPct val="105000"/>
              </a:lnSpc>
              <a:defRPr sz="900">
                <a:solidFill>
                  <a:srgbClr val="18273E"/>
                </a:solidFill>
              </a:defRPr>
            </a:pPr>
            <a:r>
              <a:t>Top diagnosis: Mucocutaneous Leishmaniasis (or other atypical infection)</a:t>
            </a:r>
          </a:p>
          <a:p>
            <a:pPr>
              <a:lnSpc>
                <a:spcPct val="105000"/>
              </a:lnSpc>
              <a:defRPr sz="900">
                <a:solidFill>
                  <a:srgbClr val="18273E"/>
                </a:solidFill>
              </a:defRPr>
            </a:pPr>
            <a:r>
              <a:t>Runtime support: 3 retrieved chunks</a:t>
            </a:r>
          </a:p>
          <a:p>
            <a:pPr>
              <a:lnSpc>
                <a:spcPct val="105000"/>
              </a:lnSpc>
              <a:defRPr sz="900">
                <a:solidFill>
                  <a:srgbClr val="18273E"/>
                </a:solidFill>
              </a:defRPr>
            </a:pPr>
            <a:r>
              <a:t>Output route: retrieval-supported response</a:t>
            </a:r>
          </a:p>
        </p:txBody>
      </p:sp>
      <p:pic>
        <p:nvPicPr>
          <p:cNvPr id="11" name="Picture 10" descr="image.png"/>
          <p:cNvPicPr>
            <a:picLocks noChangeAspect="1"/>
          </p:cNvPicPr>
          <p:nvPr/>
        </p:nvPicPr>
        <p:blipFill>
          <a:blip r:embed="rId2"/>
          <a:stretch>
            <a:fillRect/>
          </a:stretch>
        </p:blipFill>
        <p:spPr>
          <a:xfrm>
            <a:off x="5500055" y="1783080"/>
            <a:ext cx="1650612" cy="1049274"/>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t>Input image</a:t>
            </a:r>
          </a:p>
        </p:txBody>
      </p:sp>
      <p:sp>
        <p:nvSpPr>
          <p:cNvPr id="13" name="Rectangle 12"/>
          <p:cNvSpPr/>
          <p:nvPr/>
        </p:nvSpPr>
        <p:spPr>
          <a:xfrm>
            <a:off x="4617720" y="3154679"/>
            <a:ext cx="3794760" cy="86868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B03932"/>
                </a:solidFill>
              </a:defRPr>
            </a:pPr>
            <a:r>
              <a:t>LLM Council Review Synthesis</a:t>
            </a:r>
          </a:p>
          <a:p>
            <a:pPr algn="ctr">
              <a:lnSpc>
                <a:spcPct val="90000"/>
              </a:lnSpc>
              <a:defRPr sz="860" b="1">
                <a:solidFill>
                  <a:srgbClr val="536071"/>
                </a:solidFill>
              </a:defRPr>
            </a:pPr>
            <a:r>
              <a:t>Review synthesis; not Gemma output</a:t>
            </a:r>
          </a:p>
          <a:p>
            <a:pPr>
              <a:lnSpc>
                <a:spcPct val="98000"/>
              </a:lnSpc>
              <a:defRPr sz="825">
                <a:solidFill>
                  <a:srgbClr val="18273E"/>
                </a:solidFill>
              </a:defRPr>
            </a:pPr>
            <a:r>
              <a:t>Reviews flag a label conflict; full-text case is leishmaniasis-plausible</a:t>
            </a:r>
          </a:p>
          <a:p>
            <a:pPr>
              <a:lnSpc>
                <a:spcPct val="98000"/>
              </a:lnSpc>
              <a:defRPr sz="825">
                <a:solidFill>
                  <a:srgbClr val="18273E"/>
                </a:solidFill>
              </a:defRPr>
            </a:pPr>
            <a:r>
              <a:t>Live CL/MCL-family output is not specificity proof; confirmation required</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Runtime Support Returned by Demo KB</a:t>
            </a:r>
          </a:p>
          <a:p>
            <a:pPr>
              <a:lnSpc>
                <a:spcPct val="105000"/>
              </a:lnSpc>
              <a:defRPr sz="800">
                <a:solidFill>
                  <a:srgbClr val="18273E"/>
                </a:solidFill>
              </a:defRPr>
            </a:pPr>
            <a:r>
              <a:t>1. Cutaneous leishmaniasis: runtime support returned by the backend</a:t>
            </a:r>
          </a:p>
          <a:p>
            <a:pPr>
              <a:lnSpc>
                <a:spcPct val="105000"/>
              </a:lnSpc>
              <a:defRPr sz="800">
                <a:solidFill>
                  <a:srgbClr val="18273E"/>
                </a:solidFill>
              </a:defRPr>
            </a:pPr>
            <a:r>
              <a:t>2. 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5212080" cy="274320"/>
          </a:xfrm>
          <a:prstGeom prst="rect">
            <a:avLst/>
          </a:prstGeom>
          <a:noFill/>
        </p:spPr>
        <p:txBody>
          <a:bodyPr wrap="square" lIns="73152" rIns="73152" tIns="36576" bIns="36576">
            <a:noAutofit/>
          </a:bodyPr>
          <a:lstStyle/>
          <a:p>
            <a:pPr>
              <a:lnSpc>
                <a:spcPct val="108000"/>
              </a:lnSpc>
              <a:defRPr sz="1000" b="1">
                <a:solidFill>
                  <a:srgbClr val="536071"/>
                </a:solidFill>
              </a:defRPr>
            </a:pPr>
            <a:r>
              <a:t>MASTER THESIS DEFENSE</a:t>
            </a:r>
          </a:p>
        </p:txBody>
      </p:sp>
      <p:sp>
        <p:nvSpPr>
          <p:cNvPr id="4" name="TextBox 3"/>
          <p:cNvSpPr txBox="1"/>
          <p:nvPr/>
        </p:nvSpPr>
        <p:spPr>
          <a:xfrm>
            <a:off x="502920" y="1115568"/>
            <a:ext cx="5303520" cy="749808"/>
          </a:xfrm>
          <a:prstGeom prst="rect">
            <a:avLst/>
          </a:prstGeom>
          <a:noFill/>
        </p:spPr>
        <p:txBody>
          <a:bodyPr wrap="square" lIns="73152" rIns="73152" tIns="36576" bIns="36576">
            <a:noAutofit/>
          </a:bodyPr>
          <a:lstStyle/>
          <a:p>
            <a:pPr>
              <a:lnSpc>
                <a:spcPct val="108000"/>
              </a:lnSpc>
              <a:defRPr sz="3600" b="1">
                <a:solidFill>
                  <a:srgbClr val="18273E"/>
                </a:solidFill>
              </a:defRPr>
            </a:pPr>
            <a:r>
              <a:t>Thank You</a:t>
            </a:r>
          </a:p>
        </p:txBody>
      </p:sp>
      <p:sp>
        <p:nvSpPr>
          <p:cNvPr id="5" name="TextBox 4"/>
          <p:cNvSpPr txBox="1"/>
          <p:nvPr/>
        </p:nvSpPr>
        <p:spPr>
          <a:xfrm>
            <a:off x="502920" y="1938528"/>
            <a:ext cx="5303520" cy="530352"/>
          </a:xfrm>
          <a:prstGeom prst="rect">
            <a:avLst/>
          </a:prstGeom>
          <a:noFill/>
        </p:spPr>
        <p:txBody>
          <a:bodyPr wrap="square" lIns="73152" rIns="73152" tIns="36576" bIns="36576">
            <a:noAutofit/>
          </a:bodyPr>
          <a:lstStyle/>
          <a:p>
            <a:pPr>
              <a:lnSpc>
                <a:spcPct val="108000"/>
              </a:lnSpc>
              <a:defRPr sz="2400" b="1">
                <a:solidFill>
                  <a:srgbClr val="0F766E"/>
                </a:solidFill>
              </a:defRPr>
            </a:pPr>
            <a:r>
              <a:t>Questions?</a:t>
            </a:r>
          </a:p>
        </p:txBody>
      </p:sp>
      <p:sp>
        <p:nvSpPr>
          <p:cNvPr id="6" name="TextBox 5"/>
          <p:cNvSpPr txBox="1"/>
          <p:nvPr/>
        </p:nvSpPr>
        <p:spPr>
          <a:xfrm>
            <a:off x="502920" y="2487168"/>
            <a:ext cx="6583680" cy="219456"/>
          </a:xfrm>
          <a:prstGeom prst="rect">
            <a:avLst/>
          </a:prstGeom>
          <a:noFill/>
        </p:spPr>
        <p:txBody>
          <a:bodyPr wrap="square" lIns="73152" rIns="73152" tIns="36576" bIns="36576">
            <a:noAutofit/>
          </a:bodyPr>
          <a:lstStyle/>
          <a:p>
            <a:pPr>
              <a:lnSpc>
                <a:spcPct val="108000"/>
              </a:lnSpc>
              <a:defRPr sz="1200" b="1">
                <a:solidFill>
                  <a:srgbClr val="536071"/>
                </a:solidFill>
              </a:defRPr>
            </a:pPr>
            <a:r>
              <a:t>Feasible and traceable under constraints; not deployment-ready.</a:t>
            </a:r>
          </a:p>
        </p:txBody>
      </p:sp>
      <p:sp>
        <p:nvSpPr>
          <p:cNvPr id="7" name="Rectangle 6"/>
          <p:cNvSpPr/>
          <p:nvPr/>
        </p:nvSpPr>
        <p:spPr>
          <a:xfrm>
            <a:off x="502920" y="2852928"/>
            <a:ext cx="5029200" cy="27432"/>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27248"/>
            <a:ext cx="7955279" cy="438912"/>
          </a:xfrm>
          <a:prstGeom prst="rect">
            <a:avLst/>
          </a:prstGeom>
          <a:noFill/>
        </p:spPr>
        <p:txBody>
          <a:bodyPr wrap="square" lIns="73152" rIns="73152" tIns="36576" bIns="36576">
            <a:noAutofit/>
          </a:bodyPr>
          <a:lstStyle/>
          <a:p>
            <a:pPr>
              <a:lnSpc>
                <a:spcPct val="108000"/>
              </a:lnSpc>
              <a:defRPr sz="1500" b="1">
                <a:solidFill>
                  <a:srgbClr val="18273E"/>
                </a:solidFill>
              </a:defRPr>
            </a:pPr>
            <a:r>
              <a:t>Multimodal RAG for Leishmaniasis Diagnosis</a:t>
            </a:r>
          </a:p>
        </p:txBody>
      </p:sp>
      <p:sp>
        <p:nvSpPr>
          <p:cNvPr id="9" name="TextBox 8"/>
          <p:cNvSpPr txBox="1"/>
          <p:nvPr/>
        </p:nvSpPr>
        <p:spPr>
          <a:xfrm>
            <a:off x="502920" y="3749039"/>
            <a:ext cx="7955279" cy="310896"/>
          </a:xfrm>
          <a:prstGeom prst="rect">
            <a:avLst/>
          </a:prstGeom>
          <a:noFill/>
        </p:spPr>
        <p:txBody>
          <a:bodyPr wrap="square" lIns="73152" rIns="73152" tIns="36576" bIns="36576">
            <a:noAutofit/>
          </a:bodyPr>
          <a:lstStyle/>
          <a:p>
            <a:pPr>
              <a:lnSpc>
                <a:spcPct val="108000"/>
              </a:lnSpc>
              <a:defRPr sz="1200" b="1">
                <a:solidFill>
                  <a:srgbClr val="536071"/>
                </a:solidFill>
              </a:defRPr>
            </a:pPr>
            <a:r>
              <a:t>Nguyen Tuan Ngoc · Computer Science (M.Sc.)</a:t>
            </a:r>
          </a:p>
        </p:txBody>
      </p:sp>
      <p:sp>
        <p:nvSpPr>
          <p:cNvPr id="10" name="TextBox 9"/>
          <p:cNvSpPr txBox="1"/>
          <p:nvPr/>
        </p:nvSpPr>
        <p:spPr>
          <a:xfrm>
            <a:off x="502920" y="4151376"/>
            <a:ext cx="7955279" cy="274320"/>
          </a:xfrm>
          <a:prstGeom prst="rect">
            <a:avLst/>
          </a:prstGeom>
          <a:noFill/>
        </p:spPr>
        <p:txBody>
          <a:bodyPr wrap="square" lIns="73152" rIns="73152" tIns="36576" bIns="36576">
            <a:noAutofit/>
          </a:bodyPr>
          <a:lstStyle/>
          <a:p>
            <a:pPr>
              <a:lnSpc>
                <a:spcPct val="108000"/>
              </a:lnSpc>
              <a:defRPr sz="1000" b="0">
                <a:solidFill>
                  <a:srgbClr val="536071"/>
                </a:solidFill>
              </a:defRPr>
            </a:pPr>
            <a:r>
              <a:t>Vietnamese-German University · Hochschule Darmstadt (h_da)</a:t>
            </a:r>
          </a:p>
        </p:txBody>
      </p:sp>
      <p:pic>
        <p:nvPicPr>
          <p:cNvPr id="11" name="Picture 10" descr="Vietnamese-German University and Hochschule Darmstadt (Darmstadt University of Applied Sciences) logos." title="VGU and h_da institutional logos"/>
          <p:cNvPicPr>
            <a:picLocks noChangeAspect="1"/>
          </p:cNvPicPr>
          <p:nvPr/>
        </p:nvPicPr>
        <p:blipFill>
          <a:blip r:embed="rId2"/>
          <a:stretch>
            <a:fillRect/>
          </a:stretch>
        </p:blipFill>
        <p:spPr>
          <a:xfrm>
            <a:off x="6693408" y="73152"/>
            <a:ext cx="2048256" cy="138074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Full Blinded Input: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PMC7516301_01</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INPUT MODE</a:t>
            </a:r>
          </a:p>
          <a:p>
            <a:pPr>
              <a:defRPr sz="1100" b="1">
                <a:solidFill>
                  <a:srgbClr val="18273E"/>
                </a:solidFill>
              </a:defRPr>
            </a:pPr>
            <a: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appendix</a:t>
            </a:r>
          </a:p>
        </p:txBody>
      </p:sp>
      <p:sp>
        <p:nvSpPr>
          <p:cNvPr id="9" name="Rectangle 8"/>
          <p:cNvSpPr/>
          <p:nvPr/>
        </p:nvSpPr>
        <p:spPr>
          <a:xfrm>
            <a:off x="502920" y="1645920"/>
            <a:ext cx="5074920"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Full blinded clinical input</a:t>
            </a:r>
          </a:p>
          <a:p>
            <a:pPr>
              <a:lnSpc>
                <a:spcPct val="100000"/>
              </a:lnSpc>
              <a:spcAft>
                <a:spcPts val="0"/>
              </a:spcAft>
              <a:defRPr sz="980">
                <a:solidFill>
                  <a:srgbClr val="18273E"/>
                </a:solidFill>
              </a:defRPr>
            </a:pPr>
            <a:r>
              <a:t>A 19-year-old man from Syria (arrived in Denmark in 2015) presented in June 2016 with a 6-month history of throat irritation that progressed over several days to severe throat pain and fever. He had no history of severe illness or excess infections; examination noted a scar on his arm that was suggestive of previous cutaneous leishmaniasis. Laryngoscopy demonstrated massive edema of the mucosa of both the pharynx and larynx; the epiglottis and uvula were swollen and red with papilloma-like lesions. Endoscopic images show marked swelling and papillomatous-appearing mucosal lesions of the oropharynx and larynx.</a:t>
            </a:r>
          </a:p>
        </p:txBody>
      </p:sp>
      <p:pic>
        <p:nvPicPr>
          <p:cNvPr id="10" name="Picture 9" descr="PMC7516301_01_input.png"/>
          <p:cNvPicPr>
            <a:picLocks noChangeAspect="1"/>
          </p:cNvPicPr>
          <p:nvPr/>
        </p:nvPicPr>
        <p:blipFill>
          <a:blip r:embed="rId2"/>
          <a:stretch>
            <a:fillRect/>
          </a:stretch>
        </p:blipFill>
        <p:spPr>
          <a:xfrm>
            <a:off x="5833872" y="2057959"/>
            <a:ext cx="2331720" cy="1836824"/>
          </a:xfrm>
          <a:prstGeom prst="rect">
            <a:avLst/>
          </a:prstGeom>
        </p:spPr>
      </p:pic>
      <p:sp>
        <p:nvSpPr>
          <p:cNvPr id="11" name="TextBox 10"/>
          <p:cNvSpPr txBox="1"/>
          <p:nvPr/>
        </p:nvSpPr>
        <p:spPr>
          <a:xfrm>
            <a:off x="5833872" y="4032504"/>
            <a:ext cx="2331720" cy="201168"/>
          </a:xfrm>
          <a:prstGeom prst="rect">
            <a:avLst/>
          </a:prstGeom>
          <a:noFill/>
        </p:spPr>
        <p:txBody>
          <a:bodyPr wrap="square" lIns="73152" rIns="73152" tIns="36576" bIns="36576">
            <a:noAutofit/>
          </a:bodyPr>
          <a:lstStyle/>
          <a:p>
            <a:pPr>
              <a:lnSpc>
                <a:spcPct val="108000"/>
              </a:lnSpc>
              <a:defRPr sz="750" b="1">
                <a:solidFill>
                  <a:srgbClr val="536071"/>
                </a:solidFill>
              </a:defRPr>
            </a:pPr>
            <a:r>
              <a:t>Input image used in test</a:t>
            </a:r>
          </a:p>
        </p:txBody>
      </p:sp>
      <p:sp>
        <p:nvSpPr>
          <p:cNvPr id="12" name="TextBox 11"/>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t>Full blinded clinical input: diagnosis, title, abstract, captions, and confirmatory findings withheld.</a:t>
            </a:r>
          </a:p>
        </p:txBody>
      </p:sp>
      <p:sp>
        <p:nvSpPr>
          <p:cNvPr id="13" name="TextBox 12"/>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4" name="TextBox 13"/>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Full Blinded Input: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PMC7456484_01</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INPUT MODE</a:t>
            </a:r>
          </a:p>
          <a:p>
            <a:pPr>
              <a:defRPr sz="1100" b="1">
                <a:solidFill>
                  <a:srgbClr val="18273E"/>
                </a:solidFill>
              </a:defRPr>
            </a:pPr>
            <a: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appendix</a:t>
            </a:r>
          </a:p>
        </p:txBody>
      </p:sp>
      <p:sp>
        <p:nvSpPr>
          <p:cNvPr id="9" name="Rectangle 8"/>
          <p:cNvSpPr/>
          <p:nvPr/>
        </p:nvSpPr>
        <p:spPr>
          <a:xfrm>
            <a:off x="502920" y="1645920"/>
            <a:ext cx="3877056"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Full blinded clinical input</a:t>
            </a:r>
          </a:p>
          <a:p>
            <a:pPr>
              <a:lnSpc>
                <a:spcPct val="100000"/>
              </a:lnSpc>
              <a:spcAft>
                <a:spcPts val="0"/>
              </a:spcAft>
              <a:defRPr sz="885">
                <a:solidFill>
                  <a:srgbClr val="18273E"/>
                </a:solidFill>
              </a:defRPr>
            </a:pPr>
            <a:r>
              <a:t>A 37‑year‑old woman from eastern Bhutan presented in 2014 with extensive erythematous plaques on the forehead, central face, perioral area, and cheeks extending to both ears. The left eye was damaged and there was marked swelling of the right eyelid with lid scarring and lagophthalmos. Plaques extended to the nasal mucosa without intraoral involvement. Other skin and systemic examinations were reportedly normal.</a:t>
            </a:r>
          </a:p>
          <a:p>
            <a:pPr>
              <a:lnSpc>
                <a:spcPct val="100000"/>
              </a:lnSpc>
              <a:spcAft>
                <a:spcPts val="0"/>
              </a:spcAft>
              <a:defRPr sz="885">
                <a:solidFill>
                  <a:srgbClr val="18273E"/>
                </a:solidFill>
              </a:defRPr>
            </a:pPr>
          </a:p>
          <a:p>
            <a:pPr>
              <a:lnSpc>
                <a:spcPct val="100000"/>
              </a:lnSpc>
              <a:spcAft>
                <a:spcPts val="0"/>
              </a:spcAft>
              <a:defRPr sz="885">
                <a:solidFill>
                  <a:srgbClr val="18273E"/>
                </a:solidFill>
              </a:defRPr>
            </a:pPr>
            <a:r>
              <a:t>Laboratory testing showed hemoglobin 11.7 g/dl, total leukocyte count 6,390/mm3 (neutrophils 62%, lymphocytes 28%), platelets 191,000/mm3, ESR 39 mm in the 1st hour, SGOT 35 U/L, SGPT 68 U/L, bilirubin 1 mg/dl, urea 21 mg/dl, creatinine 0.8 mg/dl, fasting glucose 80 mg/dl. Tests for HIV, hepatitis B and C, and syphilis were negative. Chest radiograph, ECG, and abdominal ultrasound were normal.</a:t>
            </a:r>
          </a:p>
        </p:txBody>
      </p:sp>
      <p:sp>
        <p:nvSpPr>
          <p:cNvPr id="10" name="Rectangle 9"/>
          <p:cNvSpPr/>
          <p:nvPr/>
        </p:nvSpPr>
        <p:spPr>
          <a:xfrm>
            <a:off x="4535424" y="1645920"/>
            <a:ext cx="3877056"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Full blinded clinical input (continued)</a:t>
            </a:r>
          </a:p>
          <a:p>
            <a:pPr>
              <a:lnSpc>
                <a:spcPct val="100000"/>
              </a:lnSpc>
              <a:spcAft>
                <a:spcPts val="0"/>
              </a:spcAft>
              <a:defRPr sz="885">
                <a:solidFill>
                  <a:srgbClr val="18273E"/>
                </a:solidFill>
              </a:defRPr>
            </a:pPr>
            <a:r>
              <a:t>Relevant past history: in February 1999, during pregnancy she had fever, weight loss, anemia, and hepatomegaly and “was diagnosed as VL and treated with SSG injections 850 mg/day for 20 days.” Seven months after that illness she developed erythematous lesions on her forehead that spread over the face. In 2002 a dermatologist recorded papules and plaques over the cheeks, periorbital, and perioral areas that “were suspected as chronic dermatitis or cutaneous lupus erythematosus,” and she received topical, intralesional, and oral corticosteroids. In 2007 a WHO consultant for kala azar “suspected PKDL.” Skin biopsies performed in 2006, 2010, and 2013 “failed to confirm leishmaniasis,” and no firm diagnosis had been recorded.</a:t>
            </a:r>
          </a:p>
        </p:txBody>
      </p:sp>
      <p:sp>
        <p:nvSpPr>
          <p:cNvPr id="11" name="TextBox 10"/>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t>Full blinded clinical input: diagnosis, title, abstract, captions, and confirmatory findings withheld.</a:t>
            </a:r>
          </a:p>
        </p:txBody>
      </p:sp>
      <p:sp>
        <p:nvSpPr>
          <p:cNvPr id="12" name="TextBox 11"/>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3" name="TextBox 12"/>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Full Blinded Input: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PMC10026180_04</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INPUT MODE</a:t>
            </a:r>
          </a:p>
          <a:p>
            <a:pPr>
              <a:defRPr sz="1100" b="1">
                <a:solidFill>
                  <a:srgbClr val="18273E"/>
                </a:solidFill>
              </a:defRPr>
            </a:pPr>
            <a: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appendix</a:t>
            </a:r>
          </a:p>
        </p:txBody>
      </p:sp>
      <p:sp>
        <p:nvSpPr>
          <p:cNvPr id="9" name="Rectangle 8"/>
          <p:cNvSpPr/>
          <p:nvPr/>
        </p:nvSpPr>
        <p:spPr>
          <a:xfrm>
            <a:off x="502920" y="1645920"/>
            <a:ext cx="5687568"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Full blinded clinical input</a:t>
            </a:r>
          </a:p>
          <a:p>
            <a:pPr>
              <a:lnSpc>
                <a:spcPct val="100000"/>
              </a:lnSpc>
              <a:spcAft>
                <a:spcPts val="0"/>
              </a:spcAft>
              <a:defRPr sz="875">
                <a:solidFill>
                  <a:srgbClr val="18273E"/>
                </a:solidFill>
              </a:defRPr>
            </a:pPr>
            <a:r>
              <a:t>An 11-year-old Arab girl with a known diagnosis of ataxia telangiectasia (diagnosed at 1 year) presented with a spreading skin rash on her nose that extended to the nostrils and her left cheek. Family history included consanguineous parents and another sibling with AT. Her childhood course included ataxia, recurrent lung and ear infections, sclerosing cholangitis, hypothyroidism, and later diffuse large B‑cell lymphoma. She used a wheelchair and had multiple café‑au‑lait spots and telangiectasias. Immunologic testing showed a decreased immunoglobulin level (IgG 516 mg/L) with lymphocyte count and function reported as normal. Her baseline therapies included monthly IVIG, inhaled budesonide and fluticasone, and levothyroxine.</a:t>
            </a:r>
          </a:p>
          <a:p>
            <a:pPr>
              <a:lnSpc>
                <a:spcPct val="100000"/>
              </a:lnSpc>
              <a:spcAft>
                <a:spcPts val="0"/>
              </a:spcAft>
              <a:defRPr sz="875">
                <a:solidFill>
                  <a:srgbClr val="18273E"/>
                </a:solidFill>
              </a:defRPr>
            </a:pPr>
          </a:p>
          <a:p>
            <a:pPr>
              <a:lnSpc>
                <a:spcPct val="100000"/>
              </a:lnSpc>
              <a:spcAft>
                <a:spcPts val="0"/>
              </a:spcAft>
              <a:defRPr sz="875">
                <a:solidFill>
                  <a:srgbClr val="18273E"/>
                </a:solidFill>
              </a:defRPr>
            </a:pPr>
            <a:r>
              <a:t>Initially she received amoxicillin–clavulanic acid and topical chloramphenicol without clinical response. On examination, the tip of the nose had an erythematous plaque with a central erosion and a circinate‑elevated border with overlying scattered pustules; the nose bridge and nostrils had small erythematous erosions. An atypical infection was considered.</a:t>
            </a:r>
          </a:p>
        </p:txBody>
      </p:sp>
      <p:pic>
        <p:nvPicPr>
          <p:cNvPr id="10" name="Picture 9" descr="PMC10026180_04_input.png"/>
          <p:cNvPicPr>
            <a:picLocks noChangeAspect="1"/>
          </p:cNvPicPr>
          <p:nvPr/>
        </p:nvPicPr>
        <p:blipFill>
          <a:blip r:embed="rId2"/>
          <a:stretch>
            <a:fillRect/>
          </a:stretch>
        </p:blipFill>
        <p:spPr>
          <a:xfrm>
            <a:off x="6382512" y="2401857"/>
            <a:ext cx="1783080" cy="1149029"/>
          </a:xfrm>
          <a:prstGeom prst="rect">
            <a:avLst/>
          </a:prstGeom>
        </p:spPr>
      </p:pic>
      <p:sp>
        <p:nvSpPr>
          <p:cNvPr id="11" name="TextBox 10"/>
          <p:cNvSpPr txBox="1"/>
          <p:nvPr/>
        </p:nvSpPr>
        <p:spPr>
          <a:xfrm>
            <a:off x="6382512" y="3941064"/>
            <a:ext cx="1783080" cy="201168"/>
          </a:xfrm>
          <a:prstGeom prst="rect">
            <a:avLst/>
          </a:prstGeom>
          <a:noFill/>
        </p:spPr>
        <p:txBody>
          <a:bodyPr wrap="square" lIns="73152" rIns="73152" tIns="36576" bIns="36576">
            <a:noAutofit/>
          </a:bodyPr>
          <a:lstStyle/>
          <a:p>
            <a:pPr>
              <a:lnSpc>
                <a:spcPct val="108000"/>
              </a:lnSpc>
              <a:defRPr sz="750" b="1">
                <a:solidFill>
                  <a:srgbClr val="536071"/>
                </a:solidFill>
              </a:defRPr>
            </a:pPr>
            <a:r>
              <a:t>Input image used in test</a:t>
            </a:r>
          </a:p>
        </p:txBody>
      </p:sp>
      <p:sp>
        <p:nvSpPr>
          <p:cNvPr id="12" name="TextBox 11"/>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t>Full blinded clinical input: diagnosis, title, abstract, captions, and confirmatory findings withheld.</a:t>
            </a:r>
          </a:p>
        </p:txBody>
      </p:sp>
      <p:sp>
        <p:nvSpPr>
          <p:cNvPr id="13" name="TextBox 12"/>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t>Live case inspection - fresh local-GPU demo output</a:t>
            </a:r>
          </a:p>
        </p:txBody>
      </p:sp>
      <p:sp>
        <p:nvSpPr>
          <p:cNvPr id="14" name="TextBox 13"/>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Gemma 4 RAG/No-RAG Backup: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PMC7516301_01</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SILVER REFERENCE</a:t>
            </a:r>
          </a:p>
          <a:p>
            <a:pPr>
              <a:defRPr sz="1100" b="1">
                <a:solidFill>
                  <a:srgbClr val="18273E"/>
                </a:solidFill>
              </a:defRPr>
            </a:pPr>
            <a:r>
              <a:t>MCL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t>NO-RAG condition</a:t>
            </a:r>
          </a:p>
          <a:p>
            <a:pPr>
              <a:lnSpc>
                <a:spcPct val="105000"/>
              </a:lnSpc>
              <a:defRPr sz="830">
                <a:solidFill>
                  <a:srgbClr val="18273E"/>
                </a:solidFill>
              </a:defRPr>
            </a:pPr>
            <a:r>
              <a:t>Rank 1 type: Non-Leishmaniasis</a:t>
            </a:r>
          </a:p>
          <a:p>
            <a:pPr>
              <a:lnSpc>
                <a:spcPct val="105000"/>
              </a:lnSpc>
              <a:defRPr sz="830">
                <a:solidFill>
                  <a:srgbClr val="18273E"/>
                </a:solidFill>
              </a:defRPr>
            </a:pPr>
            <a:r>
              <a:t>Rank 1: Non-Leishmaniasis</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0</a:t>
            </a:r>
          </a:p>
          <a:p>
            <a:pPr>
              <a:lnSpc>
                <a:spcPct val="105000"/>
              </a:lnSpc>
              <a:defRPr sz="830">
                <a:solidFill>
                  <a:srgbClr val="18273E"/>
                </a:solidFill>
              </a:defRPr>
            </a:pPr>
            <a: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RAG condition</a:t>
            </a:r>
          </a:p>
          <a:p>
            <a:pPr>
              <a:lnSpc>
                <a:spcPct val="105000"/>
              </a:lnSpc>
              <a:defRPr sz="830">
                <a:solidFill>
                  <a:srgbClr val="18273E"/>
                </a:solidFill>
              </a:defRPr>
            </a:pPr>
            <a:r>
              <a:t>Rank 1 type: MCL</a:t>
            </a:r>
          </a:p>
          <a:p>
            <a:pPr>
              <a:lnSpc>
                <a:spcPct val="105000"/>
              </a:lnSpc>
              <a:defRPr sz="830">
                <a:solidFill>
                  <a:srgbClr val="18273E"/>
                </a:solidFill>
              </a:defRPr>
            </a:pPr>
            <a:r>
              <a:t>Rank 1: Mucosal Leishmaniasis (Mucocutaneous Leishmaniasis)</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3</a:t>
            </a:r>
          </a:p>
          <a:p>
            <a:pPr>
              <a:lnSpc>
                <a:spcPct val="105000"/>
              </a:lnSpc>
              <a:defRPr sz="830">
                <a:solidFill>
                  <a:srgbClr val="18273E"/>
                </a:solidFill>
              </a:defRPr>
            </a:pPr>
            <a: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Presentation interpretation</a:t>
            </a:r>
          </a:p>
          <a:p>
            <a:pPr>
              <a:lnSpc>
                <a:spcPct val="105000"/>
              </a:lnSpc>
              <a:defRPr sz="860">
                <a:solidFill>
                  <a:srgbClr val="18273E"/>
                </a:solidFill>
              </a:defRPr>
            </a:pPr>
            <a:r>
              <a:t>Retrieval changed this selected backup example from Non-Leishmaniasis to MCL in the official Gemma 4 experiment-pipeline comparison.</a:t>
            </a:r>
          </a:p>
          <a:p>
            <a:pPr>
              <a:lnSpc>
                <a:spcPct val="105000"/>
              </a:lnSpc>
              <a:defRPr sz="860">
                <a:solidFill>
                  <a:srgbClr val="18273E"/>
                </a:solidFill>
              </a:defRPr>
            </a:pPr>
            <a:r>
              <a:t>Selected case-level backup only; aggregate thesis metrics remain the benchmark.</a:t>
            </a:r>
          </a:p>
          <a:p>
            <a:pPr>
              <a:lnSpc>
                <a:spcPct val="105000"/>
              </a:lnSpc>
              <a:defRPr sz="860">
                <a:solidFill>
                  <a:srgbClr val="18273E"/>
                </a:solidFill>
              </a:defRPr>
            </a:pPr>
            <a: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official Gemma 4 experiment-pipeline comparison</a:t>
            </a:r>
          </a:p>
        </p:txBody>
      </p:sp>
      <p:sp>
        <p:nvSpPr>
          <p:cNvPr id="14" name="TextBox 13"/>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Gemma 4 RAG/No-RAG Backup: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PMC7456484_01</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SILVER REFERENCE</a:t>
            </a:r>
          </a:p>
          <a:p>
            <a:pPr>
              <a:defRPr sz="1100" b="1">
                <a:solidFill>
                  <a:srgbClr val="18273E"/>
                </a:solidFill>
              </a:defRPr>
            </a:pPr>
            <a:r>
              <a:t>PKDL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t>NO-RAG condition</a:t>
            </a:r>
          </a:p>
          <a:p>
            <a:pPr>
              <a:lnSpc>
                <a:spcPct val="105000"/>
              </a:lnSpc>
              <a:defRPr sz="830">
                <a:solidFill>
                  <a:srgbClr val="18273E"/>
                </a:solidFill>
              </a:defRPr>
            </a:pPr>
            <a:r>
              <a:t>Rank 1 type: MCL</a:t>
            </a:r>
          </a:p>
          <a:p>
            <a:pPr>
              <a:lnSpc>
                <a:spcPct val="105000"/>
              </a:lnSpc>
              <a:defRPr sz="830">
                <a:solidFill>
                  <a:srgbClr val="18273E"/>
                </a:solidFill>
              </a:defRPr>
            </a:pPr>
            <a:r>
              <a:t>Rank 1: Mucocutaneous Leishmaniasis (MCL)</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0</a:t>
            </a:r>
          </a:p>
          <a:p>
            <a:pPr>
              <a:lnSpc>
                <a:spcPct val="105000"/>
              </a:lnSpc>
              <a:defRPr sz="830">
                <a:solidFill>
                  <a:srgbClr val="18273E"/>
                </a:solidFill>
              </a:defRPr>
            </a:pPr>
            <a: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RAG condition</a:t>
            </a:r>
          </a:p>
          <a:p>
            <a:pPr>
              <a:lnSpc>
                <a:spcPct val="105000"/>
              </a:lnSpc>
              <a:defRPr sz="830">
                <a:solidFill>
                  <a:srgbClr val="18273E"/>
                </a:solidFill>
              </a:defRPr>
            </a:pPr>
            <a:r>
              <a:t>Rank 1 type: MCL</a:t>
            </a:r>
          </a:p>
          <a:p>
            <a:pPr>
              <a:lnSpc>
                <a:spcPct val="105000"/>
              </a:lnSpc>
              <a:defRPr sz="830">
                <a:solidFill>
                  <a:srgbClr val="18273E"/>
                </a:solidFill>
              </a:defRPr>
            </a:pPr>
            <a:r>
              <a:t>Rank 1: Mucocutaneous Leishmaniasis (Mucocutaneous form)</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1</a:t>
            </a:r>
          </a:p>
          <a:p>
            <a:pPr>
              <a:lnSpc>
                <a:spcPct val="105000"/>
              </a:lnSpc>
              <a:defRPr sz="830">
                <a:solidFill>
                  <a:srgbClr val="18273E"/>
                </a:solidFill>
              </a:defRPr>
            </a:pPr>
            <a: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Presentation interpretation</a:t>
            </a:r>
          </a:p>
          <a:p>
            <a:pPr>
              <a:lnSpc>
                <a:spcPct val="105000"/>
              </a:lnSpc>
              <a:defRPr sz="860">
                <a:solidFill>
                  <a:srgbClr val="18273E"/>
                </a:solidFill>
              </a:defRPr>
            </a:pPr>
            <a:r>
              <a:t>Both conditions remain inside the leishmaniasis family but miss the PKDL subtype, so this remains a subtype-resolution challenge.</a:t>
            </a:r>
          </a:p>
          <a:p>
            <a:pPr>
              <a:lnSpc>
                <a:spcPct val="105000"/>
              </a:lnSpc>
              <a:defRPr sz="860">
                <a:solidFill>
                  <a:srgbClr val="18273E"/>
                </a:solidFill>
              </a:defRPr>
            </a:pPr>
            <a:r>
              <a:t>Selected case-level backup only; aggregate thesis metrics remain the benchmark.</a:t>
            </a:r>
          </a:p>
          <a:p>
            <a:pPr>
              <a:lnSpc>
                <a:spcPct val="105000"/>
              </a:lnSpc>
              <a:defRPr sz="860">
                <a:solidFill>
                  <a:srgbClr val="18273E"/>
                </a:solidFill>
              </a:defRPr>
            </a:pPr>
            <a: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official Gemma 4 experiment-pipeline comparison</a:t>
            </a:r>
          </a:p>
        </p:txBody>
      </p:sp>
      <p:sp>
        <p:nvSpPr>
          <p:cNvPr id="14" name="TextBox 13"/>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Gemma 4 RAG/No-RAG Backup: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PMC10026180_04</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SILVER REFERENCE</a:t>
            </a:r>
          </a:p>
          <a:p>
            <a:pPr>
              <a:defRPr sz="1100" b="1">
                <a:solidFill>
                  <a:srgbClr val="18273E"/>
                </a:solidFill>
              </a:defRPr>
            </a:pPr>
            <a:r>
              <a:t>verified Non-Leish / pseudolabel CL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SOURCE</a:t>
            </a:r>
          </a:p>
          <a:p>
            <a:pPr>
              <a:defRPr sz="1100" b="1">
                <a:solidFill>
                  <a:srgbClr val="18273E"/>
                </a:solidFill>
              </a:defRPr>
            </a:pPr>
            <a: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t>NO-RAG condition</a:t>
            </a:r>
          </a:p>
          <a:p>
            <a:pPr>
              <a:lnSpc>
                <a:spcPct val="105000"/>
              </a:lnSpc>
              <a:defRPr sz="830">
                <a:solidFill>
                  <a:srgbClr val="18273E"/>
                </a:solidFill>
              </a:defRPr>
            </a:pPr>
            <a:r>
              <a:t>Rank 1 type: Non-Leishmaniasis</a:t>
            </a:r>
          </a:p>
          <a:p>
            <a:pPr>
              <a:lnSpc>
                <a:spcPct val="105000"/>
              </a:lnSpc>
              <a:defRPr sz="830">
                <a:solidFill>
                  <a:srgbClr val="18273E"/>
                </a:solidFill>
              </a:defRPr>
            </a:pPr>
            <a:r>
              <a:t>Rank 1: Mucocutaneous infection/Inflammatory dermatosis secondary to underlying i...</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0</a:t>
            </a:r>
          </a:p>
          <a:p>
            <a:pPr>
              <a:lnSpc>
                <a:spcPct val="105000"/>
              </a:lnSpc>
              <a:defRPr sz="830">
                <a:solidFill>
                  <a:srgbClr val="18273E"/>
                </a:solidFill>
              </a:defRPr>
            </a:pPr>
            <a: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RAG condition</a:t>
            </a:r>
          </a:p>
          <a:p>
            <a:pPr>
              <a:lnSpc>
                <a:spcPct val="105000"/>
              </a:lnSpc>
              <a:defRPr sz="830">
                <a:solidFill>
                  <a:srgbClr val="18273E"/>
                </a:solidFill>
              </a:defRPr>
            </a:pPr>
            <a:r>
              <a:t>Rank 1 type: Non-Leishmaniasis</a:t>
            </a:r>
          </a:p>
          <a:p>
            <a:pPr>
              <a:lnSpc>
                <a:spcPct val="105000"/>
              </a:lnSpc>
              <a:defRPr sz="830">
                <a:solidFill>
                  <a:srgbClr val="18273E"/>
                </a:solidFill>
              </a:defRPr>
            </a:pPr>
            <a:r>
              <a:t>Rank 1: Mucocutaneous infection/Inflammatory dermatosis secondary to underlying i...</a:t>
            </a:r>
          </a:p>
          <a:p>
            <a:pPr>
              <a:lnSpc>
                <a:spcPct val="105000"/>
              </a:lnSpc>
              <a:defRPr sz="830">
                <a:solidFill>
                  <a:srgbClr val="18273E"/>
                </a:solidFill>
              </a:defRPr>
            </a:pPr>
            <a:r>
              <a:t>Confidence: High</a:t>
            </a:r>
          </a:p>
          <a:p>
            <a:pPr>
              <a:lnSpc>
                <a:spcPct val="105000"/>
              </a:lnSpc>
              <a:defRPr sz="830">
                <a:solidFill>
                  <a:srgbClr val="18273E"/>
                </a:solidFill>
              </a:defRPr>
            </a:pPr>
            <a:r>
              <a:t>Retrieved context chunks: 0</a:t>
            </a:r>
          </a:p>
          <a:p>
            <a:pPr>
              <a:lnSpc>
                <a:spcPct val="105000"/>
              </a:lnSpc>
              <a:defRPr sz="830">
                <a:solidFill>
                  <a:srgbClr val="18273E"/>
                </a:solidFill>
              </a:defRPr>
            </a:pPr>
            <a: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t>Presentation interpretation</a:t>
            </a:r>
          </a:p>
          <a:p>
            <a:pPr>
              <a:lnSpc>
                <a:spcPct val="105000"/>
              </a:lnSpc>
              <a:defRPr sz="860">
                <a:solidFill>
                  <a:srgbClr val="18273E"/>
                </a:solidFill>
              </a:defRPr>
            </a:pPr>
            <a:r>
              <a:t>The official comparison returns Non-Leishmaniasis in both conditions, but the full-text live demo and LLM council reviews make this a label-conflict/evidence-attribution stress test, not specificity proof.</a:t>
            </a:r>
          </a:p>
          <a:p>
            <a:pPr>
              <a:lnSpc>
                <a:spcPct val="105000"/>
              </a:lnSpc>
              <a:defRPr sz="860">
                <a:solidFill>
                  <a:srgbClr val="18273E"/>
                </a:solidFill>
              </a:defRPr>
            </a:pPr>
            <a:r>
              <a:t>Selected case-level backup only; aggregate thesis metrics remain the benchmark.</a:t>
            </a:r>
          </a:p>
          <a:p>
            <a:pPr>
              <a:lnSpc>
                <a:spcPct val="105000"/>
              </a:lnSpc>
              <a:defRPr sz="860">
                <a:solidFill>
                  <a:srgbClr val="18273E"/>
                </a:solidFill>
              </a:defRPr>
            </a:pPr>
            <a: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official Gemma 4 experiment-pipeline comparison</a:t>
            </a:r>
          </a:p>
        </p:txBody>
      </p:sp>
      <p:sp>
        <p:nvSpPr>
          <p:cNvPr id="14" name="TextBox 13"/>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Official RAG Trace: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PMC7516301_01</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RETRIEVER</a:t>
            </a:r>
          </a:p>
          <a:p>
            <a:pPr>
              <a:defRPr sz="1100" b="1">
                <a:solidFill>
                  <a:srgbClr val="18273E"/>
                </a:solidFill>
              </a:defRPr>
            </a:pPr>
            <a: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RERANK</a:t>
            </a:r>
          </a:p>
          <a:p>
            <a:pPr>
              <a:defRPr sz="1100" b="1">
                <a:solidFill>
                  <a:srgbClr val="18273E"/>
                </a:solidFill>
              </a:defRPr>
            </a:pPr>
            <a: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TOP K</a:t>
            </a:r>
          </a:p>
          <a:p>
            <a:pPr>
              <a:defRPr sz="1100" b="1">
                <a:solidFill>
                  <a:srgbClr val="18273E"/>
                </a:solidFill>
              </a:defRPr>
            </a:pPr>
            <a: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t>qid: PMC7516301_01::Q1_Q3_multimodal_diagnosis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1</a:t>
            </a:r>
          </a:p>
          <a:p>
            <a:pPr>
              <a:lnSpc>
                <a:spcPct val="100000"/>
              </a:lnSpc>
              <a:spcAft>
                <a:spcPts val="0"/>
              </a:spcAft>
              <a:defRPr sz="580">
                <a:solidFill>
                  <a:srgbClr val="18273E"/>
                </a:solidFill>
              </a:defRPr>
            </a:pPr>
            <a:r>
              <a:t>doc_id: PMC7528117_01</a:t>
            </a:r>
          </a:p>
          <a:p>
            <a:pPr>
              <a:lnSpc>
                <a:spcPct val="100000"/>
              </a:lnSpc>
              <a:spcAft>
                <a:spcPts val="0"/>
              </a:spcAft>
              <a:defRPr sz="580">
                <a:solidFill>
                  <a:srgbClr val="18273E"/>
                </a:solidFill>
              </a:defRPr>
            </a:pPr>
            <a:r>
              <a:t>score: 0.03301807008521583</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52‑year‑old woman who works in sugarcane fields in a rural area was referred to Oral Medicine for evaluation of a granulomatous lesion on the palate and for hoarseness that she thought followed a flu 3 months earlier. According</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2</a:t>
            </a:r>
          </a:p>
          <a:p>
            <a:pPr>
              <a:lnSpc>
                <a:spcPct val="100000"/>
              </a:lnSpc>
              <a:spcAft>
                <a:spcPts val="0"/>
              </a:spcAft>
              <a:defRPr sz="580">
                <a:solidFill>
                  <a:srgbClr val="18273E"/>
                </a:solidFill>
              </a:defRPr>
            </a:pPr>
            <a:r>
              <a:t>doc_id: PMC7527865_05</a:t>
            </a:r>
          </a:p>
          <a:p>
            <a:pPr>
              <a:lnSpc>
                <a:spcPct val="100000"/>
              </a:lnSpc>
              <a:spcAft>
                <a:spcPts val="0"/>
              </a:spcAft>
              <a:defRPr sz="580">
                <a:solidFill>
                  <a:srgbClr val="18273E"/>
                </a:solidFill>
              </a:defRPr>
            </a:pPr>
            <a:r>
              <a:t>score: 0.01497737556561086</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30-year-old Caucasian man, unemployed, HIV-negative and with no other concomitant infections, presented in 2014 with a papule on the inferior eyelid of the right eye. His past history included, in 2008, an isolated nodulation in</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3</a:t>
            </a:r>
          </a:p>
          <a:p>
            <a:pPr>
              <a:lnSpc>
                <a:spcPct val="100000"/>
              </a:lnSpc>
              <a:spcAft>
                <a:spcPts val="0"/>
              </a:spcAft>
              <a:defRPr sz="580">
                <a:solidFill>
                  <a:srgbClr val="18273E"/>
                </a:solidFill>
              </a:defRPr>
            </a:pPr>
            <a:r>
              <a:t>doc_id: PMC7585787_01</a:t>
            </a:r>
          </a:p>
          <a:p>
            <a:pPr>
              <a:lnSpc>
                <a:spcPct val="100000"/>
              </a:lnSpc>
              <a:spcAft>
                <a:spcPts val="0"/>
              </a:spcAft>
              <a:defRPr sz="580">
                <a:solidFill>
                  <a:srgbClr val="18273E"/>
                </a:solidFill>
              </a:defRPr>
            </a:pPr>
            <a:r>
              <a:t>score: 0.014164989939637825</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Fresh Real-GPU Output Audit: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PMC7516301_01</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PROVIDER</a:t>
            </a:r>
          </a:p>
          <a:p>
            <a:pPr>
              <a:defRPr sz="1100" b="1">
                <a:solidFill>
                  <a:srgbClr val="18273E"/>
                </a:solidFill>
              </a:defRPr>
            </a:pPr>
            <a: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MODEL</a:t>
            </a:r>
          </a:p>
          <a:p>
            <a:pPr>
              <a:defRPr sz="1100" b="1">
                <a:solidFill>
                  <a:srgbClr val="18273E"/>
                </a:solidFill>
              </a:defRPr>
            </a:pPr>
            <a: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t>request_id: v12d_recapture_live_gpu_PMC7516301_01_20260617_165636 | source: /home/ngocnt/Leishmaniasis_v3/rag/instructions/process/14/demo/presentation/v12d/re-capture/20260617_165636/PMC7516301_01_live_gpu_result.json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Exact model-output fields from fresh backend response</a:t>
            </a:r>
          </a:p>
          <a:p>
            <a:pPr>
              <a:lnSpc>
                <a:spcPct val="105000"/>
              </a:lnSpc>
              <a:defRPr sz="720">
                <a:solidFill>
                  <a:srgbClr val="18273E"/>
                </a:solidFill>
              </a:defRPr>
            </a:pPr>
            <a:r>
              <a:t>Rank 1 supportive consideration: Mucocutaneous Leishmaniasis (Mucosal involvement)</a:t>
            </a:r>
          </a:p>
          <a:p>
            <a:pPr>
              <a:lnSpc>
                <a:spcPct val="105000"/>
              </a:lnSpc>
              <a:defRPr sz="720">
                <a:solidFill>
                  <a:srgbClr val="18273E"/>
                </a:solidFill>
              </a:defRPr>
            </a:pPr>
            <a:r>
              <a:t>Rank 1 Diagnosis Type: MCL</a:t>
            </a:r>
          </a:p>
          <a:p>
            <a:pPr>
              <a:lnSpc>
                <a:spcPct val="105000"/>
              </a:lnSpc>
              <a:defRPr sz="720">
                <a:solidFill>
                  <a:srgbClr val="18273E"/>
                </a:solidFill>
              </a:defRPr>
            </a:pPr>
            <a:r>
              <a:t>Rank 1 Confidence: Medium</a:t>
            </a:r>
          </a:p>
          <a:p>
            <a:pPr>
              <a:lnSpc>
                <a:spcPct val="105000"/>
              </a:lnSpc>
              <a:defRPr sz="720">
                <a:solidFill>
                  <a:srgbClr val="18273E"/>
                </a:solidFill>
              </a:defRPr>
            </a:pPr>
            <a:r>
              <a:t>safety_state: generated_support | elapsed_seconds: 78.336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1</a:t>
            </a:r>
          </a:p>
          <a:p>
            <a:pPr>
              <a:lnSpc>
                <a:spcPct val="100000"/>
              </a:lnSpc>
              <a:spcAft>
                <a:spcPts val="0"/>
              </a:spcAft>
              <a:defRPr sz="555">
                <a:solidFill>
                  <a:srgbClr val="18273E"/>
                </a:solidFill>
              </a:defRPr>
            </a:pPr>
            <a:r>
              <a:t>chunk_id: mcl-002 | score: 0.3617</a:t>
            </a:r>
          </a:p>
          <a:p>
            <a:pPr>
              <a:lnSpc>
                <a:spcPct val="100000"/>
              </a:lnSpc>
              <a:spcAft>
                <a:spcPts val="0"/>
              </a:spcAft>
              <a:defRPr sz="555">
                <a:solidFill>
                  <a:srgbClr val="18273E"/>
                </a:solidFill>
              </a:defRPr>
            </a:pPr>
            <a:r>
              <a:t>title: Palatal and nasal mucosal disease in leishmaniasis</a:t>
            </a:r>
          </a:p>
          <a:p>
            <a:pPr>
              <a:lnSpc>
                <a:spcPct val="100000"/>
              </a:lnSpc>
              <a:spcAft>
                <a:spcPts val="0"/>
              </a:spcAft>
              <a:defRPr sz="555">
                <a:solidFill>
                  <a:srgbClr val="18273E"/>
                </a:solidFill>
              </a:defRPr>
            </a:pPr>
            <a:r>
              <a:t>diagnosis_label: Mucocutaneous leishmaniasis | confirmatory: True</a:t>
            </a:r>
          </a:p>
          <a:p>
            <a:pPr>
              <a:lnSpc>
                <a:spcPct val="100000"/>
              </a:lnSpc>
              <a:spcAft>
                <a:spcPts val="0"/>
              </a:spcAft>
              <a:defRPr sz="555">
                <a:solidFill>
                  <a:srgbClr val="18273E"/>
                </a:solidFill>
              </a:defRPr>
            </a:pPr>
            <a:r>
              <a:t>excerpt: Palatal or nasal mucosal lesions with compatible epidemiology should raise concern for mucocutaneous leishmaniasis and prompt tissue confirmation.</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2</a:t>
            </a:r>
          </a:p>
          <a:p>
            <a:pPr>
              <a:lnSpc>
                <a:spcPct val="100000"/>
              </a:lnSpc>
              <a:spcAft>
                <a:spcPts val="0"/>
              </a:spcAft>
              <a:defRPr sz="555">
                <a:solidFill>
                  <a:srgbClr val="18273E"/>
                </a:solidFill>
              </a:defRPr>
            </a:pPr>
            <a:r>
              <a:t>chunk_id: cl-001 | score: 0.3038</a:t>
            </a:r>
          </a:p>
          <a:p>
            <a:pPr>
              <a:lnSpc>
                <a:spcPct val="100000"/>
              </a:lnSpc>
              <a:spcAft>
                <a:spcPts val="0"/>
              </a:spcAft>
              <a:defRPr sz="555">
                <a:solidFill>
                  <a:srgbClr val="18273E"/>
                </a:solidFill>
              </a:defRPr>
            </a:pPr>
            <a:r>
              <a:t>title: Cutaneous leishmaniasis with ulcer and smear-confirmed amastigotes</a:t>
            </a:r>
          </a:p>
          <a:p>
            <a:pPr>
              <a:lnSpc>
                <a:spcPct val="100000"/>
              </a:lnSpc>
              <a:spcAft>
                <a:spcPts val="0"/>
              </a:spcAft>
              <a:defRPr sz="555">
                <a:solidFill>
                  <a:srgbClr val="18273E"/>
                </a:solidFill>
              </a:defRPr>
            </a:pPr>
            <a:r>
              <a:t>diagnosis_label: Cutaneous leishmaniasis | confirmatory: True</a:t>
            </a:r>
          </a:p>
          <a:p>
            <a:pPr>
              <a:lnSpc>
                <a:spcPct val="100000"/>
              </a:lnSpc>
              <a:spcAft>
                <a:spcPts val="0"/>
              </a:spcAft>
              <a:defRPr sz="555">
                <a:solidFill>
                  <a:srgbClr val="18273E"/>
                </a:solidFill>
              </a:defRPr>
            </a:pPr>
            <a:r>
              <a:t>excerpt: A patient with an ulcerated plaque on the forearm after sandfly exposure had a lesion smear showing amastigotes. The presentation was consistent with localized 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3</a:t>
            </a:r>
          </a:p>
          <a:p>
            <a:pPr>
              <a:lnSpc>
                <a:spcPct val="100000"/>
              </a:lnSpc>
              <a:spcAft>
                <a:spcPts val="0"/>
              </a:spcAft>
              <a:defRPr sz="555">
                <a:solidFill>
                  <a:srgbClr val="18273E"/>
                </a:solidFill>
              </a:defRPr>
            </a:pPr>
            <a:r>
              <a:t>chunk_id: vl-001 | score: 0.2457</a:t>
            </a:r>
          </a:p>
          <a:p>
            <a:pPr>
              <a:lnSpc>
                <a:spcPct val="100000"/>
              </a:lnSpc>
              <a:spcAft>
                <a:spcPts val="0"/>
              </a:spcAft>
              <a:defRPr sz="555">
                <a:solidFill>
                  <a:srgbClr val="18273E"/>
                </a:solidFill>
              </a:defRPr>
            </a:pPr>
            <a:r>
              <a:t>title: Visceral leishmaniasis with prolonged fever and splenomegaly</a:t>
            </a:r>
          </a:p>
          <a:p>
            <a:pPr>
              <a:lnSpc>
                <a:spcPct val="100000"/>
              </a:lnSpc>
              <a:spcAft>
                <a:spcPts val="0"/>
              </a:spcAft>
              <a:defRPr sz="555">
                <a:solidFill>
                  <a:srgbClr val="18273E"/>
                </a:solidFill>
              </a:defRPr>
            </a:pPr>
            <a:r>
              <a:t>diagnosis_label: Visceral leishmaniasis | confirmatory: True</a:t>
            </a:r>
          </a:p>
          <a:p>
            <a:pPr>
              <a:lnSpc>
                <a:spcPct val="100000"/>
              </a:lnSpc>
              <a:spcAft>
                <a:spcPts val="0"/>
              </a:spcAft>
              <a:defRPr sz="555">
                <a:solidFill>
                  <a:srgbClr val="18273E"/>
                </a:solidFill>
              </a:defRPr>
            </a:pPr>
            <a:r>
              <a:t>excerpt: Prolonged fever, weight loss, pancytopenia, and splenomegaly are classic features of visceral leishmaniasis. Bone marrow or tissue confirmation is typically required.</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Official RAG Trace: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PMC7456484_01</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RETRIEVER</a:t>
            </a:r>
          </a:p>
          <a:p>
            <a:pPr>
              <a:defRPr sz="1100" b="1">
                <a:solidFill>
                  <a:srgbClr val="18273E"/>
                </a:solidFill>
              </a:defRPr>
            </a:pPr>
            <a: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RERANK</a:t>
            </a:r>
          </a:p>
          <a:p>
            <a:pPr>
              <a:defRPr sz="1100" b="1">
                <a:solidFill>
                  <a:srgbClr val="18273E"/>
                </a:solidFill>
              </a:defRPr>
            </a:pPr>
            <a: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TOP K</a:t>
            </a:r>
          </a:p>
          <a:p>
            <a:pPr>
              <a:defRPr sz="1100" b="1">
                <a:solidFill>
                  <a:srgbClr val="18273E"/>
                </a:solidFill>
              </a:defRPr>
            </a:pPr>
            <a: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t>qid: PMC7456484_01::Q1_Q3_multimodal_diagnosis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1</a:t>
            </a:r>
          </a:p>
          <a:p>
            <a:pPr>
              <a:lnSpc>
                <a:spcPct val="100000"/>
              </a:lnSpc>
              <a:spcAft>
                <a:spcPts val="0"/>
              </a:spcAft>
              <a:defRPr sz="580">
                <a:solidFill>
                  <a:srgbClr val="18273E"/>
                </a:solidFill>
              </a:defRPr>
            </a:pPr>
            <a:r>
              <a:t>doc_id: PMC7585787_01</a:t>
            </a:r>
          </a:p>
          <a:p>
            <a:pPr>
              <a:lnSpc>
                <a:spcPct val="100000"/>
              </a:lnSpc>
              <a:spcAft>
                <a:spcPts val="0"/>
              </a:spcAft>
              <a:defRPr sz="580">
                <a:solidFill>
                  <a:srgbClr val="18273E"/>
                </a:solidFill>
              </a:defRPr>
            </a:pPr>
            <a:r>
              <a:t>score: 0.01971861471861472</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2</a:t>
            </a:r>
          </a:p>
          <a:p>
            <a:pPr>
              <a:lnSpc>
                <a:spcPct val="100000"/>
              </a:lnSpc>
              <a:spcAft>
                <a:spcPts val="0"/>
              </a:spcAft>
              <a:defRPr sz="580">
                <a:solidFill>
                  <a:srgbClr val="18273E"/>
                </a:solidFill>
              </a:defRPr>
            </a:pPr>
            <a:r>
              <a:t>doc_id: PMC6019596_01</a:t>
            </a:r>
          </a:p>
          <a:p>
            <a:pPr>
              <a:lnSpc>
                <a:spcPct val="100000"/>
              </a:lnSpc>
              <a:spcAft>
                <a:spcPts val="0"/>
              </a:spcAft>
              <a:defRPr sz="580">
                <a:solidFill>
                  <a:srgbClr val="18273E"/>
                </a:solidFill>
              </a:defRPr>
            </a:pPr>
            <a:r>
              <a:t>score: 0.019506936428773658</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78-year-old man from a rural area in western Iran was referred for multiple ulcerative, exudative lesions involving the mid-face (upper lip and anterior nasal fossa), above the eyebrows, dorsal aspects of both hands, and posteri</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3</a:t>
            </a:r>
          </a:p>
          <a:p>
            <a:pPr>
              <a:lnSpc>
                <a:spcPct val="100000"/>
              </a:lnSpc>
              <a:spcAft>
                <a:spcPts val="0"/>
              </a:spcAft>
              <a:defRPr sz="580">
                <a:solidFill>
                  <a:srgbClr val="18273E"/>
                </a:solidFill>
              </a:defRPr>
            </a:pPr>
            <a:r>
              <a:t>doc_id: PMC4934146_02</a:t>
            </a:r>
          </a:p>
          <a:p>
            <a:pPr>
              <a:lnSpc>
                <a:spcPct val="100000"/>
              </a:lnSpc>
              <a:spcAft>
                <a:spcPts val="0"/>
              </a:spcAft>
              <a:defRPr sz="580">
                <a:solidFill>
                  <a:srgbClr val="18273E"/>
                </a:solidFill>
              </a:defRPr>
            </a:pPr>
            <a:r>
              <a:t>score: 0.0151288056206089</a:t>
            </a:r>
          </a:p>
          <a:p>
            <a:pPr>
              <a:lnSpc>
                <a:spcPct val="100000"/>
              </a:lnSpc>
              <a:spcAft>
                <a:spcPts val="0"/>
              </a:spcAft>
              <a:defRPr sz="580">
                <a:solidFill>
                  <a:srgbClr val="18273E"/>
                </a:solidFill>
              </a:defRPr>
            </a:pPr>
            <a:r>
              <a:t>diagnosis_type: DsCL | label_source: train_verified</a:t>
            </a:r>
          </a:p>
          <a:p>
            <a:pPr>
              <a:lnSpc>
                <a:spcPct val="100000"/>
              </a:lnSpc>
              <a:spcAft>
                <a:spcPts val="0"/>
              </a:spcAft>
              <a:defRPr sz="580">
                <a:solidFill>
                  <a:srgbClr val="18273E"/>
                </a:solidFill>
              </a:defRPr>
            </a:pPr>
            <a:r>
              <a:t>text_prefix: A 40‑year‑old woman from Balao Chico (Guayas province, Ecuador) presented in August 1979 with a progressive widespread skin eruption. The illness began with a lesion on the lumbar region; papular lesions developed and became pustu</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Fresh Real-GPU Output Audit: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PMC7456484_01</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PROVIDER</a:t>
            </a:r>
          </a:p>
          <a:p>
            <a:pPr>
              <a:defRPr sz="1100" b="1">
                <a:solidFill>
                  <a:srgbClr val="18273E"/>
                </a:solidFill>
              </a:defRPr>
            </a:pPr>
            <a: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MODEL</a:t>
            </a:r>
          </a:p>
          <a:p>
            <a:pPr>
              <a:defRPr sz="1100" b="1">
                <a:solidFill>
                  <a:srgbClr val="18273E"/>
                </a:solidFill>
              </a:defRPr>
            </a:pPr>
            <a: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t>request_id: v12d_recapture_live_gpu_PMC7456484_01_20260617_165636 | source: /home/ngocnt/Leishmaniasis_v3/rag/instructions/process/14/demo/presentation/v12d/re-capture/20260617_165636/PMC7456484_01_live_gpu_result.json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Exact model-output fields from fresh backend response</a:t>
            </a:r>
          </a:p>
          <a:p>
            <a:pPr>
              <a:lnSpc>
                <a:spcPct val="105000"/>
              </a:lnSpc>
              <a:defRPr sz="720">
                <a:solidFill>
                  <a:srgbClr val="18273E"/>
                </a:solidFill>
              </a:defRPr>
            </a:pPr>
            <a:r>
              <a:t>Rank 1 supportive consideration: Chronic Mucocutaneous Leishmaniasis (Mucocutaneous Leishmaniasis)</a:t>
            </a:r>
          </a:p>
          <a:p>
            <a:pPr>
              <a:lnSpc>
                <a:spcPct val="105000"/>
              </a:lnSpc>
              <a:defRPr sz="720">
                <a:solidFill>
                  <a:srgbClr val="18273E"/>
                </a:solidFill>
              </a:defRPr>
            </a:pPr>
            <a:r>
              <a:t>Rank 1 Diagnosis Type: MCL</a:t>
            </a:r>
          </a:p>
          <a:p>
            <a:pPr>
              <a:lnSpc>
                <a:spcPct val="105000"/>
              </a:lnSpc>
              <a:defRPr sz="720">
                <a:solidFill>
                  <a:srgbClr val="18273E"/>
                </a:solidFill>
              </a:defRPr>
            </a:pPr>
            <a:r>
              <a:t>Rank 1 Confidence: Medium</a:t>
            </a:r>
          </a:p>
          <a:p>
            <a:pPr>
              <a:lnSpc>
                <a:spcPct val="105000"/>
              </a:lnSpc>
              <a:defRPr sz="720">
                <a:solidFill>
                  <a:srgbClr val="18273E"/>
                </a:solidFill>
              </a:defRPr>
            </a:pPr>
            <a:r>
              <a:t>safety_state: generated_support | elapsed_seconds: 73.986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1</a:t>
            </a:r>
          </a:p>
          <a:p>
            <a:pPr>
              <a:lnSpc>
                <a:spcPct val="100000"/>
              </a:lnSpc>
              <a:spcAft>
                <a:spcPts val="0"/>
              </a:spcAft>
              <a:defRPr sz="555">
                <a:solidFill>
                  <a:srgbClr val="18273E"/>
                </a:solidFill>
              </a:defRPr>
            </a:pPr>
            <a:r>
              <a:t>chunk_id: vl-002 | score: 0.5146</a:t>
            </a:r>
          </a:p>
          <a:p>
            <a:pPr>
              <a:lnSpc>
                <a:spcPct val="100000"/>
              </a:lnSpc>
              <a:spcAft>
                <a:spcPts val="0"/>
              </a:spcAft>
              <a:defRPr sz="555">
                <a:solidFill>
                  <a:srgbClr val="18273E"/>
                </a:solidFill>
              </a:defRPr>
            </a:pPr>
            <a:r>
              <a:t>title: Kala-azar pattern with hepatosplenomegaly</a:t>
            </a:r>
          </a:p>
          <a:p>
            <a:pPr>
              <a:lnSpc>
                <a:spcPct val="100000"/>
              </a:lnSpc>
              <a:spcAft>
                <a:spcPts val="0"/>
              </a:spcAft>
              <a:defRPr sz="555">
                <a:solidFill>
                  <a:srgbClr val="18273E"/>
                </a:solidFill>
              </a:defRPr>
            </a:pPr>
            <a:r>
              <a:t>diagnosis_label: Visceral leishmaniasis | confirmatory: False</a:t>
            </a:r>
          </a:p>
          <a:p>
            <a:pPr>
              <a:lnSpc>
                <a:spcPct val="100000"/>
              </a:lnSpc>
              <a:spcAft>
                <a:spcPts val="0"/>
              </a:spcAft>
              <a:defRPr sz="555">
                <a:solidFill>
                  <a:srgbClr val="18273E"/>
                </a:solidFill>
              </a:defRPr>
            </a:pPr>
            <a:r>
              <a:t>excerpt: Kala-azar often presents with hepatosplenomegaly, chronic fever, anemia, and systemic illness rather than an isolated skin ulcer.</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2</a:t>
            </a:r>
          </a:p>
          <a:p>
            <a:pPr>
              <a:lnSpc>
                <a:spcPct val="100000"/>
              </a:lnSpc>
              <a:spcAft>
                <a:spcPts val="0"/>
              </a:spcAft>
              <a:defRPr sz="555">
                <a:solidFill>
                  <a:srgbClr val="18273E"/>
                </a:solidFill>
              </a:defRPr>
            </a:pPr>
            <a:r>
              <a:t>chunk_id: mcl-001 | score: 0.3856</a:t>
            </a:r>
          </a:p>
          <a:p>
            <a:pPr>
              <a:lnSpc>
                <a:spcPct val="100000"/>
              </a:lnSpc>
              <a:spcAft>
                <a:spcPts val="0"/>
              </a:spcAft>
              <a:defRPr sz="555">
                <a:solidFill>
                  <a:srgbClr val="18273E"/>
                </a:solidFill>
              </a:defRPr>
            </a:pPr>
            <a:r>
              <a:t>title: Mucocutaneous leishmaniasis with nasal and oral involvement</a:t>
            </a:r>
          </a:p>
          <a:p>
            <a:pPr>
              <a:lnSpc>
                <a:spcPct val="100000"/>
              </a:lnSpc>
              <a:spcAft>
                <a:spcPts val="0"/>
              </a:spcAft>
              <a:defRPr sz="555">
                <a:solidFill>
                  <a:srgbClr val="18273E"/>
                </a:solidFill>
              </a:defRPr>
            </a:pPr>
            <a:r>
              <a:t>diagnosis_label: Mucocutaneous leishmaniasis | confirmatory: False</a:t>
            </a:r>
          </a:p>
          <a:p>
            <a:pPr>
              <a:lnSpc>
                <a:spcPct val="100000"/>
              </a:lnSpc>
              <a:spcAft>
                <a:spcPts val="0"/>
              </a:spcAft>
              <a:defRPr sz="555">
                <a:solidFill>
                  <a:srgbClr val="18273E"/>
                </a:solidFill>
              </a:defRPr>
            </a:pPr>
            <a:r>
              <a:t>excerpt: Nasal septal destruction, oral ulceration, and mucosal inflammation after prior cutaneous disease support mucocutaneous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3</a:t>
            </a:r>
          </a:p>
          <a:p>
            <a:pPr>
              <a:lnSpc>
                <a:spcPct val="100000"/>
              </a:lnSpc>
              <a:spcAft>
                <a:spcPts val="0"/>
              </a:spcAft>
              <a:defRPr sz="555">
                <a:solidFill>
                  <a:srgbClr val="18273E"/>
                </a:solidFill>
              </a:defRPr>
            </a:pPr>
            <a:r>
              <a:t>chunk_id: cl-002 | score: 0.3795</a:t>
            </a:r>
          </a:p>
          <a:p>
            <a:pPr>
              <a:lnSpc>
                <a:spcPct val="100000"/>
              </a:lnSpc>
              <a:spcAft>
                <a:spcPts val="0"/>
              </a:spcAft>
              <a:defRPr sz="555">
                <a:solidFill>
                  <a:srgbClr val="18273E"/>
                </a:solidFill>
              </a:defRPr>
            </a:pPr>
            <a:r>
              <a:t>title: Papulonodular skin lesion in endemic travel history</a:t>
            </a:r>
          </a:p>
          <a:p>
            <a:pPr>
              <a:lnSpc>
                <a:spcPct val="100000"/>
              </a:lnSpc>
              <a:spcAft>
                <a:spcPts val="0"/>
              </a:spcAft>
              <a:defRPr sz="555">
                <a:solidFill>
                  <a:srgbClr val="18273E"/>
                </a:solidFill>
              </a:defRPr>
            </a:pPr>
            <a:r>
              <a:t>diagnosis_label: Cutaneous leishmaniasis | confirmatory: True</a:t>
            </a:r>
          </a:p>
          <a:p>
            <a:pPr>
              <a:lnSpc>
                <a:spcPct val="100000"/>
              </a:lnSpc>
              <a:spcAft>
                <a:spcPts val="0"/>
              </a:spcAft>
              <a:defRPr sz="555">
                <a:solidFill>
                  <a:srgbClr val="18273E"/>
                </a:solidFill>
              </a:defRPr>
            </a:pPr>
            <a:r>
              <a:t>excerpt: A chronic papule progressing to a nodular ulcer after endemic travel supported cutaneous leishmaniasis. Biopsy and PCR were used for confirmation.</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Official RAG Trace: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PMC10026180_04</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RETRIEVER</a:t>
            </a:r>
          </a:p>
          <a:p>
            <a:pPr>
              <a:defRPr sz="1100" b="1">
                <a:solidFill>
                  <a:srgbClr val="18273E"/>
                </a:solidFill>
              </a:defRPr>
            </a:pPr>
            <a: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RERANK</a:t>
            </a:r>
          </a:p>
          <a:p>
            <a:pPr>
              <a:defRPr sz="1100" b="1">
                <a:solidFill>
                  <a:srgbClr val="18273E"/>
                </a:solidFill>
              </a:defRPr>
            </a:pPr>
            <a: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TOP K</a:t>
            </a:r>
          </a:p>
          <a:p>
            <a:pPr>
              <a:defRPr sz="1100" b="1">
                <a:solidFill>
                  <a:srgbClr val="18273E"/>
                </a:solidFill>
              </a:defRPr>
            </a:pPr>
            <a: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t>qid: PMC10026180_04::Q1_Q3_multimodal_diagnosis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1</a:t>
            </a:r>
          </a:p>
          <a:p>
            <a:pPr>
              <a:lnSpc>
                <a:spcPct val="100000"/>
              </a:lnSpc>
              <a:spcAft>
                <a:spcPts val="0"/>
              </a:spcAft>
              <a:defRPr sz="580">
                <a:solidFill>
                  <a:srgbClr val="18273E"/>
                </a:solidFill>
              </a:defRPr>
            </a:pPr>
            <a:r>
              <a:t>doc_id: PMC5490479_01</a:t>
            </a:r>
          </a:p>
          <a:p>
            <a:pPr>
              <a:lnSpc>
                <a:spcPct val="100000"/>
              </a:lnSpc>
              <a:spcAft>
                <a:spcPts val="0"/>
              </a:spcAft>
              <a:defRPr sz="580">
                <a:solidFill>
                  <a:srgbClr val="18273E"/>
                </a:solidFill>
              </a:defRPr>
            </a:pPr>
            <a:r>
              <a:t>score: 0.021050130672368734</a:t>
            </a:r>
          </a:p>
          <a:p>
            <a:pPr>
              <a:lnSpc>
                <a:spcPct val="100000"/>
              </a:lnSpc>
              <a:spcAft>
                <a:spcPts val="0"/>
              </a:spcAft>
              <a:defRPr sz="580">
                <a:solidFill>
                  <a:srgbClr val="18273E"/>
                </a:solidFill>
              </a:defRPr>
            </a:pPr>
            <a:r>
              <a:t>diagnosis_type: LR | label_source: train_verified</a:t>
            </a:r>
          </a:p>
          <a:p>
            <a:pPr>
              <a:lnSpc>
                <a:spcPct val="100000"/>
              </a:lnSpc>
              <a:spcAft>
                <a:spcPts val="0"/>
              </a:spcAft>
              <a:defRPr sz="580">
                <a:solidFill>
                  <a:srgbClr val="18273E"/>
                </a:solidFill>
              </a:defRPr>
            </a:pPr>
            <a:r>
              <a:t>text_prefix: A 9-year-old boy presented with multiple papular lesions on the left cheek that had been present for three months and had gradually enlarged. His medical history was notable for an episode of cutaneous leishmaniasis located on the</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2</a:t>
            </a:r>
          </a:p>
          <a:p>
            <a:pPr>
              <a:lnSpc>
                <a:spcPct val="100000"/>
              </a:lnSpc>
              <a:spcAft>
                <a:spcPts val="0"/>
              </a:spcAft>
              <a:defRPr sz="580">
                <a:solidFill>
                  <a:srgbClr val="18273E"/>
                </a:solidFill>
              </a:defRPr>
            </a:pPr>
            <a:r>
              <a:t>doc_id: PMC3523429_01</a:t>
            </a:r>
          </a:p>
          <a:p>
            <a:pPr>
              <a:lnSpc>
                <a:spcPct val="100000"/>
              </a:lnSpc>
              <a:spcAft>
                <a:spcPts val="0"/>
              </a:spcAft>
              <a:defRPr sz="580">
                <a:solidFill>
                  <a:srgbClr val="18273E"/>
                </a:solidFill>
              </a:defRPr>
            </a:pPr>
            <a:r>
              <a:t>score: 0.015682382133995035</a:t>
            </a:r>
          </a:p>
          <a:p>
            <a:pPr>
              <a:lnSpc>
                <a:spcPct val="100000"/>
              </a:lnSpc>
              <a:spcAft>
                <a:spcPts val="0"/>
              </a:spcAft>
              <a:defRPr sz="580">
                <a:solidFill>
                  <a:srgbClr val="18273E"/>
                </a:solidFill>
              </a:defRPr>
            </a:pPr>
            <a:r>
              <a:t>diagnosis_type: CL | label_source: train_verified</a:t>
            </a:r>
          </a:p>
          <a:p>
            <a:pPr>
              <a:lnSpc>
                <a:spcPct val="100000"/>
              </a:lnSpc>
              <a:spcAft>
                <a:spcPts val="0"/>
              </a:spcAft>
              <a:defRPr sz="580">
                <a:solidFill>
                  <a:srgbClr val="18273E"/>
                </a:solidFill>
              </a:defRPr>
            </a:pPr>
            <a:r>
              <a:t>text_prefix: A 52-year-old woman presented with a single lesion on the tip of her nose that had existed for 14 months. It began as a papule and was slowly increasing in size, enlarging to a plaque. A smear of the lesion performed about 1 year</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t>Context rank 3</a:t>
            </a:r>
          </a:p>
          <a:p>
            <a:pPr>
              <a:lnSpc>
                <a:spcPct val="100000"/>
              </a:lnSpc>
              <a:spcAft>
                <a:spcPts val="0"/>
              </a:spcAft>
              <a:defRPr sz="580">
                <a:solidFill>
                  <a:srgbClr val="18273E"/>
                </a:solidFill>
              </a:defRPr>
            </a:pPr>
            <a:r>
              <a:t>doc_id: PMC7585787_01</a:t>
            </a:r>
          </a:p>
          <a:p>
            <a:pPr>
              <a:lnSpc>
                <a:spcPct val="100000"/>
              </a:lnSpc>
              <a:spcAft>
                <a:spcPts val="0"/>
              </a:spcAft>
              <a:defRPr sz="580">
                <a:solidFill>
                  <a:srgbClr val="18273E"/>
                </a:solidFill>
              </a:defRPr>
            </a:pPr>
            <a:r>
              <a:t>score: 0.014718614718614718</a:t>
            </a:r>
          </a:p>
          <a:p>
            <a:pPr>
              <a:lnSpc>
                <a:spcPct val="100000"/>
              </a:lnSpc>
              <a:spcAft>
                <a:spcPts val="0"/>
              </a:spcAft>
              <a:defRPr sz="580">
                <a:solidFill>
                  <a:srgbClr val="18273E"/>
                </a:solidFill>
              </a:defRPr>
            </a:pPr>
            <a:r>
              <a:t>diagnosis_type: MCL | label_source: train_verified</a:t>
            </a:r>
          </a:p>
          <a:p>
            <a:pPr>
              <a:lnSpc>
                <a:spcPct val="100000"/>
              </a:lnSpc>
              <a:spcAft>
                <a:spcPts val="0"/>
              </a:spcAft>
              <a:defRPr sz="580">
                <a:solidFill>
                  <a:srgbClr val="18273E"/>
                </a:solidFill>
              </a:defRPr>
            </a:pPr>
            <a: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138160" cy="219456"/>
          </a:xfrm>
          <a:prstGeom prst="rect">
            <a:avLst/>
          </a:prstGeom>
          <a:noFill/>
        </p:spPr>
        <p:txBody>
          <a:bodyPr wrap="square" lIns="73152" rIns="73152" tIns="36576" bIns="36576">
            <a:noAutofit/>
          </a:bodyPr>
          <a:lstStyle/>
          <a:p>
            <a:pPr>
              <a:lnSpc>
                <a:spcPct val="108000"/>
              </a:lnSpc>
              <a:defRPr sz="850" b="1">
                <a:solidFill>
                  <a:srgbClr val="0F766E"/>
                </a:solidFill>
              </a:defRPr>
            </a:pPr>
            <a: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t>Fresh Real-GPU Output Audit: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t>CASE ID</a:t>
            </a:r>
          </a:p>
          <a:p>
            <a:pPr>
              <a:defRPr sz="1100" b="1">
                <a:solidFill>
                  <a:srgbClr val="18273E"/>
                </a:solidFill>
              </a:defRPr>
            </a:pPr>
            <a:r>
              <a:t>PMC10026180_04</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t>PROVIDER</a:t>
            </a:r>
          </a:p>
          <a:p>
            <a:pPr>
              <a:defRPr sz="1100" b="1">
                <a:solidFill>
                  <a:srgbClr val="18273E"/>
                </a:solidFill>
              </a:defRPr>
            </a:pPr>
            <a: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t>MODEL</a:t>
            </a:r>
          </a:p>
          <a:p>
            <a:pPr>
              <a:defRPr sz="1100" b="1">
                <a:solidFill>
                  <a:srgbClr val="18273E"/>
                </a:solidFill>
              </a:defRPr>
            </a:pPr>
            <a: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t>USE</a:t>
            </a:r>
          </a:p>
          <a:p>
            <a:pPr>
              <a:defRPr sz="1100" b="1">
                <a:solidFill>
                  <a:srgbClr val="18273E"/>
                </a:solidFill>
              </a:defRPr>
            </a:pPr>
            <a: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t>request_id: v12d_recapture_live_gpu_PMC10026180_04_20260617_165636 | source: /home/ngocnt/Leishmaniasis_v3/rag/instructions/process/14/demo/presentation/v12d/re-capture/20260617_165636/PMC10026180_04_live_gpu_result.json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t>Exact model-output fields from fresh backend response</a:t>
            </a:r>
          </a:p>
          <a:p>
            <a:pPr>
              <a:lnSpc>
                <a:spcPct val="105000"/>
              </a:lnSpc>
              <a:defRPr sz="720">
                <a:solidFill>
                  <a:srgbClr val="18273E"/>
                </a:solidFill>
              </a:defRPr>
            </a:pPr>
            <a:r>
              <a:t>Rank 1 supportive consideration: Mucocutaneous Leishmaniasis (or other atypical infection)</a:t>
            </a:r>
          </a:p>
          <a:p>
            <a:pPr>
              <a:lnSpc>
                <a:spcPct val="105000"/>
              </a:lnSpc>
              <a:defRPr sz="720">
                <a:solidFill>
                  <a:srgbClr val="18273E"/>
                </a:solidFill>
              </a:defRPr>
            </a:pPr>
            <a:r>
              <a:t>Rank 1 Diagnosis Type: CL</a:t>
            </a:r>
          </a:p>
          <a:p>
            <a:pPr>
              <a:lnSpc>
                <a:spcPct val="105000"/>
              </a:lnSpc>
              <a:defRPr sz="720">
                <a:solidFill>
                  <a:srgbClr val="18273E"/>
                </a:solidFill>
              </a:defRPr>
            </a:pPr>
            <a:r>
              <a:t>Rank 1 Confidence: Medium</a:t>
            </a:r>
          </a:p>
          <a:p>
            <a:pPr>
              <a:lnSpc>
                <a:spcPct val="105000"/>
              </a:lnSpc>
              <a:defRPr sz="720">
                <a:solidFill>
                  <a:srgbClr val="18273E"/>
                </a:solidFill>
              </a:defRPr>
            </a:pPr>
            <a:r>
              <a:t>safety_state: generated_support | elapsed_seconds: 61.477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1</a:t>
            </a:r>
          </a:p>
          <a:p>
            <a:pPr>
              <a:lnSpc>
                <a:spcPct val="100000"/>
              </a:lnSpc>
              <a:spcAft>
                <a:spcPts val="0"/>
              </a:spcAft>
              <a:defRPr sz="555">
                <a:solidFill>
                  <a:srgbClr val="18273E"/>
                </a:solidFill>
              </a:defRPr>
            </a:pPr>
            <a:r>
              <a:t>chunk_id: cl-002 | score: 0.3079</a:t>
            </a:r>
          </a:p>
          <a:p>
            <a:pPr>
              <a:lnSpc>
                <a:spcPct val="100000"/>
              </a:lnSpc>
              <a:spcAft>
                <a:spcPts val="0"/>
              </a:spcAft>
              <a:defRPr sz="555">
                <a:solidFill>
                  <a:srgbClr val="18273E"/>
                </a:solidFill>
              </a:defRPr>
            </a:pPr>
            <a:r>
              <a:t>title: Papulonodular skin lesion in endemic travel history</a:t>
            </a:r>
          </a:p>
          <a:p>
            <a:pPr>
              <a:lnSpc>
                <a:spcPct val="100000"/>
              </a:lnSpc>
              <a:spcAft>
                <a:spcPts val="0"/>
              </a:spcAft>
              <a:defRPr sz="555">
                <a:solidFill>
                  <a:srgbClr val="18273E"/>
                </a:solidFill>
              </a:defRPr>
            </a:pPr>
            <a:r>
              <a:t>diagnosis_label: Cutaneous leishmaniasis | confirmatory: True</a:t>
            </a:r>
          </a:p>
          <a:p>
            <a:pPr>
              <a:lnSpc>
                <a:spcPct val="100000"/>
              </a:lnSpc>
              <a:spcAft>
                <a:spcPts val="0"/>
              </a:spcAft>
              <a:defRPr sz="555">
                <a:solidFill>
                  <a:srgbClr val="18273E"/>
                </a:solidFill>
              </a:defRPr>
            </a:pPr>
            <a:r>
              <a:t>excerpt: A chronic papule progressing to a nodular ulcer after endemic travel supported cutaneous leishmaniasis. Biopsy and PCR were used for confirmation.</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2</a:t>
            </a:r>
          </a:p>
          <a:p>
            <a:pPr>
              <a:lnSpc>
                <a:spcPct val="100000"/>
              </a:lnSpc>
              <a:spcAft>
                <a:spcPts val="0"/>
              </a:spcAft>
              <a:defRPr sz="555">
                <a:solidFill>
                  <a:srgbClr val="18273E"/>
                </a:solidFill>
              </a:defRPr>
            </a:pPr>
            <a:r>
              <a:t>chunk_id: cl-001 | score: 0.2318</a:t>
            </a:r>
          </a:p>
          <a:p>
            <a:pPr>
              <a:lnSpc>
                <a:spcPct val="100000"/>
              </a:lnSpc>
              <a:spcAft>
                <a:spcPts val="0"/>
              </a:spcAft>
              <a:defRPr sz="555">
                <a:solidFill>
                  <a:srgbClr val="18273E"/>
                </a:solidFill>
              </a:defRPr>
            </a:pPr>
            <a:r>
              <a:t>title: Cutaneous leishmaniasis with ulcer and smear-confirmed amastigotes</a:t>
            </a:r>
          </a:p>
          <a:p>
            <a:pPr>
              <a:lnSpc>
                <a:spcPct val="100000"/>
              </a:lnSpc>
              <a:spcAft>
                <a:spcPts val="0"/>
              </a:spcAft>
              <a:defRPr sz="555">
                <a:solidFill>
                  <a:srgbClr val="18273E"/>
                </a:solidFill>
              </a:defRPr>
            </a:pPr>
            <a:r>
              <a:t>diagnosis_label: Cutaneous leishmaniasis | confirmatory: True</a:t>
            </a:r>
          </a:p>
          <a:p>
            <a:pPr>
              <a:lnSpc>
                <a:spcPct val="100000"/>
              </a:lnSpc>
              <a:spcAft>
                <a:spcPts val="0"/>
              </a:spcAft>
              <a:defRPr sz="555">
                <a:solidFill>
                  <a:srgbClr val="18273E"/>
                </a:solidFill>
              </a:defRPr>
            </a:pPr>
            <a:r>
              <a:t>excerpt: A patient with an ulcerated plaque on the forearm after sandfly exposure had a lesion smear showing amastigotes. The presentation was consistent with localized 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t>Evidence rank 3</a:t>
            </a:r>
          </a:p>
          <a:p>
            <a:pPr>
              <a:lnSpc>
                <a:spcPct val="100000"/>
              </a:lnSpc>
              <a:spcAft>
                <a:spcPts val="0"/>
              </a:spcAft>
              <a:defRPr sz="555">
                <a:solidFill>
                  <a:srgbClr val="18273E"/>
                </a:solidFill>
              </a:defRPr>
            </a:pPr>
            <a:r>
              <a:t>chunk_id: vl-002 | score: 0.0262</a:t>
            </a:r>
          </a:p>
          <a:p>
            <a:pPr>
              <a:lnSpc>
                <a:spcPct val="100000"/>
              </a:lnSpc>
              <a:spcAft>
                <a:spcPts val="0"/>
              </a:spcAft>
              <a:defRPr sz="555">
                <a:solidFill>
                  <a:srgbClr val="18273E"/>
                </a:solidFill>
              </a:defRPr>
            </a:pPr>
            <a:r>
              <a:t>title: Kala-azar pattern with hepatosplenomegaly</a:t>
            </a:r>
          </a:p>
          <a:p>
            <a:pPr>
              <a:lnSpc>
                <a:spcPct val="100000"/>
              </a:lnSpc>
              <a:spcAft>
                <a:spcPts val="0"/>
              </a:spcAft>
              <a:defRPr sz="555">
                <a:solidFill>
                  <a:srgbClr val="18273E"/>
                </a:solidFill>
              </a:defRPr>
            </a:pPr>
            <a:r>
              <a:t>diagnosis_label: Visceral leishmaniasis | confirmatory: False</a:t>
            </a:r>
          </a:p>
          <a:p>
            <a:pPr>
              <a:lnSpc>
                <a:spcPct val="100000"/>
              </a:lnSpc>
              <a:spcAft>
                <a:spcPts val="0"/>
              </a:spcAft>
              <a:defRPr sz="555">
                <a:solidFill>
                  <a:srgbClr val="18273E"/>
                </a:solidFill>
              </a:defRPr>
            </a:pPr>
            <a:r>
              <a:t>excerpt: Kala-azar often presents with hepatosplenomegaly, chronic fever, anemia, and systemic illness rather than an isolated skin ulcer.</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t>Q&amp;A appendix only - exact RAG trace and fresh real-GPU audit evidence</a:t>
            </a:r>
          </a:p>
        </p:txBody>
      </p:sp>
      <p:sp>
        <p:nvSpPr>
          <p:cNvPr id="16" name="TextBox 15"/>
          <p:cNvSpPr txBox="1"/>
          <p:nvPr/>
        </p:nvSpPr>
        <p:spPr>
          <a:xfrm>
            <a:off x="8183879" y="4828032"/>
            <a:ext cx="457200" cy="164592"/>
          </a:xfrm>
          <a:prstGeom prst="rect">
            <a:avLst/>
          </a:prstGeom>
          <a:noFill/>
        </p:spPr>
        <p:txBody>
          <a:bodyPr wrap="square" lIns="73152" rIns="73152" tIns="36576" bIns="36576">
            <a:noAutofit/>
          </a:bodyPr>
          <a:lstStyle/>
          <a:p>
            <a:pPr algn="r">
              <a:lnSpc>
                <a:spcPct val="108000"/>
              </a:lnSpc>
              <a:defRPr sz="750" b="0">
                <a:solidFill>
                  <a:srgbClr val="536071"/>
                </a:solidFill>
              </a:defRPr>
            </a:pPr>
            <a:r>
              <a:t>31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